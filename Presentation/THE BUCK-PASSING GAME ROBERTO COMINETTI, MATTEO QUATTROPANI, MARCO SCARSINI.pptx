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Epilogue SemiBold"/>
      <p:regular r:id="rId45"/>
      <p:bold r:id="rId46"/>
      <p:italic r:id="rId47"/>
      <p:boldItalic r:id="rId48"/>
    </p:embeddedFont>
    <p:embeddedFont>
      <p:font typeface="Anaheim"/>
      <p:regular r:id="rId49"/>
      <p:bold r:id="rId50"/>
    </p:embeddedFont>
    <p:embeddedFont>
      <p:font typeface="Epilogue"/>
      <p:regular r:id="rId51"/>
      <p:bold r:id="rId52"/>
      <p:italic r:id="rId53"/>
      <p:boldItalic r:id="rId54"/>
    </p:embeddedFont>
    <p:embeddedFont>
      <p:font typeface="Albert Sans"/>
      <p:regular r:id="rId55"/>
      <p:bold r:id="rId56"/>
      <p:italic r:id="rId57"/>
      <p:boldItalic r:id="rId58"/>
    </p:embeddedFont>
    <p:embeddedFont>
      <p:font typeface="DM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yanis arris"/>
  <p:cmAuthor clrIdx="1" id="1" initials="" lastIdx="1" name="Safia Teham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EpilogueSemiBold-bold.fntdata"/><Relationship Id="rId45" Type="http://schemas.openxmlformats.org/officeDocument/2006/relationships/font" Target="fonts/EpilogueSemiBold-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EpilogueSemiBold-boldItalic.fntdata"/><Relationship Id="rId47" Type="http://schemas.openxmlformats.org/officeDocument/2006/relationships/font" Target="fonts/EpilogueSemiBold-italic.fntdata"/><Relationship Id="rId49" Type="http://schemas.openxmlformats.org/officeDocument/2006/relationships/font" Target="fonts/Anaheim-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DMSans-boldItalic.fntdata"/><Relationship Id="rId61" Type="http://schemas.openxmlformats.org/officeDocument/2006/relationships/font" Target="fonts/DMSans-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DMSans-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Epilogue-regular.fntdata"/><Relationship Id="rId50" Type="http://schemas.openxmlformats.org/officeDocument/2006/relationships/font" Target="fonts/Anaheim-bold.fntdata"/><Relationship Id="rId53" Type="http://schemas.openxmlformats.org/officeDocument/2006/relationships/font" Target="fonts/Epilogue-italic.fntdata"/><Relationship Id="rId52" Type="http://schemas.openxmlformats.org/officeDocument/2006/relationships/font" Target="fonts/Epilogue-bold.fntdata"/><Relationship Id="rId11" Type="http://schemas.openxmlformats.org/officeDocument/2006/relationships/slide" Target="slides/slide6.xml"/><Relationship Id="rId55" Type="http://schemas.openxmlformats.org/officeDocument/2006/relationships/font" Target="fonts/AlbertSans-regular.fntdata"/><Relationship Id="rId10" Type="http://schemas.openxmlformats.org/officeDocument/2006/relationships/slide" Target="slides/slide5.xml"/><Relationship Id="rId54" Type="http://schemas.openxmlformats.org/officeDocument/2006/relationships/font" Target="fonts/Epilogue-boldItalic.fntdata"/><Relationship Id="rId13" Type="http://schemas.openxmlformats.org/officeDocument/2006/relationships/slide" Target="slides/slide8.xml"/><Relationship Id="rId57" Type="http://schemas.openxmlformats.org/officeDocument/2006/relationships/font" Target="fonts/AlbertSans-italic.fntdata"/><Relationship Id="rId12" Type="http://schemas.openxmlformats.org/officeDocument/2006/relationships/slide" Target="slides/slide7.xml"/><Relationship Id="rId56" Type="http://schemas.openxmlformats.org/officeDocument/2006/relationships/font" Target="fonts/AlbertSans-bold.fntdata"/><Relationship Id="rId15" Type="http://schemas.openxmlformats.org/officeDocument/2006/relationships/slide" Target="slides/slide10.xml"/><Relationship Id="rId59" Type="http://schemas.openxmlformats.org/officeDocument/2006/relationships/font" Target="fonts/DMSans-regular.fntdata"/><Relationship Id="rId14" Type="http://schemas.openxmlformats.org/officeDocument/2006/relationships/slide" Target="slides/slide9.xml"/><Relationship Id="rId58" Type="http://schemas.openxmlformats.org/officeDocument/2006/relationships/font" Target="fonts/Albert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1-03T14:50:21.205">
    <p:pos x="272" y="2055"/>
    <p:text>je pense faudrais expliquer priofree et son lien avec mu(la distribution initiale) ...</p:text>
  </p:cm>
  <p:cm authorId="1" idx="1" dt="2026-01-03T14:50:21.205">
    <p:pos x="272" y="2055"/>
    <p:text>il est explcité dans le slide 20, là je suis restée breve comme on est tjrs dans ll'intro</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1-02T21:10:38.314">
    <p:pos x="2164" y="700"/>
    <p:text>On pourrait dire structure induite par toute stratégie pure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e4d2dcb2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e4d2dcb2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4072739ea5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4072739ea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54dda1946d_4_2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54dda1946d_4_2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4512a53a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b4512a53a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4512a53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b4512a53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b4512a53a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b4512a53a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b4512a53a7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b4512a53a7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b46c1879c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b46c1879c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b4550563c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b4550563c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4550563c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b4550563c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b4512a53a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b4512a53a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b4512a53a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b4512a53a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b4512a53a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b4512a53a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d5260bdd8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d5260bdd8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b4512a53a7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b4512a53a7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b4512a53a7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b4512a53a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b4512a53a7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b4512a53a7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Graphe induit decomposé en unicycles : C1s, … CM(s)s</a:t>
            </a:r>
            <a:endParaRPr/>
          </a:p>
          <a:p>
            <a:pPr indent="0" lvl="0" marL="0" rtl="0" algn="l">
              <a:spcBef>
                <a:spcPts val="0"/>
              </a:spcBef>
              <a:spcAft>
                <a:spcPts val="0"/>
              </a:spcAft>
              <a:buNone/>
            </a:pPr>
            <a:r>
              <a:rPr lang="en"/>
              <a:t>N nb total de joueur - la taille de tous les unicycles du graphe induit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b4512a53a7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b4512a53a7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b4550563c3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b4550563c3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b468c2868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b468c2868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b468c2868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b468c2868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b468c2868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b468c2868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b468c2868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b468c2868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 buck passe par les classes v un nombre fini de fois</a:t>
            </a:r>
            <a:endParaRPr/>
          </a:p>
          <a:p>
            <a:pPr indent="0" lvl="0" marL="0" rtl="0" algn="l">
              <a:spcBef>
                <a:spcPts val="0"/>
              </a:spcBef>
              <a:spcAft>
                <a:spcPts val="0"/>
              </a:spcAft>
              <a:buClr>
                <a:schemeClr val="dk1"/>
              </a:buClr>
              <a:buSzPts val="1100"/>
              <a:buFont typeface="Arial"/>
              <a:buNone/>
            </a:pPr>
            <a:r>
              <a:rPr lang="en"/>
              <a:t>Les sommets transitoires sont ceux que le buck peut visiter, mais qu’il finit par quitter définitivement.</a:t>
            </a:r>
            <a:endParaRPr/>
          </a:p>
          <a:p>
            <a:pPr indent="0" lvl="0" marL="0" rtl="0" algn="l">
              <a:spcBef>
                <a:spcPts val="0"/>
              </a:spcBef>
              <a:spcAft>
                <a:spcPts val="0"/>
              </a:spcAft>
              <a:buNone/>
            </a:pPr>
            <a:r>
              <a:rPr lang="en"/>
              <a:t>À long terme, ils ont donc un coût nul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 buck circule indefiniment dans les classes recurrentes c</a:t>
            </a:r>
            <a:endParaRPr/>
          </a:p>
          <a:p>
            <a:pPr indent="0" lvl="0" marL="0" rtl="0" algn="l">
              <a:spcBef>
                <a:spcPts val="0"/>
              </a:spcBef>
              <a:spcAft>
                <a:spcPts val="0"/>
              </a:spcAft>
              <a:buNone/>
            </a:pPr>
            <a:r>
              <a:rPr lang="en"/>
              <a:t>Union disjointe</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b6daeea1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b6daeea1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50000"/>
              </a:lnSpc>
              <a:spcBef>
                <a:spcPts val="0"/>
              </a:spcBef>
              <a:spcAft>
                <a:spcPts val="0"/>
              </a:spcAft>
              <a:buClr>
                <a:schemeClr val="dk1"/>
              </a:buClr>
              <a:buSzPts val="1100"/>
              <a:buFont typeface="Arial"/>
              <a:buNone/>
            </a:pPr>
            <a:r>
              <a:rPr lang="en" sz="1300">
                <a:solidFill>
                  <a:schemeClr val="dk1"/>
                </a:solidFill>
                <a:latin typeface="Albert Sans"/>
                <a:ea typeface="Albert Sans"/>
                <a:cs typeface="Albert Sans"/>
                <a:sym typeface="Albert Sans"/>
              </a:rPr>
              <a:t>ρ_1^π = (0, 0.5, 0.5, 0) </a:t>
            </a:r>
            <a:endParaRPr sz="1300">
              <a:solidFill>
                <a:schemeClr val="dk1"/>
              </a:solidFill>
              <a:latin typeface="Albert Sans"/>
              <a:ea typeface="Albert Sans"/>
              <a:cs typeface="Albert Sans"/>
              <a:sym typeface="Albert Sans"/>
            </a:endParaRPr>
          </a:p>
          <a:p>
            <a:pPr indent="0" lvl="0" marL="0" rtl="0" algn="l">
              <a:lnSpc>
                <a:spcPct val="50000"/>
              </a:lnSpc>
              <a:spcBef>
                <a:spcPts val="1200"/>
              </a:spcBef>
              <a:spcAft>
                <a:spcPts val="0"/>
              </a:spcAft>
              <a:buClr>
                <a:schemeClr val="dk1"/>
              </a:buClr>
              <a:buSzPts val="1100"/>
              <a:buFont typeface="Arial"/>
              <a:buNone/>
            </a:pPr>
            <a:r>
              <a:rPr lang="en" sz="1300">
                <a:solidFill>
                  <a:schemeClr val="dk1"/>
                </a:solidFill>
                <a:latin typeface="Albert Sans"/>
                <a:ea typeface="Albert Sans"/>
                <a:cs typeface="Albert Sans"/>
                <a:sym typeface="Albert Sans"/>
              </a:rPr>
              <a:t>(fréquence égale dans le cycle de taille 2).</a:t>
            </a:r>
            <a:endParaRPr sz="1300">
              <a:solidFill>
                <a:schemeClr val="dk1"/>
              </a:solidFill>
              <a:latin typeface="Albert Sans"/>
              <a:ea typeface="Albert Sans"/>
              <a:cs typeface="Albert Sans"/>
              <a:sym typeface="Albert Sans"/>
            </a:endParaRPr>
          </a:p>
          <a:p>
            <a:pPr indent="0" lvl="0" marL="0" rtl="0" algn="l">
              <a:lnSpc>
                <a:spcPct val="50000"/>
              </a:lnSpc>
              <a:spcBef>
                <a:spcPts val="1200"/>
              </a:spcBef>
              <a:spcAft>
                <a:spcPts val="0"/>
              </a:spcAft>
              <a:buClr>
                <a:schemeClr val="dk1"/>
              </a:buClr>
              <a:buSzPts val="1100"/>
              <a:buFont typeface="Arial"/>
              <a:buNone/>
            </a:pPr>
            <a:r>
              <a:t/>
            </a:r>
            <a:endParaRPr>
              <a:solidFill>
                <a:schemeClr val="dk1"/>
              </a:solidFill>
              <a:latin typeface="Albert Sans"/>
              <a:ea typeface="Albert Sans"/>
              <a:cs typeface="Albert Sans"/>
              <a:sym typeface="Albert Sans"/>
            </a:endParaRPr>
          </a:p>
          <a:p>
            <a:pPr indent="0" lvl="0" marL="0" rtl="0" algn="l">
              <a:lnSpc>
                <a:spcPct val="50000"/>
              </a:lnSpc>
              <a:spcBef>
                <a:spcPts val="1200"/>
              </a:spcBef>
              <a:spcAft>
                <a:spcPts val="1200"/>
              </a:spcAft>
              <a:buClr>
                <a:schemeClr val="dk1"/>
              </a:buClr>
              <a:buSzPts val="1100"/>
              <a:buFont typeface="Arial"/>
              <a:buNone/>
            </a:pPr>
            <a:r>
              <a:rPr lang="en">
                <a:solidFill>
                  <a:schemeClr val="dk1"/>
                </a:solidFill>
                <a:latin typeface="Albert Sans"/>
                <a:ea typeface="Albert Sans"/>
                <a:cs typeface="Albert Sans"/>
                <a:sym typeface="Albert Sans"/>
              </a:rPr>
              <a:t>c_A = 0 (transitoire, jamais récurrent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b468c28683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b468c28683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À long terme, la proportion de temps passée dans un état i est donnée par la mesure stationnaire ρ</a:t>
            </a:r>
            <a:r>
              <a:rPr lang="en"/>
              <a:t>π</a:t>
            </a:r>
            <a:r>
              <a:rPr lang="en"/>
              <a:t>(i)</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b468c28683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b468c28683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Le théorème ergodique s’applique </a:t>
            </a:r>
            <a:r>
              <a:rPr b="1" lang="en">
                <a:solidFill>
                  <a:schemeClr val="dk1"/>
                </a:solidFill>
              </a:rPr>
              <a:t>uniquement</a:t>
            </a:r>
            <a:r>
              <a:rPr lang="en">
                <a:solidFill>
                  <a:schemeClr val="dk1"/>
                </a:solidFill>
              </a:rPr>
              <a:t> aux chaînes irréductibles</a:t>
            </a:r>
            <a:endParaRPr>
              <a:solidFill>
                <a:schemeClr val="dk1"/>
              </a:solidFill>
            </a:endParaRPr>
          </a:p>
          <a:p>
            <a:pPr indent="0" lvl="0" marL="0" rtl="0" algn="l">
              <a:spcBef>
                <a:spcPts val="0"/>
              </a:spcBef>
              <a:spcAft>
                <a:spcPts val="0"/>
              </a:spcAft>
              <a:buNone/>
            </a:pPr>
            <a:r>
              <a:rPr lang="en">
                <a:solidFill>
                  <a:schemeClr val="dk1"/>
                </a:solidFill>
              </a:rPr>
              <a:t>Or, dans notre jeu : le graphe Gπpeut avoir </a:t>
            </a:r>
            <a:r>
              <a:rPr b="1" lang="en">
                <a:solidFill>
                  <a:schemeClr val="dk1"/>
                </a:solidFill>
              </a:rPr>
              <a:t>plusieurs classes récurrentes</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Le buck finira par etre absorbé dans une classe rec a partir de n’importe quel etat avec proba p</a:t>
            </a:r>
            <a:endParaRPr b="1">
              <a:solidFill>
                <a:schemeClr val="dk1"/>
              </a:solidFill>
            </a:endParaRPr>
          </a:p>
          <a:p>
            <a:pPr indent="0" lvl="0" marL="0" rtl="0" algn="l">
              <a:spcBef>
                <a:spcPts val="0"/>
              </a:spcBef>
              <a:spcAft>
                <a:spcPts val="0"/>
              </a:spcAft>
              <a:buNone/>
            </a:pPr>
            <a:r>
              <a:rPr b="1" lang="en">
                <a:solidFill>
                  <a:schemeClr val="dk1"/>
                </a:solidFill>
              </a:rPr>
              <a:t>:proba total avec laquelle le buck sera absoorbé mu = somme des mu _j* p</a:t>
            </a:r>
            <a:endParaRPr b="1">
              <a:solidFill>
                <a:schemeClr val="dk1"/>
              </a:solidFill>
            </a:endParaRPr>
          </a:p>
          <a:p>
            <a:pPr indent="0" lvl="0" marL="0" rtl="0" algn="l">
              <a:spcBef>
                <a:spcPts val="0"/>
              </a:spcBef>
              <a:spcAft>
                <a:spcPts val="0"/>
              </a:spcAft>
              <a:buNone/>
            </a:pPr>
            <a:r>
              <a:rPr b="1" lang="en">
                <a:solidFill>
                  <a:schemeClr val="dk1"/>
                </a:solidFill>
              </a:rPr>
              <a:t>Le cout de joueur peut alors etre exprimé coomme ci = somme des mu* rho</a:t>
            </a:r>
            <a:endParaRPr b="1">
              <a:solidFill>
                <a:schemeClr val="dk1"/>
              </a:solidFill>
            </a:endParaRPr>
          </a:p>
          <a:p>
            <a:pPr indent="0" lvl="0" marL="0" rtl="0" algn="l">
              <a:spcBef>
                <a:spcPts val="0"/>
              </a:spcBef>
              <a:spcAft>
                <a:spcPts val="0"/>
              </a:spcAft>
              <a:buNone/>
            </a:pPr>
            <a:r>
              <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la dynamique dépend du </a:t>
            </a:r>
            <a:r>
              <a:rPr b="1" lang="en">
                <a:solidFill>
                  <a:schemeClr val="dk1"/>
                </a:solidFill>
              </a:rPr>
              <a:t>point de départ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b468c2868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b468c2868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b62d9aa4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b62d9aa4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b62d9aa41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b62d9aa41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b62d9aa41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b62d9aa41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Il existerait alors un joueur qui ne peut pas améliorer son coût par une déviation déterministe, mais qui peut l’améliorer par une déviation stochastique.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Plus le retour est lent plus le cout est faible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À partir de i :</a:t>
            </a:r>
            <a:endParaRPr/>
          </a:p>
          <a:p>
            <a:pPr indent="0" lvl="0" marL="0" rtl="0" algn="l">
              <a:spcBef>
                <a:spcPts val="0"/>
              </a:spcBef>
              <a:spcAft>
                <a:spcPts val="0"/>
              </a:spcAft>
              <a:buNone/>
            </a:pPr>
            <a:r>
              <a:rPr lang="en"/>
              <a:t>on fait un pas (le +1)</a:t>
            </a:r>
            <a:endParaRPr/>
          </a:p>
          <a:p>
            <a:pPr indent="0" lvl="0" marL="0" rtl="0" algn="l">
              <a:spcBef>
                <a:spcPts val="0"/>
              </a:spcBef>
              <a:spcAft>
                <a:spcPts val="0"/>
              </a:spcAft>
              <a:buNone/>
            </a:pPr>
            <a:r>
              <a:rPr lang="en"/>
              <a:t>puis on va vers j avec proba πij </a:t>
            </a:r>
            <a:endParaRPr/>
          </a:p>
          <a:p>
            <a:pPr indent="0" lvl="0" marL="0" rtl="0" algn="l">
              <a:spcBef>
                <a:spcPts val="0"/>
              </a:spcBef>
              <a:spcAft>
                <a:spcPts val="0"/>
              </a:spcAft>
              <a:buNone/>
            </a:pPr>
            <a:r>
              <a:rPr lang="en"/>
              <a:t>et on attend le retour en i depuis j</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Pas de moyenne : on va </a:t>
            </a:r>
            <a:r>
              <a:rPr b="1" lang="en">
                <a:solidFill>
                  <a:schemeClr val="dk1"/>
                </a:solidFill>
              </a:rPr>
              <a:t>certainement</a:t>
            </a:r>
            <a:r>
              <a:rPr lang="en">
                <a:solidFill>
                  <a:schemeClr val="dk1"/>
                </a:solidFill>
              </a:rPr>
              <a:t> vers si</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Intuition a garder la moyenne ne peut pas depasser le maximum</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b62d9aa41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b62d9aa41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On distingue deux cas :</a:t>
            </a:r>
            <a:endParaRPr/>
          </a:p>
          <a:p>
            <a:pPr indent="0" lvl="0" marL="0" rtl="0" algn="l">
              <a:spcBef>
                <a:spcPts val="0"/>
              </a:spcBef>
              <a:spcAft>
                <a:spcPts val="0"/>
              </a:spcAft>
              <a:buClr>
                <a:schemeClr val="dk1"/>
              </a:buClr>
              <a:buSzPts val="1100"/>
              <a:buFont typeface="Arial"/>
              <a:buNone/>
            </a:pPr>
            <a:r>
              <a:rPr lang="en"/>
              <a:t>s induit une seule classe récurrente</a:t>
            </a:r>
            <a:endParaRPr/>
          </a:p>
          <a:p>
            <a:pPr indent="0" lvl="0" marL="0" rtl="0" algn="l">
              <a:spcBef>
                <a:spcPts val="0"/>
              </a:spcBef>
              <a:spcAft>
                <a:spcPts val="0"/>
              </a:spcAft>
              <a:buNone/>
            </a:pPr>
            <a:r>
              <a:rPr lang="en"/>
              <a:t>s induit plusieurs classes récurrentes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b468c28683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b468c28683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54dda1946d_6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54dda1946d_6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1901825" y="961363"/>
            <a:ext cx="5339700" cy="27018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5000">
                <a:latin typeface="Epilogue"/>
                <a:ea typeface="Epilogue"/>
                <a:cs typeface="Epilogue"/>
                <a:sym typeface="Epilogu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1901926" y="3770538"/>
            <a:ext cx="5339700" cy="4116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1400"/>
              <a:buNone/>
              <a:defRPr sz="1600">
                <a:solidFill>
                  <a:schemeClr val="dk1"/>
                </a:solidFill>
                <a:latin typeface="Epilogue"/>
                <a:ea typeface="Epilogue"/>
                <a:cs typeface="Epilogue"/>
                <a:sym typeface="Epilogu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18907" y="348447"/>
            <a:ext cx="9102423" cy="4768600"/>
            <a:chOff x="18907" y="348447"/>
            <a:chExt cx="9102423" cy="4768600"/>
          </a:xfrm>
        </p:grpSpPr>
        <p:sp>
          <p:nvSpPr>
            <p:cNvPr id="12" name="Google Shape;12;p2"/>
            <p:cNvSpPr/>
            <p:nvPr/>
          </p:nvSpPr>
          <p:spPr>
            <a:xfrm>
              <a:off x="18907" y="4806247"/>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8810530" y="344906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8430782" y="348447"/>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398650" y="136758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3"/>
          <p:cNvSpPr txBox="1"/>
          <p:nvPr>
            <p:ph type="title"/>
          </p:nvPr>
        </p:nvSpPr>
        <p:spPr>
          <a:xfrm>
            <a:off x="2403300" y="2308700"/>
            <a:ext cx="4337400" cy="15489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hasCustomPrompt="1" idx="2" type="title"/>
          </p:nvPr>
        </p:nvSpPr>
        <p:spPr>
          <a:xfrm>
            <a:off x="4048350" y="1035200"/>
            <a:ext cx="1047300" cy="969600"/>
          </a:xfrm>
          <a:prstGeom prst="rect">
            <a:avLst/>
          </a:prstGeom>
          <a:solidFill>
            <a:schemeClr val="dk2"/>
          </a:solidFill>
          <a:effectLst>
            <a:outerShdw rotWithShape="0" algn="bl" dir="7380000" dist="152400">
              <a:schemeClr val="dk1"/>
            </a:outerShdw>
          </a:effectLst>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 name="Google Shape;19;p3"/>
          <p:cNvSpPr txBox="1"/>
          <p:nvPr>
            <p:ph idx="1" type="subTitle"/>
          </p:nvPr>
        </p:nvSpPr>
        <p:spPr>
          <a:xfrm>
            <a:off x="2403300" y="3913400"/>
            <a:ext cx="4337400" cy="37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0" name="Google Shape;20;p3"/>
          <p:cNvGrpSpPr/>
          <p:nvPr/>
        </p:nvGrpSpPr>
        <p:grpSpPr>
          <a:xfrm>
            <a:off x="402430" y="39538"/>
            <a:ext cx="8349379" cy="5035943"/>
            <a:chOff x="402430" y="39538"/>
            <a:chExt cx="8349379" cy="5035943"/>
          </a:xfrm>
        </p:grpSpPr>
        <p:sp>
          <p:nvSpPr>
            <p:cNvPr id="21" name="Google Shape;21;p3"/>
            <p:cNvSpPr/>
            <p:nvPr/>
          </p:nvSpPr>
          <p:spPr>
            <a:xfrm>
              <a:off x="402430" y="4448588"/>
              <a:ext cx="310800" cy="310800"/>
            </a:xfrm>
            <a:prstGeom prst="rect">
              <a:avLst/>
            </a:prstGeom>
            <a:solidFill>
              <a:schemeClr val="dk1"/>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7755293" y="39538"/>
              <a:ext cx="310800" cy="310800"/>
            </a:xfrm>
            <a:prstGeom prst="rect">
              <a:avLst/>
            </a:prstGeom>
            <a:solidFill>
              <a:schemeClr val="dk1"/>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8441009" y="4764680"/>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4"/>
          <p:cNvSpPr txBox="1"/>
          <p:nvPr>
            <p:ph type="title"/>
          </p:nvPr>
        </p:nvSpPr>
        <p:spPr>
          <a:xfrm>
            <a:off x="791700" y="525425"/>
            <a:ext cx="67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 name="Google Shape;26;p4"/>
          <p:cNvSpPr txBox="1"/>
          <p:nvPr>
            <p:ph idx="1" type="body"/>
          </p:nvPr>
        </p:nvSpPr>
        <p:spPr>
          <a:xfrm>
            <a:off x="791700" y="1201675"/>
            <a:ext cx="6709200" cy="2540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5"/>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 name="Google Shape;29;p5"/>
          <p:cNvSpPr txBox="1"/>
          <p:nvPr>
            <p:ph idx="1" type="subTitle"/>
          </p:nvPr>
        </p:nvSpPr>
        <p:spPr>
          <a:xfrm>
            <a:off x="5217434" y="3695224"/>
            <a:ext cx="2181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5"/>
          <p:cNvSpPr txBox="1"/>
          <p:nvPr>
            <p:ph idx="2" type="subTitle"/>
          </p:nvPr>
        </p:nvSpPr>
        <p:spPr>
          <a:xfrm>
            <a:off x="1745421" y="3695224"/>
            <a:ext cx="2181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1" name="Google Shape;31;p5"/>
          <p:cNvSpPr txBox="1"/>
          <p:nvPr>
            <p:ph idx="3" type="subTitle"/>
          </p:nvPr>
        </p:nvSpPr>
        <p:spPr>
          <a:xfrm>
            <a:off x="5217426" y="3274925"/>
            <a:ext cx="21813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0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2" name="Google Shape;32;p5"/>
          <p:cNvSpPr txBox="1"/>
          <p:nvPr>
            <p:ph idx="4" type="subTitle"/>
          </p:nvPr>
        </p:nvSpPr>
        <p:spPr>
          <a:xfrm>
            <a:off x="1745225" y="3274925"/>
            <a:ext cx="21813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0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33" name="Shape 33"/>
        <p:cNvGrpSpPr/>
        <p:nvPr/>
      </p:nvGrpSpPr>
      <p:grpSpPr>
        <a:xfrm>
          <a:off x="0" y="0"/>
          <a:ext cx="0" cy="0"/>
          <a:chOff x="0" y="0"/>
          <a:chExt cx="0" cy="0"/>
        </a:xfrm>
      </p:grpSpPr>
      <p:sp>
        <p:nvSpPr>
          <p:cNvPr id="34" name="Google Shape;34;p6"/>
          <p:cNvSpPr txBox="1"/>
          <p:nvPr>
            <p:ph type="title"/>
          </p:nvPr>
        </p:nvSpPr>
        <p:spPr>
          <a:xfrm>
            <a:off x="717588"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7"/>
          <p:cNvSpPr txBox="1"/>
          <p:nvPr>
            <p:ph type="title"/>
          </p:nvPr>
        </p:nvSpPr>
        <p:spPr>
          <a:xfrm>
            <a:off x="3928350" y="949875"/>
            <a:ext cx="4129800" cy="1024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7" name="Google Shape;37;p7"/>
          <p:cNvSpPr txBox="1"/>
          <p:nvPr>
            <p:ph idx="1" type="subTitle"/>
          </p:nvPr>
        </p:nvSpPr>
        <p:spPr>
          <a:xfrm>
            <a:off x="3928350" y="2006350"/>
            <a:ext cx="4129800" cy="22551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38" name="Google Shape;38;p7"/>
          <p:cNvSpPr/>
          <p:nvPr>
            <p:ph idx="2" type="pic"/>
          </p:nvPr>
        </p:nvSpPr>
        <p:spPr>
          <a:xfrm>
            <a:off x="992400" y="949875"/>
            <a:ext cx="2688000" cy="3311400"/>
          </a:xfrm>
          <a:prstGeom prst="rect">
            <a:avLst/>
          </a:prstGeom>
          <a:noFill/>
          <a:ln>
            <a:noFill/>
          </a:ln>
          <a:effectLst>
            <a:outerShdw rotWithShape="0" algn="bl" dir="7560000" dist="142875">
              <a:schemeClr val="dk1">
                <a:alpha val="97000"/>
              </a:schemeClr>
            </a:outerShdw>
          </a:effectLst>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8"/>
          <p:cNvSpPr txBox="1"/>
          <p:nvPr>
            <p:ph type="title"/>
          </p:nvPr>
        </p:nvSpPr>
        <p:spPr>
          <a:xfrm>
            <a:off x="1948500" y="1307100"/>
            <a:ext cx="52470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1" name="Google Shape;41;p8"/>
          <p:cNvGrpSpPr/>
          <p:nvPr/>
        </p:nvGrpSpPr>
        <p:grpSpPr>
          <a:xfrm>
            <a:off x="33846" y="-12"/>
            <a:ext cx="9110159" cy="5120950"/>
            <a:chOff x="33846" y="-12"/>
            <a:chExt cx="9110159" cy="5120950"/>
          </a:xfrm>
        </p:grpSpPr>
        <p:sp>
          <p:nvSpPr>
            <p:cNvPr id="42" name="Google Shape;42;p8"/>
            <p:cNvSpPr/>
            <p:nvPr/>
          </p:nvSpPr>
          <p:spPr>
            <a:xfrm>
              <a:off x="8833205" y="-12"/>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p:nvPr/>
          </p:nvSpPr>
          <p:spPr>
            <a:xfrm>
              <a:off x="33846" y="4810138"/>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p:nvPr/>
          </p:nvSpPr>
          <p:spPr>
            <a:xfrm>
              <a:off x="402418" y="1739838"/>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8"/>
            <p:cNvSpPr/>
            <p:nvPr/>
          </p:nvSpPr>
          <p:spPr>
            <a:xfrm>
              <a:off x="8460914" y="1717288"/>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8"/>
            <p:cNvSpPr/>
            <p:nvPr/>
          </p:nvSpPr>
          <p:spPr>
            <a:xfrm>
              <a:off x="8460918" y="4499338"/>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blipFill>
          <a:blip r:embed="rId2">
            <a:alphaModFix/>
          </a:blip>
          <a:stretch>
            <a:fillRect/>
          </a:stretch>
        </a:blipFill>
      </p:bgPr>
    </p:bg>
    <p:spTree>
      <p:nvGrpSpPr>
        <p:cNvPr id="47" name="Shape 47"/>
        <p:cNvGrpSpPr/>
        <p:nvPr/>
      </p:nvGrpSpPr>
      <p:grpSpPr>
        <a:xfrm>
          <a:off x="0" y="0"/>
          <a:ext cx="0" cy="0"/>
          <a:chOff x="0" y="0"/>
          <a:chExt cx="0" cy="0"/>
        </a:xfrm>
      </p:grpSpPr>
      <p:sp>
        <p:nvSpPr>
          <p:cNvPr id="48" name="Google Shape;48;p9"/>
          <p:cNvSpPr txBox="1"/>
          <p:nvPr>
            <p:ph type="title"/>
          </p:nvPr>
        </p:nvSpPr>
        <p:spPr>
          <a:xfrm>
            <a:off x="2821494" y="1582288"/>
            <a:ext cx="3501000" cy="1161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6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49" name="Google Shape;49;p9"/>
          <p:cNvSpPr txBox="1"/>
          <p:nvPr>
            <p:ph idx="1" type="subTitle"/>
          </p:nvPr>
        </p:nvSpPr>
        <p:spPr>
          <a:xfrm>
            <a:off x="2821506" y="2667513"/>
            <a:ext cx="3501000" cy="893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50" name="Google Shape;50;p9"/>
          <p:cNvGrpSpPr/>
          <p:nvPr/>
        </p:nvGrpSpPr>
        <p:grpSpPr>
          <a:xfrm>
            <a:off x="7" y="384088"/>
            <a:ext cx="8741573" cy="4375310"/>
            <a:chOff x="7" y="384088"/>
            <a:chExt cx="8741573" cy="4375310"/>
          </a:xfrm>
        </p:grpSpPr>
        <p:sp>
          <p:nvSpPr>
            <p:cNvPr id="51" name="Google Shape;51;p9"/>
            <p:cNvSpPr/>
            <p:nvPr/>
          </p:nvSpPr>
          <p:spPr>
            <a:xfrm>
              <a:off x="402430" y="1057938"/>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9"/>
            <p:cNvSpPr/>
            <p:nvPr/>
          </p:nvSpPr>
          <p:spPr>
            <a:xfrm>
              <a:off x="8430780" y="384088"/>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p:nvPr/>
          </p:nvSpPr>
          <p:spPr>
            <a:xfrm>
              <a:off x="7" y="4448597"/>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ph idx="2" type="pic"/>
          </p:nvPr>
        </p:nvSpPr>
        <p:spPr>
          <a:xfrm>
            <a:off x="-25" y="-13725"/>
            <a:ext cx="9144000" cy="5157300"/>
          </a:xfrm>
          <a:prstGeom prst="rect">
            <a:avLst/>
          </a:prstGeom>
          <a:noFill/>
          <a:ln>
            <a:noFill/>
          </a:ln>
        </p:spPr>
      </p:sp>
      <p:sp>
        <p:nvSpPr>
          <p:cNvPr id="56" name="Google Shape;56;p10"/>
          <p:cNvSpPr txBox="1"/>
          <p:nvPr>
            <p:ph type="title"/>
          </p:nvPr>
        </p:nvSpPr>
        <p:spPr>
          <a:xfrm>
            <a:off x="713125" y="3954975"/>
            <a:ext cx="7717800" cy="6321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blipFill>
          <a:blip r:embed="rId2">
            <a:alphaModFix/>
          </a:blip>
          <a:stretch>
            <a:fillRect/>
          </a:stretch>
        </a:blip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1913450" y="1725850"/>
            <a:ext cx="5317200" cy="1079400"/>
          </a:xfrm>
          <a:prstGeom prst="rect">
            <a:avLst/>
          </a:prstGeom>
          <a:solidFill>
            <a:schemeClr val="dk2"/>
          </a:solidFill>
          <a:effectLst>
            <a:outerShdw rotWithShape="0" algn="bl" dir="7380000" dist="152400">
              <a:schemeClr val="dk1"/>
            </a:outerShdw>
          </a:effectLst>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9" name="Google Shape;59;p11"/>
          <p:cNvSpPr txBox="1"/>
          <p:nvPr>
            <p:ph idx="1" type="subTitle"/>
          </p:nvPr>
        </p:nvSpPr>
        <p:spPr>
          <a:xfrm>
            <a:off x="1913450" y="2992875"/>
            <a:ext cx="5317200" cy="424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60" name="Google Shape;60;p11"/>
          <p:cNvGrpSpPr/>
          <p:nvPr/>
        </p:nvGrpSpPr>
        <p:grpSpPr>
          <a:xfrm>
            <a:off x="7" y="384088"/>
            <a:ext cx="8741573" cy="4375310"/>
            <a:chOff x="7" y="384088"/>
            <a:chExt cx="8741573" cy="4375310"/>
          </a:xfrm>
        </p:grpSpPr>
        <p:sp>
          <p:nvSpPr>
            <p:cNvPr id="61" name="Google Shape;61;p11"/>
            <p:cNvSpPr/>
            <p:nvPr/>
          </p:nvSpPr>
          <p:spPr>
            <a:xfrm>
              <a:off x="402430" y="1057938"/>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1"/>
            <p:cNvSpPr/>
            <p:nvPr/>
          </p:nvSpPr>
          <p:spPr>
            <a:xfrm>
              <a:off x="8430780" y="384088"/>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1"/>
            <p:cNvSpPr/>
            <p:nvPr/>
          </p:nvSpPr>
          <p:spPr>
            <a:xfrm>
              <a:off x="7" y="4448597"/>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bg>
      <p:bgPr>
        <a:blipFill>
          <a:blip r:embed="rId2">
            <a:alphaModFix/>
          </a:blip>
          <a:stretch>
            <a:fillRect/>
          </a:stretch>
        </a:blipFill>
      </p:bgPr>
    </p:bg>
    <p:spTree>
      <p:nvGrpSpPr>
        <p:cNvPr id="65" name="Shape 65"/>
        <p:cNvGrpSpPr/>
        <p:nvPr/>
      </p:nvGrpSpPr>
      <p:grpSpPr>
        <a:xfrm>
          <a:off x="0" y="0"/>
          <a:ext cx="0" cy="0"/>
          <a:chOff x="0" y="0"/>
          <a:chExt cx="0" cy="0"/>
        </a:xfrm>
      </p:grpSpPr>
      <p:sp>
        <p:nvSpPr>
          <p:cNvPr id="66" name="Google Shape;66;p1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7" name="Google Shape;67;p13"/>
          <p:cNvSpPr txBox="1"/>
          <p:nvPr>
            <p:ph idx="1" type="subTitle"/>
          </p:nvPr>
        </p:nvSpPr>
        <p:spPr>
          <a:xfrm>
            <a:off x="796200" y="2209183"/>
            <a:ext cx="2247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8" name="Google Shape;68;p13"/>
          <p:cNvSpPr txBox="1"/>
          <p:nvPr>
            <p:ph idx="2" type="subTitle"/>
          </p:nvPr>
        </p:nvSpPr>
        <p:spPr>
          <a:xfrm>
            <a:off x="3419275" y="2209183"/>
            <a:ext cx="2247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 name="Google Shape;69;p13"/>
          <p:cNvSpPr txBox="1"/>
          <p:nvPr>
            <p:ph idx="3" type="subTitle"/>
          </p:nvPr>
        </p:nvSpPr>
        <p:spPr>
          <a:xfrm>
            <a:off x="796200" y="4045522"/>
            <a:ext cx="2247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 name="Google Shape;70;p13"/>
          <p:cNvSpPr txBox="1"/>
          <p:nvPr>
            <p:ph idx="4" type="subTitle"/>
          </p:nvPr>
        </p:nvSpPr>
        <p:spPr>
          <a:xfrm>
            <a:off x="3419275" y="4045522"/>
            <a:ext cx="2247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1" name="Google Shape;71;p13"/>
          <p:cNvSpPr txBox="1"/>
          <p:nvPr>
            <p:ph idx="5" type="subTitle"/>
          </p:nvPr>
        </p:nvSpPr>
        <p:spPr>
          <a:xfrm>
            <a:off x="6042350" y="2209183"/>
            <a:ext cx="2247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 name="Google Shape;72;p13"/>
          <p:cNvSpPr txBox="1"/>
          <p:nvPr>
            <p:ph idx="6" type="subTitle"/>
          </p:nvPr>
        </p:nvSpPr>
        <p:spPr>
          <a:xfrm>
            <a:off x="6042350" y="4045522"/>
            <a:ext cx="2247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 name="Google Shape;73;p13"/>
          <p:cNvSpPr txBox="1"/>
          <p:nvPr>
            <p:ph hasCustomPrompt="1" idx="7" type="title"/>
          </p:nvPr>
        </p:nvSpPr>
        <p:spPr>
          <a:xfrm>
            <a:off x="1552650" y="1245325"/>
            <a:ext cx="734700" cy="610500"/>
          </a:xfrm>
          <a:prstGeom prst="rect">
            <a:avLst/>
          </a:prstGeom>
          <a:solidFill>
            <a:schemeClr val="dk2"/>
          </a:solidFill>
          <a:effectLst>
            <a:outerShdw rotWithShape="0" algn="bl" dir="7560000" dist="57150">
              <a:schemeClr val="dk1"/>
            </a:outerShdw>
          </a:effectLst>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p:nvPr>
            <p:ph hasCustomPrompt="1" idx="8" type="title"/>
          </p:nvPr>
        </p:nvSpPr>
        <p:spPr>
          <a:xfrm>
            <a:off x="1552650" y="3080950"/>
            <a:ext cx="734700" cy="610500"/>
          </a:xfrm>
          <a:prstGeom prst="rect">
            <a:avLst/>
          </a:prstGeom>
          <a:solidFill>
            <a:schemeClr val="dk2"/>
          </a:solidFill>
          <a:effectLst>
            <a:outerShdw rotWithShape="0" algn="bl" dir="7560000" dist="57150">
              <a:schemeClr val="dk1"/>
            </a:outerShdw>
          </a:effectLst>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 name="Google Shape;75;p13"/>
          <p:cNvSpPr txBox="1"/>
          <p:nvPr>
            <p:ph hasCustomPrompt="1" idx="9" type="title"/>
          </p:nvPr>
        </p:nvSpPr>
        <p:spPr>
          <a:xfrm>
            <a:off x="4175725" y="1245325"/>
            <a:ext cx="734700" cy="610500"/>
          </a:xfrm>
          <a:prstGeom prst="rect">
            <a:avLst/>
          </a:prstGeom>
          <a:solidFill>
            <a:schemeClr val="dk2"/>
          </a:solidFill>
          <a:effectLst>
            <a:outerShdw rotWithShape="0" algn="bl" dir="7560000" dist="57150">
              <a:schemeClr val="dk1"/>
            </a:outerShdw>
          </a:effectLst>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 name="Google Shape;76;p13"/>
          <p:cNvSpPr txBox="1"/>
          <p:nvPr>
            <p:ph hasCustomPrompt="1" idx="13" type="title"/>
          </p:nvPr>
        </p:nvSpPr>
        <p:spPr>
          <a:xfrm>
            <a:off x="4175725" y="3080950"/>
            <a:ext cx="734700" cy="610500"/>
          </a:xfrm>
          <a:prstGeom prst="rect">
            <a:avLst/>
          </a:prstGeom>
          <a:solidFill>
            <a:schemeClr val="dk2"/>
          </a:solidFill>
          <a:effectLst>
            <a:outerShdw rotWithShape="0" algn="bl" dir="7560000" dist="57150">
              <a:schemeClr val="dk1"/>
            </a:outerShdw>
          </a:effectLst>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7" name="Google Shape;77;p13"/>
          <p:cNvSpPr txBox="1"/>
          <p:nvPr>
            <p:ph hasCustomPrompt="1" idx="14" type="title"/>
          </p:nvPr>
        </p:nvSpPr>
        <p:spPr>
          <a:xfrm>
            <a:off x="6798800" y="1245325"/>
            <a:ext cx="734700" cy="610500"/>
          </a:xfrm>
          <a:prstGeom prst="rect">
            <a:avLst/>
          </a:prstGeom>
          <a:solidFill>
            <a:schemeClr val="dk2"/>
          </a:solidFill>
          <a:effectLst>
            <a:outerShdw rotWithShape="0" algn="bl" dir="7560000" dist="57150">
              <a:schemeClr val="dk1"/>
            </a:outerShdw>
          </a:effectLst>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3"/>
          <p:cNvSpPr txBox="1"/>
          <p:nvPr>
            <p:ph hasCustomPrompt="1" idx="15" type="title"/>
          </p:nvPr>
        </p:nvSpPr>
        <p:spPr>
          <a:xfrm>
            <a:off x="6798800" y="3080950"/>
            <a:ext cx="734700" cy="610500"/>
          </a:xfrm>
          <a:prstGeom prst="rect">
            <a:avLst/>
          </a:prstGeom>
          <a:solidFill>
            <a:schemeClr val="dk2"/>
          </a:solidFill>
          <a:effectLst>
            <a:outerShdw rotWithShape="0" algn="bl" dir="7560000" dist="57150">
              <a:schemeClr val="dk1"/>
            </a:outerShdw>
          </a:effectLst>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p:nvPr>
            <p:ph idx="16" type="subTitle"/>
          </p:nvPr>
        </p:nvSpPr>
        <p:spPr>
          <a:xfrm>
            <a:off x="796200" y="1877300"/>
            <a:ext cx="2247600" cy="484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0" name="Google Shape;80;p13"/>
          <p:cNvSpPr txBox="1"/>
          <p:nvPr>
            <p:ph idx="17" type="subTitle"/>
          </p:nvPr>
        </p:nvSpPr>
        <p:spPr>
          <a:xfrm>
            <a:off x="3419275" y="1877300"/>
            <a:ext cx="2247600" cy="484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1" name="Google Shape;81;p13"/>
          <p:cNvSpPr txBox="1"/>
          <p:nvPr>
            <p:ph idx="18" type="subTitle"/>
          </p:nvPr>
        </p:nvSpPr>
        <p:spPr>
          <a:xfrm>
            <a:off x="6042350" y="1877300"/>
            <a:ext cx="2247600" cy="484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2" name="Google Shape;82;p13"/>
          <p:cNvSpPr txBox="1"/>
          <p:nvPr>
            <p:ph idx="19" type="subTitle"/>
          </p:nvPr>
        </p:nvSpPr>
        <p:spPr>
          <a:xfrm>
            <a:off x="796200" y="3713121"/>
            <a:ext cx="2247600" cy="484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3" name="Google Shape;83;p13"/>
          <p:cNvSpPr txBox="1"/>
          <p:nvPr>
            <p:ph idx="20" type="subTitle"/>
          </p:nvPr>
        </p:nvSpPr>
        <p:spPr>
          <a:xfrm>
            <a:off x="3419275" y="3713121"/>
            <a:ext cx="2247600" cy="484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4" name="Google Shape;84;p13"/>
          <p:cNvSpPr txBox="1"/>
          <p:nvPr>
            <p:ph idx="21" type="subTitle"/>
          </p:nvPr>
        </p:nvSpPr>
        <p:spPr>
          <a:xfrm>
            <a:off x="6042350" y="3713121"/>
            <a:ext cx="2247600" cy="484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blipFill>
          <a:blip r:embed="rId2">
            <a:alphaModFix/>
          </a:blip>
          <a:stretch>
            <a:fillRect/>
          </a:stretch>
        </a:blipFill>
      </p:bgPr>
    </p:bg>
    <p:spTree>
      <p:nvGrpSpPr>
        <p:cNvPr id="85" name="Shape 85"/>
        <p:cNvGrpSpPr/>
        <p:nvPr/>
      </p:nvGrpSpPr>
      <p:grpSpPr>
        <a:xfrm>
          <a:off x="0" y="0"/>
          <a:ext cx="0" cy="0"/>
          <a:chOff x="0" y="0"/>
          <a:chExt cx="0" cy="0"/>
        </a:xfrm>
      </p:grpSpPr>
      <p:sp>
        <p:nvSpPr>
          <p:cNvPr id="86" name="Google Shape;86;p1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blipFill>
          <a:blip r:embed="rId2">
            <a:alphaModFix/>
          </a:blip>
          <a:stretch>
            <a:fillRect/>
          </a:stretch>
        </a:blipFill>
      </p:bgPr>
    </p:bg>
    <p:spTree>
      <p:nvGrpSpPr>
        <p:cNvPr id="87" name="Shape 87"/>
        <p:cNvGrpSpPr/>
        <p:nvPr/>
      </p:nvGrpSpPr>
      <p:grpSpPr>
        <a:xfrm>
          <a:off x="0" y="0"/>
          <a:ext cx="0" cy="0"/>
          <a:chOff x="0" y="0"/>
          <a:chExt cx="0" cy="0"/>
        </a:xfrm>
      </p:grpSpPr>
      <p:sp>
        <p:nvSpPr>
          <p:cNvPr id="88" name="Google Shape;88;p15"/>
          <p:cNvSpPr txBox="1"/>
          <p:nvPr>
            <p:ph type="title"/>
          </p:nvPr>
        </p:nvSpPr>
        <p:spPr>
          <a:xfrm>
            <a:off x="4978120" y="3232050"/>
            <a:ext cx="3452700" cy="487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89" name="Google Shape;89;p15"/>
          <p:cNvSpPr txBox="1"/>
          <p:nvPr>
            <p:ph idx="1" type="subTitle"/>
          </p:nvPr>
        </p:nvSpPr>
        <p:spPr>
          <a:xfrm>
            <a:off x="713175" y="1368750"/>
            <a:ext cx="7717500" cy="1863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2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90" name="Google Shape;90;p15"/>
          <p:cNvGrpSpPr/>
          <p:nvPr/>
        </p:nvGrpSpPr>
        <p:grpSpPr>
          <a:xfrm>
            <a:off x="22564" y="-3"/>
            <a:ext cx="8719016" cy="5120941"/>
            <a:chOff x="22564" y="-3"/>
            <a:chExt cx="8719016" cy="5120941"/>
          </a:xfrm>
        </p:grpSpPr>
        <p:sp>
          <p:nvSpPr>
            <p:cNvPr id="91" name="Google Shape;91;p15"/>
            <p:cNvSpPr/>
            <p:nvPr/>
          </p:nvSpPr>
          <p:spPr>
            <a:xfrm>
              <a:off x="1437657" y="4810138"/>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a:off x="22564" y="378611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a:off x="8430780" y="384088"/>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a:off x="3184820" y="-3"/>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bg>
      <p:bgPr>
        <a:blipFill>
          <a:blip r:embed="rId2">
            <a:alphaModFix/>
          </a:blip>
          <a:stretch>
            <a:fillRect/>
          </a:stretch>
        </a:blipFill>
      </p:bgPr>
    </p:bg>
    <p:spTree>
      <p:nvGrpSpPr>
        <p:cNvPr id="95" name="Shape 95"/>
        <p:cNvGrpSpPr/>
        <p:nvPr/>
      </p:nvGrpSpPr>
      <p:grpSpPr>
        <a:xfrm>
          <a:off x="0" y="0"/>
          <a:ext cx="0" cy="0"/>
          <a:chOff x="0" y="0"/>
          <a:chExt cx="0" cy="0"/>
        </a:xfrm>
      </p:grpSpPr>
      <p:sp>
        <p:nvSpPr>
          <p:cNvPr id="96" name="Google Shape;96;p16"/>
          <p:cNvSpPr txBox="1"/>
          <p:nvPr>
            <p:ph type="title"/>
          </p:nvPr>
        </p:nvSpPr>
        <p:spPr>
          <a:xfrm>
            <a:off x="1005150" y="1021050"/>
            <a:ext cx="3075000" cy="1985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7" name="Google Shape;97;p16"/>
          <p:cNvSpPr txBox="1"/>
          <p:nvPr>
            <p:ph idx="1" type="subTitle"/>
          </p:nvPr>
        </p:nvSpPr>
        <p:spPr>
          <a:xfrm>
            <a:off x="1005150" y="3006175"/>
            <a:ext cx="30750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 name="Google Shape;98;p16"/>
          <p:cNvSpPr/>
          <p:nvPr>
            <p:ph idx="2" type="pic"/>
          </p:nvPr>
        </p:nvSpPr>
        <p:spPr>
          <a:xfrm>
            <a:off x="4353075" y="897225"/>
            <a:ext cx="3577200" cy="3349200"/>
          </a:xfrm>
          <a:prstGeom prst="rect">
            <a:avLst/>
          </a:prstGeom>
          <a:noFill/>
          <a:ln>
            <a:noFill/>
          </a:ln>
          <a:effectLst>
            <a:outerShdw rotWithShape="0" algn="bl" dir="7920000" dist="152400">
              <a:schemeClr val="dk1"/>
            </a:outerShdw>
          </a:effectLst>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bg>
      <p:bgPr>
        <a:blipFill>
          <a:blip r:embed="rId2">
            <a:alphaModFix/>
          </a:blip>
          <a:stretch>
            <a:fillRect/>
          </a:stretch>
        </a:blipFill>
      </p:bgPr>
    </p:bg>
    <p:spTree>
      <p:nvGrpSpPr>
        <p:cNvPr id="99" name="Shape 99"/>
        <p:cNvGrpSpPr/>
        <p:nvPr/>
      </p:nvGrpSpPr>
      <p:grpSpPr>
        <a:xfrm>
          <a:off x="0" y="0"/>
          <a:ext cx="0" cy="0"/>
          <a:chOff x="0" y="0"/>
          <a:chExt cx="0" cy="0"/>
        </a:xfrm>
      </p:grpSpPr>
      <p:sp>
        <p:nvSpPr>
          <p:cNvPr id="100" name="Google Shape;100;p17"/>
          <p:cNvSpPr txBox="1"/>
          <p:nvPr>
            <p:ph type="title"/>
          </p:nvPr>
        </p:nvSpPr>
        <p:spPr>
          <a:xfrm>
            <a:off x="1174875" y="1503150"/>
            <a:ext cx="2573700" cy="1063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1" name="Google Shape;101;p17"/>
          <p:cNvSpPr txBox="1"/>
          <p:nvPr>
            <p:ph idx="1" type="subTitle"/>
          </p:nvPr>
        </p:nvSpPr>
        <p:spPr>
          <a:xfrm>
            <a:off x="1174875" y="2566350"/>
            <a:ext cx="2573700" cy="1074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bg>
      <p:bgPr>
        <a:blipFill>
          <a:blip r:embed="rId2">
            <a:alphaModFix/>
          </a:blip>
          <a:stretch>
            <a:fillRect/>
          </a:stretch>
        </a:blipFill>
      </p:bgPr>
    </p:bg>
    <p:spTree>
      <p:nvGrpSpPr>
        <p:cNvPr id="102" name="Shape 102"/>
        <p:cNvGrpSpPr/>
        <p:nvPr/>
      </p:nvGrpSpPr>
      <p:grpSpPr>
        <a:xfrm>
          <a:off x="0" y="0"/>
          <a:ext cx="0" cy="0"/>
          <a:chOff x="0" y="0"/>
          <a:chExt cx="0" cy="0"/>
        </a:xfrm>
      </p:grpSpPr>
      <p:sp>
        <p:nvSpPr>
          <p:cNvPr id="103" name="Google Shape;103;p18"/>
          <p:cNvSpPr txBox="1"/>
          <p:nvPr>
            <p:ph type="title"/>
          </p:nvPr>
        </p:nvSpPr>
        <p:spPr>
          <a:xfrm>
            <a:off x="5388434" y="1503150"/>
            <a:ext cx="2573700" cy="1063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4" name="Google Shape;104;p18"/>
          <p:cNvSpPr txBox="1"/>
          <p:nvPr>
            <p:ph idx="1" type="subTitle"/>
          </p:nvPr>
        </p:nvSpPr>
        <p:spPr>
          <a:xfrm>
            <a:off x="5388434" y="2566350"/>
            <a:ext cx="2573700" cy="1074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05" name="Shape 105"/>
        <p:cNvGrpSpPr/>
        <p:nvPr/>
      </p:nvGrpSpPr>
      <p:grpSpPr>
        <a:xfrm>
          <a:off x="0" y="0"/>
          <a:ext cx="0" cy="0"/>
          <a:chOff x="0" y="0"/>
          <a:chExt cx="0" cy="0"/>
        </a:xfrm>
      </p:grpSpPr>
      <p:sp>
        <p:nvSpPr>
          <p:cNvPr id="106" name="Google Shape;106;p19"/>
          <p:cNvSpPr txBox="1"/>
          <p:nvPr>
            <p:ph type="title"/>
          </p:nvPr>
        </p:nvSpPr>
        <p:spPr>
          <a:xfrm>
            <a:off x="791700" y="525425"/>
            <a:ext cx="67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7" name="Google Shape;107;p19"/>
          <p:cNvSpPr txBox="1"/>
          <p:nvPr>
            <p:ph idx="1" type="body"/>
          </p:nvPr>
        </p:nvSpPr>
        <p:spPr>
          <a:xfrm>
            <a:off x="791700" y="1201675"/>
            <a:ext cx="6709200" cy="2238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ONLY_2">
    <p:bg>
      <p:bgPr>
        <a:blipFill>
          <a:blip r:embed="rId2">
            <a:alphaModFix/>
          </a:blip>
          <a:stretch>
            <a:fillRect/>
          </a:stretch>
        </a:blip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717588"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0" name="Google Shape;110;p20"/>
          <p:cNvSpPr txBox="1"/>
          <p:nvPr>
            <p:ph idx="1" type="subTitle"/>
          </p:nvPr>
        </p:nvSpPr>
        <p:spPr>
          <a:xfrm>
            <a:off x="962550" y="1324250"/>
            <a:ext cx="5372700" cy="3092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blipFill>
          <a:blip r:embed="rId2">
            <a:alphaModFix/>
          </a:blip>
          <a:stretch>
            <a:fillRect/>
          </a:stretch>
        </a:blipFill>
      </p:bgPr>
    </p:bg>
    <p:spTree>
      <p:nvGrpSpPr>
        <p:cNvPr id="111" name="Shape 111"/>
        <p:cNvGrpSpPr/>
        <p:nvPr/>
      </p:nvGrpSpPr>
      <p:grpSpPr>
        <a:xfrm>
          <a:off x="0" y="0"/>
          <a:ext cx="0" cy="0"/>
          <a:chOff x="0" y="0"/>
          <a:chExt cx="0" cy="0"/>
        </a:xfrm>
      </p:grpSpPr>
      <p:sp>
        <p:nvSpPr>
          <p:cNvPr id="112" name="Google Shape;112;p21"/>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3" name="Google Shape;113;p21"/>
          <p:cNvSpPr txBox="1"/>
          <p:nvPr>
            <p:ph idx="1" type="subTitle"/>
          </p:nvPr>
        </p:nvSpPr>
        <p:spPr>
          <a:xfrm>
            <a:off x="4818095" y="2374645"/>
            <a:ext cx="2795100" cy="107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4" name="Google Shape;114;p21"/>
          <p:cNvSpPr txBox="1"/>
          <p:nvPr>
            <p:ph idx="2" type="subTitle"/>
          </p:nvPr>
        </p:nvSpPr>
        <p:spPr>
          <a:xfrm>
            <a:off x="1530800" y="2374662"/>
            <a:ext cx="2795100" cy="107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 name="Google Shape;115;p21"/>
          <p:cNvSpPr txBox="1"/>
          <p:nvPr>
            <p:ph idx="3" type="subTitle"/>
          </p:nvPr>
        </p:nvSpPr>
        <p:spPr>
          <a:xfrm>
            <a:off x="1530805" y="1961700"/>
            <a:ext cx="27951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 name="Google Shape;116;p21"/>
          <p:cNvSpPr txBox="1"/>
          <p:nvPr>
            <p:ph idx="4" type="subTitle"/>
          </p:nvPr>
        </p:nvSpPr>
        <p:spPr>
          <a:xfrm>
            <a:off x="4818095" y="1961688"/>
            <a:ext cx="27951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bg>
      <p:bgPr>
        <a:blipFill>
          <a:blip r:embed="rId2">
            <a:alphaModFix/>
          </a:blip>
          <a:stretch>
            <a:fillRect/>
          </a:stretch>
        </a:blipFill>
      </p:bgPr>
    </p:bg>
    <p:spTree>
      <p:nvGrpSpPr>
        <p:cNvPr id="117" name="Shape 117"/>
        <p:cNvGrpSpPr/>
        <p:nvPr/>
      </p:nvGrpSpPr>
      <p:grpSpPr>
        <a:xfrm>
          <a:off x="0" y="0"/>
          <a:ext cx="0" cy="0"/>
          <a:chOff x="0" y="0"/>
          <a:chExt cx="0" cy="0"/>
        </a:xfrm>
      </p:grpSpPr>
      <p:sp>
        <p:nvSpPr>
          <p:cNvPr id="118" name="Google Shape;118;p22"/>
          <p:cNvSpPr txBox="1"/>
          <p:nvPr>
            <p:ph type="title"/>
          </p:nvPr>
        </p:nvSpPr>
        <p:spPr>
          <a:xfrm>
            <a:off x="713225"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9" name="Google Shape;119;p22"/>
          <p:cNvSpPr txBox="1"/>
          <p:nvPr>
            <p:ph idx="1" type="subTitle"/>
          </p:nvPr>
        </p:nvSpPr>
        <p:spPr>
          <a:xfrm>
            <a:off x="4832078" y="1896225"/>
            <a:ext cx="3254100" cy="189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0" name="Google Shape;120;p22"/>
          <p:cNvSpPr txBox="1"/>
          <p:nvPr>
            <p:ph idx="2" type="subTitle"/>
          </p:nvPr>
        </p:nvSpPr>
        <p:spPr>
          <a:xfrm>
            <a:off x="1057900" y="1896225"/>
            <a:ext cx="3254100" cy="189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bg>
      <p:bgPr>
        <a:blipFill>
          <a:blip r:embed="rId2">
            <a:alphaModFix/>
          </a:blip>
          <a:stretch>
            <a:fillRect/>
          </a:stretch>
        </a:blipFill>
      </p:bgPr>
    </p:bg>
    <p:spTree>
      <p:nvGrpSpPr>
        <p:cNvPr id="121" name="Shape 121"/>
        <p:cNvGrpSpPr/>
        <p:nvPr/>
      </p:nvGrpSpPr>
      <p:grpSpPr>
        <a:xfrm>
          <a:off x="0" y="0"/>
          <a:ext cx="0" cy="0"/>
          <a:chOff x="0" y="0"/>
          <a:chExt cx="0" cy="0"/>
        </a:xfrm>
      </p:grpSpPr>
      <p:sp>
        <p:nvSpPr>
          <p:cNvPr id="122" name="Google Shape;122;p23"/>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3" name="Google Shape;123;p23"/>
          <p:cNvSpPr txBox="1"/>
          <p:nvPr>
            <p:ph idx="1" type="subTitle"/>
          </p:nvPr>
        </p:nvSpPr>
        <p:spPr>
          <a:xfrm>
            <a:off x="1592624" y="1672417"/>
            <a:ext cx="5958900" cy="660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4" name="Google Shape;124;p23"/>
          <p:cNvSpPr txBox="1"/>
          <p:nvPr>
            <p:ph idx="2" type="subTitle"/>
          </p:nvPr>
        </p:nvSpPr>
        <p:spPr>
          <a:xfrm>
            <a:off x="1592608" y="2842621"/>
            <a:ext cx="5958900" cy="660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5" name="Google Shape;125;p23"/>
          <p:cNvSpPr txBox="1"/>
          <p:nvPr>
            <p:ph idx="3" type="subTitle"/>
          </p:nvPr>
        </p:nvSpPr>
        <p:spPr>
          <a:xfrm>
            <a:off x="1592600" y="3944000"/>
            <a:ext cx="5958900" cy="660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6" name="Google Shape;126;p23"/>
          <p:cNvSpPr txBox="1"/>
          <p:nvPr>
            <p:ph idx="4" type="subTitle"/>
          </p:nvPr>
        </p:nvSpPr>
        <p:spPr>
          <a:xfrm>
            <a:off x="1592607" y="1310825"/>
            <a:ext cx="5958900" cy="531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27" name="Google Shape;127;p23"/>
          <p:cNvSpPr txBox="1"/>
          <p:nvPr>
            <p:ph idx="5" type="subTitle"/>
          </p:nvPr>
        </p:nvSpPr>
        <p:spPr>
          <a:xfrm>
            <a:off x="1592607" y="2481029"/>
            <a:ext cx="5958900" cy="531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28" name="Google Shape;128;p23"/>
          <p:cNvSpPr txBox="1"/>
          <p:nvPr>
            <p:ph idx="6" type="subTitle"/>
          </p:nvPr>
        </p:nvSpPr>
        <p:spPr>
          <a:xfrm>
            <a:off x="1592607" y="3582283"/>
            <a:ext cx="5958900" cy="531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bg>
      <p:bgPr>
        <a:blipFill>
          <a:blip r:embed="rId2">
            <a:alphaModFix/>
          </a:blip>
          <a:stretch>
            <a:fillRect/>
          </a:stretch>
        </a:blipFill>
      </p:bgPr>
    </p:bg>
    <p:spTree>
      <p:nvGrpSpPr>
        <p:cNvPr id="129" name="Shape 129"/>
        <p:cNvGrpSpPr/>
        <p:nvPr/>
      </p:nvGrpSpPr>
      <p:grpSpPr>
        <a:xfrm>
          <a:off x="0" y="0"/>
          <a:ext cx="0" cy="0"/>
          <a:chOff x="0" y="0"/>
          <a:chExt cx="0" cy="0"/>
        </a:xfrm>
      </p:grpSpPr>
      <p:sp>
        <p:nvSpPr>
          <p:cNvPr id="130" name="Google Shape;130;p24"/>
          <p:cNvSpPr txBox="1"/>
          <p:nvPr>
            <p:ph type="title"/>
          </p:nvPr>
        </p:nvSpPr>
        <p:spPr>
          <a:xfrm>
            <a:off x="798406" y="539500"/>
            <a:ext cx="762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1" name="Google Shape;131;p24"/>
          <p:cNvSpPr txBox="1"/>
          <p:nvPr>
            <p:ph idx="1" type="subTitle"/>
          </p:nvPr>
        </p:nvSpPr>
        <p:spPr>
          <a:xfrm>
            <a:off x="1517248" y="1917560"/>
            <a:ext cx="2474100" cy="836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2" name="Google Shape;132;p24"/>
          <p:cNvSpPr txBox="1"/>
          <p:nvPr>
            <p:ph idx="2" type="subTitle"/>
          </p:nvPr>
        </p:nvSpPr>
        <p:spPr>
          <a:xfrm>
            <a:off x="5152652" y="1917561"/>
            <a:ext cx="2474100" cy="836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3" name="Google Shape;133;p24"/>
          <p:cNvSpPr txBox="1"/>
          <p:nvPr>
            <p:ph idx="3" type="subTitle"/>
          </p:nvPr>
        </p:nvSpPr>
        <p:spPr>
          <a:xfrm>
            <a:off x="1517248" y="3560425"/>
            <a:ext cx="2474100" cy="836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4" name="Google Shape;134;p24"/>
          <p:cNvSpPr txBox="1"/>
          <p:nvPr>
            <p:ph idx="4" type="subTitle"/>
          </p:nvPr>
        </p:nvSpPr>
        <p:spPr>
          <a:xfrm>
            <a:off x="5152652" y="3560425"/>
            <a:ext cx="2474100" cy="836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5" name="Google Shape;135;p24"/>
          <p:cNvSpPr txBox="1"/>
          <p:nvPr>
            <p:ph idx="5" type="subTitle"/>
          </p:nvPr>
        </p:nvSpPr>
        <p:spPr>
          <a:xfrm>
            <a:off x="1517251" y="1574050"/>
            <a:ext cx="2474100" cy="505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36" name="Google Shape;136;p24"/>
          <p:cNvSpPr txBox="1"/>
          <p:nvPr>
            <p:ph idx="6" type="subTitle"/>
          </p:nvPr>
        </p:nvSpPr>
        <p:spPr>
          <a:xfrm>
            <a:off x="1517251" y="3217014"/>
            <a:ext cx="2474100" cy="505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37" name="Google Shape;137;p24"/>
          <p:cNvSpPr txBox="1"/>
          <p:nvPr>
            <p:ph idx="7" type="subTitle"/>
          </p:nvPr>
        </p:nvSpPr>
        <p:spPr>
          <a:xfrm>
            <a:off x="5152650" y="1574050"/>
            <a:ext cx="2474100" cy="505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38" name="Google Shape;138;p24"/>
          <p:cNvSpPr txBox="1"/>
          <p:nvPr>
            <p:ph idx="8" type="subTitle"/>
          </p:nvPr>
        </p:nvSpPr>
        <p:spPr>
          <a:xfrm>
            <a:off x="5152650" y="3217014"/>
            <a:ext cx="2474100" cy="505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bg>
      <p:bgPr>
        <a:blipFill>
          <a:blip r:embed="rId2">
            <a:alphaModFix/>
          </a:blip>
          <a:stretch>
            <a:fillRect/>
          </a:stretch>
        </a:blipFill>
      </p:bgPr>
    </p:bg>
    <p:spTree>
      <p:nvGrpSpPr>
        <p:cNvPr id="139" name="Shape 139"/>
        <p:cNvGrpSpPr/>
        <p:nvPr/>
      </p:nvGrpSpPr>
      <p:grpSpPr>
        <a:xfrm>
          <a:off x="0" y="0"/>
          <a:ext cx="0" cy="0"/>
          <a:chOff x="0" y="0"/>
          <a:chExt cx="0" cy="0"/>
        </a:xfrm>
      </p:grpSpPr>
      <p:sp>
        <p:nvSpPr>
          <p:cNvPr id="140" name="Google Shape;140;p25"/>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1" name="Google Shape;141;p25"/>
          <p:cNvSpPr txBox="1"/>
          <p:nvPr>
            <p:ph idx="1" type="subTitle"/>
          </p:nvPr>
        </p:nvSpPr>
        <p:spPr>
          <a:xfrm>
            <a:off x="965245" y="2004954"/>
            <a:ext cx="2179200" cy="83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2" name="Google Shape;142;p25"/>
          <p:cNvSpPr txBox="1"/>
          <p:nvPr>
            <p:ph idx="2" type="subTitle"/>
          </p:nvPr>
        </p:nvSpPr>
        <p:spPr>
          <a:xfrm>
            <a:off x="3483434" y="2004955"/>
            <a:ext cx="2175000" cy="83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3" name="Google Shape;143;p25"/>
          <p:cNvSpPr txBox="1"/>
          <p:nvPr>
            <p:ph idx="3" type="subTitle"/>
          </p:nvPr>
        </p:nvSpPr>
        <p:spPr>
          <a:xfrm>
            <a:off x="965245" y="3655625"/>
            <a:ext cx="2179200" cy="83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4" name="Google Shape;144;p25"/>
          <p:cNvSpPr txBox="1"/>
          <p:nvPr>
            <p:ph idx="4" type="subTitle"/>
          </p:nvPr>
        </p:nvSpPr>
        <p:spPr>
          <a:xfrm>
            <a:off x="3483434" y="3655626"/>
            <a:ext cx="2175000" cy="83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5" name="Google Shape;145;p25"/>
          <p:cNvSpPr txBox="1"/>
          <p:nvPr>
            <p:ph idx="5" type="subTitle"/>
          </p:nvPr>
        </p:nvSpPr>
        <p:spPr>
          <a:xfrm>
            <a:off x="6003695" y="2004955"/>
            <a:ext cx="2170800" cy="83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6" name="Google Shape;146;p25"/>
          <p:cNvSpPr txBox="1"/>
          <p:nvPr>
            <p:ph idx="6" type="subTitle"/>
          </p:nvPr>
        </p:nvSpPr>
        <p:spPr>
          <a:xfrm>
            <a:off x="6003695" y="3655626"/>
            <a:ext cx="2170800" cy="83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7" name="Google Shape;147;p25"/>
          <p:cNvSpPr txBox="1"/>
          <p:nvPr>
            <p:ph idx="7" type="subTitle"/>
          </p:nvPr>
        </p:nvSpPr>
        <p:spPr>
          <a:xfrm>
            <a:off x="965251" y="1414625"/>
            <a:ext cx="2179200" cy="744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48" name="Google Shape;148;p25"/>
          <p:cNvSpPr txBox="1"/>
          <p:nvPr>
            <p:ph idx="8" type="subTitle"/>
          </p:nvPr>
        </p:nvSpPr>
        <p:spPr>
          <a:xfrm>
            <a:off x="3485566" y="1414628"/>
            <a:ext cx="2175000" cy="744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49" name="Google Shape;149;p25"/>
          <p:cNvSpPr txBox="1"/>
          <p:nvPr>
            <p:ph idx="9" type="subTitle"/>
          </p:nvPr>
        </p:nvSpPr>
        <p:spPr>
          <a:xfrm>
            <a:off x="6007955" y="1414628"/>
            <a:ext cx="2170800" cy="744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0" name="Google Shape;150;p25"/>
          <p:cNvSpPr txBox="1"/>
          <p:nvPr>
            <p:ph idx="13" type="subTitle"/>
          </p:nvPr>
        </p:nvSpPr>
        <p:spPr>
          <a:xfrm>
            <a:off x="965251" y="3055576"/>
            <a:ext cx="2179200" cy="744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1" name="Google Shape;151;p25"/>
          <p:cNvSpPr txBox="1"/>
          <p:nvPr>
            <p:ph idx="14" type="subTitle"/>
          </p:nvPr>
        </p:nvSpPr>
        <p:spPr>
          <a:xfrm>
            <a:off x="3485565" y="3055577"/>
            <a:ext cx="2175000" cy="744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2" name="Google Shape;152;p25"/>
          <p:cNvSpPr txBox="1"/>
          <p:nvPr>
            <p:ph idx="15" type="subTitle"/>
          </p:nvPr>
        </p:nvSpPr>
        <p:spPr>
          <a:xfrm>
            <a:off x="6007952" y="3055577"/>
            <a:ext cx="2170800" cy="744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bg>
      <p:bgPr>
        <a:blipFill>
          <a:blip r:embed="rId2">
            <a:alphaModFix/>
          </a:blip>
          <a:stretch>
            <a:fillRect/>
          </a:stretch>
        </a:blipFill>
      </p:bgPr>
    </p:bg>
    <p:spTree>
      <p:nvGrpSpPr>
        <p:cNvPr id="153" name="Shape 153"/>
        <p:cNvGrpSpPr/>
        <p:nvPr/>
      </p:nvGrpSpPr>
      <p:grpSpPr>
        <a:xfrm>
          <a:off x="0" y="0"/>
          <a:ext cx="0" cy="0"/>
          <a:chOff x="0" y="0"/>
          <a:chExt cx="0" cy="0"/>
        </a:xfrm>
      </p:grpSpPr>
      <p:sp>
        <p:nvSpPr>
          <p:cNvPr id="154" name="Google Shape;154;p26"/>
          <p:cNvSpPr txBox="1"/>
          <p:nvPr>
            <p:ph hasCustomPrompt="1" type="title"/>
          </p:nvPr>
        </p:nvSpPr>
        <p:spPr>
          <a:xfrm>
            <a:off x="2310400" y="611625"/>
            <a:ext cx="4523100" cy="768900"/>
          </a:xfrm>
          <a:prstGeom prst="rect">
            <a:avLst/>
          </a:prstGeom>
          <a:solidFill>
            <a:schemeClr val="dk2"/>
          </a:solidFill>
          <a:effectLst>
            <a:outerShdw rotWithShape="0" algn="bl" dir="7380000" dist="152400">
              <a:schemeClr val="dk1"/>
            </a:outerShdw>
          </a:effectLst>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5" name="Google Shape;155;p26"/>
          <p:cNvSpPr txBox="1"/>
          <p:nvPr>
            <p:ph idx="1" type="subTitle"/>
          </p:nvPr>
        </p:nvSpPr>
        <p:spPr>
          <a:xfrm>
            <a:off x="2310400" y="1452946"/>
            <a:ext cx="4523100" cy="37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156" name="Google Shape;156;p26"/>
          <p:cNvSpPr txBox="1"/>
          <p:nvPr>
            <p:ph hasCustomPrompt="1" idx="2" type="title"/>
          </p:nvPr>
        </p:nvSpPr>
        <p:spPr>
          <a:xfrm>
            <a:off x="2310400" y="1963885"/>
            <a:ext cx="4523100" cy="768900"/>
          </a:xfrm>
          <a:prstGeom prst="rect">
            <a:avLst/>
          </a:prstGeom>
          <a:solidFill>
            <a:schemeClr val="dk2"/>
          </a:solidFill>
          <a:effectLst>
            <a:outerShdw rotWithShape="0" algn="bl" dir="7380000" dist="152400">
              <a:schemeClr val="dk1"/>
            </a:outerShdw>
          </a:effectLst>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7" name="Google Shape;157;p26"/>
          <p:cNvSpPr txBox="1"/>
          <p:nvPr>
            <p:ph idx="3" type="subTitle"/>
          </p:nvPr>
        </p:nvSpPr>
        <p:spPr>
          <a:xfrm>
            <a:off x="2310400" y="2805211"/>
            <a:ext cx="4523100" cy="37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158" name="Google Shape;158;p26"/>
          <p:cNvSpPr txBox="1"/>
          <p:nvPr>
            <p:ph hasCustomPrompt="1" idx="4" type="title"/>
          </p:nvPr>
        </p:nvSpPr>
        <p:spPr>
          <a:xfrm>
            <a:off x="2310400" y="3316145"/>
            <a:ext cx="4523100" cy="768900"/>
          </a:xfrm>
          <a:prstGeom prst="rect">
            <a:avLst/>
          </a:prstGeom>
          <a:solidFill>
            <a:schemeClr val="dk2"/>
          </a:solidFill>
          <a:effectLst>
            <a:outerShdw rotWithShape="0" algn="bl" dir="7380000" dist="152400">
              <a:schemeClr val="dk1"/>
            </a:outerShdw>
          </a:effectLst>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9" name="Google Shape;159;p26"/>
          <p:cNvSpPr txBox="1"/>
          <p:nvPr>
            <p:ph idx="5" type="subTitle"/>
          </p:nvPr>
        </p:nvSpPr>
        <p:spPr>
          <a:xfrm>
            <a:off x="2310400" y="4157475"/>
            <a:ext cx="4523100" cy="37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bg>
      <p:bgPr>
        <a:blipFill>
          <a:blip r:embed="rId2">
            <a:alphaModFix/>
          </a:blip>
          <a:stretch>
            <a:fillRect/>
          </a:stretch>
        </a:blipFill>
      </p:bgPr>
    </p:bg>
    <p:spTree>
      <p:nvGrpSpPr>
        <p:cNvPr id="160" name="Shape 160"/>
        <p:cNvGrpSpPr/>
        <p:nvPr/>
      </p:nvGrpSpPr>
      <p:grpSpPr>
        <a:xfrm>
          <a:off x="0" y="0"/>
          <a:ext cx="0" cy="0"/>
          <a:chOff x="0" y="0"/>
          <a:chExt cx="0" cy="0"/>
        </a:xfrm>
      </p:grpSpPr>
      <p:sp>
        <p:nvSpPr>
          <p:cNvPr id="161" name="Google Shape;161;p27"/>
          <p:cNvSpPr txBox="1"/>
          <p:nvPr>
            <p:ph hasCustomPrompt="1" type="title"/>
          </p:nvPr>
        </p:nvSpPr>
        <p:spPr>
          <a:xfrm>
            <a:off x="1088175" y="2365425"/>
            <a:ext cx="1567800" cy="657600"/>
          </a:xfrm>
          <a:prstGeom prst="rect">
            <a:avLst/>
          </a:prstGeom>
          <a:solidFill>
            <a:schemeClr val="dk2"/>
          </a:solidFill>
          <a:effectLst>
            <a:outerShdw rotWithShape="0" algn="bl" dir="7380000" dist="152400">
              <a:schemeClr val="dk1"/>
            </a:outerShdw>
          </a:effectLst>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3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62" name="Google Shape;162;p27"/>
          <p:cNvSpPr txBox="1"/>
          <p:nvPr>
            <p:ph idx="1" type="subTitle"/>
          </p:nvPr>
        </p:nvSpPr>
        <p:spPr>
          <a:xfrm>
            <a:off x="720000" y="3646197"/>
            <a:ext cx="2304000" cy="88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63" name="Google Shape;163;p27"/>
          <p:cNvSpPr txBox="1"/>
          <p:nvPr>
            <p:ph idx="2" type="subTitle"/>
          </p:nvPr>
        </p:nvSpPr>
        <p:spPr>
          <a:xfrm>
            <a:off x="720000" y="3315632"/>
            <a:ext cx="2304000" cy="505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164" name="Google Shape;164;p27"/>
          <p:cNvSpPr txBox="1"/>
          <p:nvPr>
            <p:ph hasCustomPrompt="1" idx="3" type="title"/>
          </p:nvPr>
        </p:nvSpPr>
        <p:spPr>
          <a:xfrm>
            <a:off x="3788157" y="2365425"/>
            <a:ext cx="1567800" cy="657600"/>
          </a:xfrm>
          <a:prstGeom prst="rect">
            <a:avLst/>
          </a:prstGeom>
          <a:solidFill>
            <a:schemeClr val="dk2"/>
          </a:solidFill>
          <a:effectLst>
            <a:outerShdw rotWithShape="0" algn="bl" dir="7380000" dist="152400">
              <a:schemeClr val="dk1"/>
            </a:outerShdw>
          </a:effectLst>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3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65" name="Google Shape;165;p27"/>
          <p:cNvSpPr txBox="1"/>
          <p:nvPr>
            <p:ph idx="4" type="subTitle"/>
          </p:nvPr>
        </p:nvSpPr>
        <p:spPr>
          <a:xfrm>
            <a:off x="3420057" y="3646197"/>
            <a:ext cx="2304000" cy="88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66" name="Google Shape;166;p27"/>
          <p:cNvSpPr txBox="1"/>
          <p:nvPr>
            <p:ph idx="5" type="subTitle"/>
          </p:nvPr>
        </p:nvSpPr>
        <p:spPr>
          <a:xfrm>
            <a:off x="3420057" y="3315632"/>
            <a:ext cx="2304000" cy="505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167" name="Google Shape;167;p27"/>
          <p:cNvSpPr txBox="1"/>
          <p:nvPr>
            <p:ph hasCustomPrompt="1" idx="6" type="title"/>
          </p:nvPr>
        </p:nvSpPr>
        <p:spPr>
          <a:xfrm>
            <a:off x="6488215" y="2365425"/>
            <a:ext cx="1567800" cy="657600"/>
          </a:xfrm>
          <a:prstGeom prst="rect">
            <a:avLst/>
          </a:prstGeom>
          <a:solidFill>
            <a:schemeClr val="dk2"/>
          </a:solidFill>
          <a:effectLst>
            <a:outerShdw rotWithShape="0" algn="bl" dir="7380000" dist="152400">
              <a:schemeClr val="dk1"/>
            </a:outerShdw>
          </a:effectLst>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3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68" name="Google Shape;168;p27"/>
          <p:cNvSpPr txBox="1"/>
          <p:nvPr>
            <p:ph idx="7" type="subTitle"/>
          </p:nvPr>
        </p:nvSpPr>
        <p:spPr>
          <a:xfrm>
            <a:off x="6120115" y="3646197"/>
            <a:ext cx="2304000" cy="88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69" name="Google Shape;169;p27"/>
          <p:cNvSpPr txBox="1"/>
          <p:nvPr>
            <p:ph idx="8" type="subTitle"/>
          </p:nvPr>
        </p:nvSpPr>
        <p:spPr>
          <a:xfrm>
            <a:off x="6120115" y="3315632"/>
            <a:ext cx="2304000" cy="505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DM Sans"/>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170" name="Google Shape;170;p27"/>
          <p:cNvSpPr txBox="1"/>
          <p:nvPr>
            <p:ph idx="9"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bg>
      <p:bgPr>
        <a:blipFill>
          <a:blip r:embed="rId2">
            <a:alphaModFix/>
          </a:blip>
          <a:stretch>
            <a:fillRect/>
          </a:stretch>
        </a:blipFill>
      </p:bgPr>
    </p:bg>
    <p:spTree>
      <p:nvGrpSpPr>
        <p:cNvPr id="171" name="Shape 171"/>
        <p:cNvGrpSpPr/>
        <p:nvPr/>
      </p:nvGrpSpPr>
      <p:grpSpPr>
        <a:xfrm>
          <a:off x="0" y="0"/>
          <a:ext cx="0" cy="0"/>
          <a:chOff x="0" y="0"/>
          <a:chExt cx="0" cy="0"/>
        </a:xfrm>
      </p:grpSpPr>
      <p:sp>
        <p:nvSpPr>
          <p:cNvPr id="172" name="Google Shape;172;p28"/>
          <p:cNvSpPr txBox="1"/>
          <p:nvPr>
            <p:ph type="title"/>
          </p:nvPr>
        </p:nvSpPr>
        <p:spPr>
          <a:xfrm>
            <a:off x="2105667" y="691900"/>
            <a:ext cx="4932900" cy="1058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3" name="Google Shape;173;p28"/>
          <p:cNvSpPr txBox="1"/>
          <p:nvPr>
            <p:ph idx="1" type="subTitle"/>
          </p:nvPr>
        </p:nvSpPr>
        <p:spPr>
          <a:xfrm>
            <a:off x="2105675" y="1598200"/>
            <a:ext cx="4932900" cy="1134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74" name="Google Shape;174;p28"/>
          <p:cNvGrpSpPr/>
          <p:nvPr/>
        </p:nvGrpSpPr>
        <p:grpSpPr>
          <a:xfrm>
            <a:off x="18907" y="348447"/>
            <a:ext cx="9102423" cy="4768600"/>
            <a:chOff x="18907" y="348447"/>
            <a:chExt cx="9102423" cy="4768600"/>
          </a:xfrm>
        </p:grpSpPr>
        <p:sp>
          <p:nvSpPr>
            <p:cNvPr id="175" name="Google Shape;175;p28"/>
            <p:cNvSpPr/>
            <p:nvPr/>
          </p:nvSpPr>
          <p:spPr>
            <a:xfrm>
              <a:off x="18907" y="4806247"/>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8"/>
            <p:cNvSpPr/>
            <p:nvPr/>
          </p:nvSpPr>
          <p:spPr>
            <a:xfrm>
              <a:off x="8810530" y="344906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8"/>
            <p:cNvSpPr/>
            <p:nvPr/>
          </p:nvSpPr>
          <p:spPr>
            <a:xfrm>
              <a:off x="8430782" y="348447"/>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8"/>
            <p:cNvSpPr/>
            <p:nvPr/>
          </p:nvSpPr>
          <p:spPr>
            <a:xfrm>
              <a:off x="398650" y="136758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 name="Google Shape;179;p28"/>
          <p:cNvSpPr txBox="1"/>
          <p:nvPr/>
        </p:nvSpPr>
        <p:spPr>
          <a:xfrm>
            <a:off x="2105650" y="3543350"/>
            <a:ext cx="4932900" cy="5751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Albert Sans"/>
                <a:ea typeface="Albert Sans"/>
                <a:cs typeface="Albert Sans"/>
                <a:sym typeface="Albert Sans"/>
              </a:rPr>
              <a:t>CREDITS:</a:t>
            </a:r>
            <a:r>
              <a:rPr lang="en" sz="1200">
                <a:solidFill>
                  <a:schemeClr val="dk1"/>
                </a:solidFill>
                <a:latin typeface="Albert Sans"/>
                <a:ea typeface="Albert Sans"/>
                <a:cs typeface="Albert Sans"/>
                <a:sym typeface="Albert Sans"/>
              </a:rPr>
              <a:t> This presentation template was created by </a:t>
            </a:r>
            <a:r>
              <a:rPr b="1" lang="en" sz="1200" u="sng">
                <a:solidFill>
                  <a:schemeClr val="hlink"/>
                </a:solidFill>
                <a:latin typeface="Albert Sans"/>
                <a:ea typeface="Albert Sans"/>
                <a:cs typeface="Albert Sans"/>
                <a:sym typeface="Albert Sans"/>
                <a:hlinkClick r:id="rId3"/>
              </a:rPr>
              <a:t>Slidesgo</a:t>
            </a:r>
            <a:r>
              <a:rPr lang="en" sz="1200">
                <a:solidFill>
                  <a:schemeClr val="dk1"/>
                </a:solidFill>
                <a:latin typeface="Albert Sans"/>
                <a:ea typeface="Albert Sans"/>
                <a:cs typeface="Albert Sans"/>
                <a:sym typeface="Albert Sans"/>
              </a:rPr>
              <a:t>, and includes icons by </a:t>
            </a:r>
            <a:r>
              <a:rPr b="1" lang="en" sz="1200" u="sng">
                <a:solidFill>
                  <a:schemeClr val="dk1"/>
                </a:solidFill>
                <a:latin typeface="Albert Sans"/>
                <a:ea typeface="Albert Sans"/>
                <a:cs typeface="Albert Sans"/>
                <a:sym typeface="Albert Sans"/>
                <a:hlinkClick r:id="rId4">
                  <a:extLst>
                    <a:ext uri="{A12FA001-AC4F-418D-AE19-62706E023703}">
                      <ahyp:hlinkClr val="tx"/>
                    </a:ext>
                  </a:extLst>
                </a:hlinkClick>
              </a:rPr>
              <a:t>Flaticon</a:t>
            </a:r>
            <a:r>
              <a:rPr lang="en" sz="1200">
                <a:solidFill>
                  <a:schemeClr val="dk1"/>
                </a:solidFill>
                <a:latin typeface="Albert Sans"/>
                <a:ea typeface="Albert Sans"/>
                <a:cs typeface="Albert Sans"/>
                <a:sym typeface="Albert Sans"/>
              </a:rPr>
              <a:t>, and infographics &amp; images by </a:t>
            </a:r>
            <a:r>
              <a:rPr b="1" lang="en" sz="1200" u="sng">
                <a:solidFill>
                  <a:schemeClr val="dk1"/>
                </a:solidFill>
                <a:latin typeface="Albert Sans"/>
                <a:ea typeface="Albert Sans"/>
                <a:cs typeface="Albert Sans"/>
                <a:sym typeface="Albert Sans"/>
                <a:hlinkClick r:id="rId5">
                  <a:extLst>
                    <a:ext uri="{A12FA001-AC4F-418D-AE19-62706E023703}">
                      <ahyp:hlinkClr val="tx"/>
                    </a:ext>
                  </a:extLst>
                </a:hlinkClick>
              </a:rPr>
              <a:t>Freepik</a:t>
            </a:r>
            <a:r>
              <a:rPr lang="en" sz="1200" u="sng">
                <a:solidFill>
                  <a:schemeClr val="dk1"/>
                </a:solidFill>
                <a:latin typeface="Albert Sans"/>
                <a:ea typeface="Albert Sans"/>
                <a:cs typeface="Albert Sans"/>
                <a:sym typeface="Albert Sans"/>
              </a:rPr>
              <a:t> </a:t>
            </a:r>
            <a:endParaRPr b="1" sz="1200" u="sng">
              <a:solidFill>
                <a:schemeClr val="dk1"/>
              </a:solidFill>
              <a:latin typeface="Albert Sans"/>
              <a:ea typeface="Albert Sans"/>
              <a:cs typeface="Albert Sans"/>
              <a:sym typeface="Albert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bg>
      <p:bgPr>
        <a:blipFill>
          <a:blip r:embed="rId2">
            <a:alphaModFix/>
          </a:blip>
          <a:stretch>
            <a:fillRect/>
          </a:stretch>
        </a:blipFill>
      </p:bgPr>
    </p:bg>
    <p:spTree>
      <p:nvGrpSpPr>
        <p:cNvPr id="180" name="Shape 180"/>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blipFill>
          <a:blip r:embed="rId2">
            <a:alphaModFix/>
          </a:blip>
          <a:stretch>
            <a:fillRect/>
          </a:stretch>
        </a:blipFill>
      </p:bgPr>
    </p:bg>
    <p:spTree>
      <p:nvGrpSpPr>
        <p:cNvPr id="181" name="Shape 18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Epilogue"/>
              <a:buNone/>
              <a:defRPr b="1" sz="3000">
                <a:solidFill>
                  <a:schemeClr val="dk1"/>
                </a:solidFill>
                <a:latin typeface="Epilogue"/>
                <a:ea typeface="Epilogue"/>
                <a:cs typeface="Epilogue"/>
                <a:sym typeface="Epilogue"/>
              </a:defRPr>
            </a:lvl1pPr>
            <a:lvl2pPr lvl="1"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2pPr>
            <a:lvl3pPr lvl="2"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3pPr>
            <a:lvl4pPr lvl="3"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4pPr>
            <a:lvl5pPr lvl="4"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5pPr>
            <a:lvl6pPr lvl="5"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6pPr>
            <a:lvl7pPr lvl="6"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7pPr>
            <a:lvl8pPr lvl="7"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8pPr>
            <a:lvl9pPr lvl="8"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comments" Target="../comments/comment1.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comments" Target="../comments/comment2.xml"/><Relationship Id="rId4" Type="http://schemas.openxmlformats.org/officeDocument/2006/relationships/image" Target="../media/image39.png"/><Relationship Id="rId5" Type="http://schemas.openxmlformats.org/officeDocument/2006/relationships/image" Target="../media/image32.png"/><Relationship Id="rId6" Type="http://schemas.openxmlformats.org/officeDocument/2006/relationships/image" Target="../media/image5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 Id="rId3" Type="http://schemas.openxmlformats.org/officeDocument/2006/relationships/image" Target="../media/image41.png"/><Relationship Id="rId4" Type="http://schemas.openxmlformats.org/officeDocument/2006/relationships/image" Target="../media/image27.png"/><Relationship Id="rId5"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0.xml"/><Relationship Id="rId3" Type="http://schemas.openxmlformats.org/officeDocument/2006/relationships/image" Target="../media/image5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0.png"/><Relationship Id="rId4" Type="http://schemas.openxmlformats.org/officeDocument/2006/relationships/image" Target="../media/image51.png"/><Relationship Id="rId5"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 Id="rId3" Type="http://schemas.openxmlformats.org/officeDocument/2006/relationships/image" Target="../media/image54.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55.png"/><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 Id="rId3" Type="http://schemas.openxmlformats.org/officeDocument/2006/relationships/image" Target="../media/image58.png"/><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5.png"/><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ctrTitle"/>
          </p:nvPr>
        </p:nvSpPr>
        <p:spPr>
          <a:xfrm>
            <a:off x="1395675" y="961375"/>
            <a:ext cx="6260400" cy="270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BUCK-PASSING GAME</a:t>
            </a:r>
            <a:endParaRPr/>
          </a:p>
          <a:p>
            <a:pPr indent="0" lvl="0" marL="0" rtl="0" algn="ctr">
              <a:spcBef>
                <a:spcPts val="0"/>
              </a:spcBef>
              <a:spcAft>
                <a:spcPts val="0"/>
              </a:spcAft>
              <a:buNone/>
            </a:pPr>
            <a:r>
              <a:rPr lang="en" sz="2700">
                <a:solidFill>
                  <a:schemeClr val="dk2"/>
                </a:solidFill>
              </a:rPr>
              <a:t>ROBERTO COMINETTI, MATTEO QUATTROPANI, MARCO SCARSINI</a:t>
            </a:r>
            <a:endParaRPr sz="2700">
              <a:solidFill>
                <a:schemeClr val="dk2"/>
              </a:solidFill>
            </a:endParaRPr>
          </a:p>
        </p:txBody>
      </p:sp>
      <p:sp>
        <p:nvSpPr>
          <p:cNvPr id="187" name="Google Shape;187;p31"/>
          <p:cNvSpPr/>
          <p:nvPr/>
        </p:nvSpPr>
        <p:spPr>
          <a:xfrm>
            <a:off x="1084884" y="34845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1"/>
          <p:cNvSpPr/>
          <p:nvPr/>
        </p:nvSpPr>
        <p:spPr>
          <a:xfrm>
            <a:off x="8119982" y="4453872"/>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1"/>
          <p:cNvSpPr/>
          <p:nvPr/>
        </p:nvSpPr>
        <p:spPr>
          <a:xfrm>
            <a:off x="6359455" y="445386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1"/>
          <p:cNvSpPr txBox="1"/>
          <p:nvPr>
            <p:ph idx="1" type="subTitle"/>
          </p:nvPr>
        </p:nvSpPr>
        <p:spPr>
          <a:xfrm>
            <a:off x="1901926" y="3770538"/>
            <a:ext cx="5339700" cy="41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Mathieu Chedozeau</a:t>
            </a:r>
            <a:r>
              <a:rPr lang="en"/>
              <a:t> </a:t>
            </a:r>
            <a:r>
              <a:rPr lang="en"/>
              <a:t>| Safia Tehami</a:t>
            </a:r>
            <a:r>
              <a:rPr lang="en"/>
              <a:t> | Yanis Arris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des matières</a:t>
            </a:r>
            <a:endParaRPr/>
          </a:p>
        </p:txBody>
      </p:sp>
      <p:sp>
        <p:nvSpPr>
          <p:cNvPr id="196" name="Google Shape;196;p32"/>
          <p:cNvSpPr txBox="1"/>
          <p:nvPr>
            <p:ph idx="1" type="subTitle"/>
          </p:nvPr>
        </p:nvSpPr>
        <p:spPr>
          <a:xfrm>
            <a:off x="796200" y="2209183"/>
            <a:ext cx="2247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 problème</a:t>
            </a:r>
            <a:endParaRPr/>
          </a:p>
          <a:p>
            <a:pPr indent="0" lvl="0" marL="0" rtl="0" algn="ctr">
              <a:spcBef>
                <a:spcPts val="0"/>
              </a:spcBef>
              <a:spcAft>
                <a:spcPts val="0"/>
              </a:spcAft>
              <a:buNone/>
            </a:pPr>
            <a:r>
              <a:t/>
            </a:r>
            <a:endParaRPr/>
          </a:p>
        </p:txBody>
      </p:sp>
      <p:sp>
        <p:nvSpPr>
          <p:cNvPr id="197" name="Google Shape;197;p32"/>
          <p:cNvSpPr txBox="1"/>
          <p:nvPr>
            <p:ph idx="7" type="title"/>
          </p:nvPr>
        </p:nvSpPr>
        <p:spPr>
          <a:xfrm>
            <a:off x="1552650" y="1245325"/>
            <a:ext cx="734700" cy="61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98" name="Google Shape;198;p32"/>
          <p:cNvSpPr txBox="1"/>
          <p:nvPr>
            <p:ph idx="8" type="title"/>
          </p:nvPr>
        </p:nvSpPr>
        <p:spPr>
          <a:xfrm>
            <a:off x="1552650" y="3080950"/>
            <a:ext cx="734700" cy="61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99" name="Google Shape;199;p32"/>
          <p:cNvSpPr txBox="1"/>
          <p:nvPr>
            <p:ph idx="9" type="title"/>
          </p:nvPr>
        </p:nvSpPr>
        <p:spPr>
          <a:xfrm>
            <a:off x="4175725" y="1245325"/>
            <a:ext cx="734700" cy="61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00" name="Google Shape;200;p32"/>
          <p:cNvSpPr txBox="1"/>
          <p:nvPr>
            <p:ph idx="13" type="title"/>
          </p:nvPr>
        </p:nvSpPr>
        <p:spPr>
          <a:xfrm>
            <a:off x="4175725" y="3080950"/>
            <a:ext cx="734700" cy="61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201" name="Google Shape;201;p32"/>
          <p:cNvSpPr txBox="1"/>
          <p:nvPr>
            <p:ph idx="14" type="title"/>
          </p:nvPr>
        </p:nvSpPr>
        <p:spPr>
          <a:xfrm>
            <a:off x="6798800" y="1245325"/>
            <a:ext cx="734700" cy="61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02" name="Google Shape;202;p32"/>
          <p:cNvSpPr txBox="1"/>
          <p:nvPr>
            <p:ph idx="15" type="title"/>
          </p:nvPr>
        </p:nvSpPr>
        <p:spPr>
          <a:xfrm>
            <a:off x="6798800" y="3080950"/>
            <a:ext cx="734700" cy="61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203" name="Google Shape;203;p32"/>
          <p:cNvSpPr txBox="1"/>
          <p:nvPr>
            <p:ph idx="16" type="subTitle"/>
          </p:nvPr>
        </p:nvSpPr>
        <p:spPr>
          <a:xfrm>
            <a:off x="796200" y="1877300"/>
            <a:ext cx="22476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204" name="Google Shape;204;p32"/>
          <p:cNvSpPr txBox="1"/>
          <p:nvPr>
            <p:ph idx="18" type="subTitle"/>
          </p:nvPr>
        </p:nvSpPr>
        <p:spPr>
          <a:xfrm>
            <a:off x="771814" y="3929589"/>
            <a:ext cx="25401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900"/>
              <a:t>Buck passing game stochastique</a:t>
            </a:r>
            <a:endParaRPr/>
          </a:p>
        </p:txBody>
      </p:sp>
      <p:sp>
        <p:nvSpPr>
          <p:cNvPr id="205" name="Google Shape;205;p32"/>
          <p:cNvSpPr txBox="1"/>
          <p:nvPr>
            <p:ph idx="20" type="subTitle"/>
          </p:nvPr>
        </p:nvSpPr>
        <p:spPr>
          <a:xfrm>
            <a:off x="3465738" y="3985570"/>
            <a:ext cx="24228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Equilibre du jeu stochastique</a:t>
            </a:r>
            <a:endParaRPr/>
          </a:p>
        </p:txBody>
      </p:sp>
      <p:sp>
        <p:nvSpPr>
          <p:cNvPr id="206" name="Google Shape;206;p32"/>
          <p:cNvSpPr txBox="1"/>
          <p:nvPr>
            <p:ph idx="21" type="subTitle"/>
          </p:nvPr>
        </p:nvSpPr>
        <p:spPr>
          <a:xfrm>
            <a:off x="6042350" y="3713121"/>
            <a:ext cx="22476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Conclusion</a:t>
            </a:r>
            <a:endParaRPr/>
          </a:p>
        </p:txBody>
      </p:sp>
      <p:pic>
        <p:nvPicPr>
          <p:cNvPr id="207" name="Google Shape;207;p32"/>
          <p:cNvPicPr preferRelativeResize="0"/>
          <p:nvPr/>
        </p:nvPicPr>
        <p:blipFill rotWithShape="1">
          <a:blip r:embed="rId3">
            <a:alphaModFix/>
          </a:blip>
          <a:srcRect b="16825" l="13625" r="22284" t="16222"/>
          <a:stretch/>
        </p:blipFill>
        <p:spPr>
          <a:xfrm>
            <a:off x="8078796" y="1368749"/>
            <a:ext cx="357774" cy="351346"/>
          </a:xfrm>
          <a:prstGeom prst="rect">
            <a:avLst/>
          </a:prstGeom>
          <a:noFill/>
          <a:ln>
            <a:noFill/>
          </a:ln>
        </p:spPr>
      </p:pic>
      <p:pic>
        <p:nvPicPr>
          <p:cNvPr id="208" name="Google Shape;208;p32"/>
          <p:cNvPicPr preferRelativeResize="0"/>
          <p:nvPr/>
        </p:nvPicPr>
        <p:blipFill rotWithShape="1">
          <a:blip r:embed="rId3">
            <a:alphaModFix/>
          </a:blip>
          <a:srcRect b="16825" l="13625" r="22284" t="16222"/>
          <a:stretch/>
        </p:blipFill>
        <p:spPr>
          <a:xfrm>
            <a:off x="8078796" y="3071837"/>
            <a:ext cx="357774" cy="351346"/>
          </a:xfrm>
          <a:prstGeom prst="rect">
            <a:avLst/>
          </a:prstGeom>
          <a:noFill/>
          <a:ln>
            <a:noFill/>
          </a:ln>
        </p:spPr>
      </p:pic>
      <p:pic>
        <p:nvPicPr>
          <p:cNvPr id="209" name="Google Shape;209;p32"/>
          <p:cNvPicPr preferRelativeResize="0"/>
          <p:nvPr/>
        </p:nvPicPr>
        <p:blipFill rotWithShape="1">
          <a:blip r:embed="rId3">
            <a:alphaModFix/>
          </a:blip>
          <a:srcRect b="16825" l="13625" r="22284" t="16222"/>
          <a:stretch/>
        </p:blipFill>
        <p:spPr>
          <a:xfrm>
            <a:off x="5620066" y="3184112"/>
            <a:ext cx="357774" cy="351346"/>
          </a:xfrm>
          <a:prstGeom prst="rect">
            <a:avLst/>
          </a:prstGeom>
          <a:noFill/>
          <a:ln>
            <a:noFill/>
          </a:ln>
        </p:spPr>
      </p:pic>
      <p:sp>
        <p:nvSpPr>
          <p:cNvPr id="210" name="Google Shape;210;p32"/>
          <p:cNvSpPr txBox="1"/>
          <p:nvPr>
            <p:ph idx="17" type="subTitle"/>
          </p:nvPr>
        </p:nvSpPr>
        <p:spPr>
          <a:xfrm>
            <a:off x="3301950" y="1885328"/>
            <a:ext cx="2540100" cy="78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900"/>
              <a:t>Buck passing game deterministe</a:t>
            </a:r>
            <a:endParaRPr sz="1900"/>
          </a:p>
        </p:txBody>
      </p:sp>
      <p:sp>
        <p:nvSpPr>
          <p:cNvPr id="211" name="Google Shape;211;p32"/>
          <p:cNvSpPr txBox="1"/>
          <p:nvPr>
            <p:ph idx="20" type="subTitle"/>
          </p:nvPr>
        </p:nvSpPr>
        <p:spPr>
          <a:xfrm>
            <a:off x="6100200" y="2194100"/>
            <a:ext cx="21645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Equilibre du jeu </a:t>
            </a:r>
            <a:r>
              <a:rPr lang="en"/>
              <a:t>déterministe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2403300" y="2284323"/>
            <a:ext cx="4337400" cy="154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217" name="Google Shape;217;p33"/>
          <p:cNvSpPr txBox="1"/>
          <p:nvPr>
            <p:ph idx="2" type="title"/>
          </p:nvPr>
        </p:nvSpPr>
        <p:spPr>
          <a:xfrm>
            <a:off x="4048350" y="1035200"/>
            <a:ext cx="1047300" cy="969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218" name="Google Shape;218;p33"/>
          <p:cNvGrpSpPr/>
          <p:nvPr/>
        </p:nvGrpSpPr>
        <p:grpSpPr>
          <a:xfrm>
            <a:off x="7731792" y="683864"/>
            <a:ext cx="709214" cy="351346"/>
            <a:chOff x="7731792" y="683864"/>
            <a:chExt cx="709214" cy="351346"/>
          </a:xfrm>
        </p:grpSpPr>
        <p:pic>
          <p:nvPicPr>
            <p:cNvPr id="219" name="Google Shape;219;p33"/>
            <p:cNvPicPr preferRelativeResize="0"/>
            <p:nvPr/>
          </p:nvPicPr>
          <p:blipFill rotWithShape="1">
            <a:blip r:embed="rId3">
              <a:alphaModFix/>
            </a:blip>
            <a:srcRect b="16825" l="13625" r="22284" t="16222"/>
            <a:stretch/>
          </p:blipFill>
          <p:spPr>
            <a:xfrm>
              <a:off x="8083232" y="683864"/>
              <a:ext cx="357774" cy="351346"/>
            </a:xfrm>
            <a:prstGeom prst="rect">
              <a:avLst/>
            </a:prstGeom>
            <a:noFill/>
            <a:ln>
              <a:noFill/>
            </a:ln>
          </p:spPr>
        </p:pic>
        <p:pic>
          <p:nvPicPr>
            <p:cNvPr id="220" name="Google Shape;220;p33"/>
            <p:cNvPicPr preferRelativeResize="0"/>
            <p:nvPr/>
          </p:nvPicPr>
          <p:blipFill rotWithShape="1">
            <a:blip r:embed="rId4">
              <a:alphaModFix/>
            </a:blip>
            <a:srcRect b="16523" l="18541" r="17368" t="16523"/>
            <a:stretch/>
          </p:blipFill>
          <p:spPr>
            <a:xfrm>
              <a:off x="7731792" y="683864"/>
              <a:ext cx="357774" cy="351346"/>
            </a:xfrm>
            <a:prstGeom prst="rect">
              <a:avLst/>
            </a:prstGeom>
            <a:noFill/>
            <a:ln>
              <a:noFill/>
            </a:ln>
          </p:spPr>
        </p:pic>
      </p:grpSp>
      <p:pic>
        <p:nvPicPr>
          <p:cNvPr id="221" name="Google Shape;221;p33"/>
          <p:cNvPicPr preferRelativeResize="0"/>
          <p:nvPr/>
        </p:nvPicPr>
        <p:blipFill rotWithShape="1">
          <a:blip r:embed="rId3">
            <a:alphaModFix/>
          </a:blip>
          <a:srcRect b="16825" l="13625" r="22284" t="16222"/>
          <a:stretch/>
        </p:blipFill>
        <p:spPr>
          <a:xfrm>
            <a:off x="7727549" y="1711192"/>
            <a:ext cx="357774" cy="351346"/>
          </a:xfrm>
          <a:prstGeom prst="rect">
            <a:avLst/>
          </a:prstGeom>
          <a:noFill/>
          <a:ln>
            <a:noFill/>
          </a:ln>
        </p:spPr>
      </p:pic>
      <p:grpSp>
        <p:nvGrpSpPr>
          <p:cNvPr id="222" name="Google Shape;222;p33"/>
          <p:cNvGrpSpPr/>
          <p:nvPr/>
        </p:nvGrpSpPr>
        <p:grpSpPr>
          <a:xfrm>
            <a:off x="6322547" y="1026306"/>
            <a:ext cx="709021" cy="693789"/>
            <a:chOff x="6322547" y="1123984"/>
            <a:chExt cx="709021" cy="693789"/>
          </a:xfrm>
        </p:grpSpPr>
        <p:pic>
          <p:nvPicPr>
            <p:cNvPr id="223" name="Google Shape;223;p33"/>
            <p:cNvPicPr preferRelativeResize="0"/>
            <p:nvPr/>
          </p:nvPicPr>
          <p:blipFill rotWithShape="1">
            <a:blip r:embed="rId3">
              <a:alphaModFix/>
            </a:blip>
            <a:srcRect b="16825" l="13625" r="22284" t="16222"/>
            <a:stretch/>
          </p:blipFill>
          <p:spPr>
            <a:xfrm>
              <a:off x="6673794" y="1123984"/>
              <a:ext cx="357774" cy="351346"/>
            </a:xfrm>
            <a:prstGeom prst="rect">
              <a:avLst/>
            </a:prstGeom>
            <a:noFill/>
            <a:ln>
              <a:noFill/>
            </a:ln>
          </p:spPr>
        </p:pic>
        <p:pic>
          <p:nvPicPr>
            <p:cNvPr id="224" name="Google Shape;224;p33"/>
            <p:cNvPicPr preferRelativeResize="0"/>
            <p:nvPr/>
          </p:nvPicPr>
          <p:blipFill rotWithShape="1">
            <a:blip r:embed="rId3">
              <a:alphaModFix/>
            </a:blip>
            <a:srcRect b="16825" l="13625" r="22284" t="16222"/>
            <a:stretch/>
          </p:blipFill>
          <p:spPr>
            <a:xfrm>
              <a:off x="6322547" y="1123984"/>
              <a:ext cx="357774" cy="351346"/>
            </a:xfrm>
            <a:prstGeom prst="rect">
              <a:avLst/>
            </a:prstGeom>
            <a:noFill/>
            <a:ln>
              <a:noFill/>
            </a:ln>
          </p:spPr>
        </p:pic>
        <p:pic>
          <p:nvPicPr>
            <p:cNvPr id="225" name="Google Shape;225;p33"/>
            <p:cNvPicPr preferRelativeResize="0"/>
            <p:nvPr/>
          </p:nvPicPr>
          <p:blipFill rotWithShape="1">
            <a:blip r:embed="rId3">
              <a:alphaModFix/>
            </a:blip>
            <a:srcRect b="16825" l="13625" r="22284" t="16222"/>
            <a:stretch/>
          </p:blipFill>
          <p:spPr>
            <a:xfrm>
              <a:off x="6673794" y="1466427"/>
              <a:ext cx="357774" cy="351346"/>
            </a:xfrm>
            <a:prstGeom prst="rect">
              <a:avLst/>
            </a:prstGeom>
            <a:noFill/>
            <a:ln>
              <a:noFill/>
            </a:ln>
          </p:spPr>
        </p:pic>
        <p:pic>
          <p:nvPicPr>
            <p:cNvPr id="226" name="Google Shape;226;p33"/>
            <p:cNvPicPr preferRelativeResize="0"/>
            <p:nvPr/>
          </p:nvPicPr>
          <p:blipFill rotWithShape="1">
            <a:blip r:embed="rId3">
              <a:alphaModFix/>
            </a:blip>
            <a:srcRect b="16825" l="13625" r="22284" t="16222"/>
            <a:stretch/>
          </p:blipFill>
          <p:spPr>
            <a:xfrm>
              <a:off x="6322547" y="1466427"/>
              <a:ext cx="357774" cy="351346"/>
            </a:xfrm>
            <a:prstGeom prst="rect">
              <a:avLst/>
            </a:prstGeom>
            <a:noFill/>
            <a:ln>
              <a:noFill/>
            </a:ln>
          </p:spPr>
        </p:pic>
      </p:grpSp>
      <p:pic>
        <p:nvPicPr>
          <p:cNvPr id="227" name="Google Shape;227;p33"/>
          <p:cNvPicPr preferRelativeResize="0"/>
          <p:nvPr/>
        </p:nvPicPr>
        <p:blipFill rotWithShape="1">
          <a:blip r:embed="rId4">
            <a:alphaModFix/>
          </a:blip>
          <a:srcRect b="16523" l="18541" r="17368" t="16523"/>
          <a:stretch/>
        </p:blipFill>
        <p:spPr>
          <a:xfrm>
            <a:off x="8078796" y="3423404"/>
            <a:ext cx="357774" cy="351346"/>
          </a:xfrm>
          <a:prstGeom prst="rect">
            <a:avLst/>
          </a:prstGeom>
          <a:noFill/>
          <a:ln>
            <a:noFill/>
          </a:ln>
        </p:spPr>
      </p:pic>
      <p:sp>
        <p:nvSpPr>
          <p:cNvPr id="228" name="Google Shape;228;p33"/>
          <p:cNvSpPr/>
          <p:nvPr/>
        </p:nvSpPr>
        <p:spPr>
          <a:xfrm>
            <a:off x="1084884" y="34845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3"/>
          <p:cNvSpPr/>
          <p:nvPr/>
        </p:nvSpPr>
        <p:spPr>
          <a:xfrm>
            <a:off x="6359455" y="445386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3"/>
          <p:cNvSpPr/>
          <p:nvPr/>
        </p:nvSpPr>
        <p:spPr>
          <a:xfrm>
            <a:off x="6359455" y="1401613"/>
            <a:ext cx="310800" cy="310800"/>
          </a:xfrm>
          <a:prstGeom prst="rect">
            <a:avLst/>
          </a:prstGeom>
          <a:solidFill>
            <a:schemeClr val="dk1"/>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4"/>
          <p:cNvSpPr txBox="1"/>
          <p:nvPr>
            <p:ph type="title"/>
          </p:nvPr>
        </p:nvSpPr>
        <p:spPr>
          <a:xfrm>
            <a:off x="1835825" y="774325"/>
            <a:ext cx="6599400" cy="3116400"/>
          </a:xfrm>
          <a:prstGeom prst="rect">
            <a:avLst/>
          </a:prstGeom>
        </p:spPr>
        <p:txBody>
          <a:bodyPr anchorCtr="0" anchor="b" bIns="91425" lIns="91425" spcFirstLastPara="1" rIns="91425" wrap="square" tIns="91425">
            <a:noAutofit/>
          </a:bodyPr>
          <a:lstStyle/>
          <a:p>
            <a:pPr indent="-482600" lvl="0" marL="457200" rtl="0" algn="l">
              <a:lnSpc>
                <a:spcPct val="115000"/>
              </a:lnSpc>
              <a:spcBef>
                <a:spcPts val="0"/>
              </a:spcBef>
              <a:spcAft>
                <a:spcPts val="0"/>
              </a:spcAft>
              <a:buSzPts val="4000"/>
              <a:buAutoNum type="arabicPeriod"/>
            </a:pPr>
            <a:r>
              <a:rPr lang="en" sz="4000"/>
              <a:t>Problème</a:t>
            </a:r>
            <a:endParaRPr sz="4000"/>
          </a:p>
          <a:p>
            <a:pPr indent="-482600" lvl="0" marL="457200" rtl="0" algn="l">
              <a:lnSpc>
                <a:spcPct val="115000"/>
              </a:lnSpc>
              <a:spcBef>
                <a:spcPts val="0"/>
              </a:spcBef>
              <a:spcAft>
                <a:spcPts val="0"/>
              </a:spcAft>
              <a:buSzPts val="4000"/>
              <a:buAutoNum type="arabicPeriod"/>
            </a:pPr>
            <a:r>
              <a:rPr lang="en" sz="4000"/>
              <a:t>Contribution</a:t>
            </a:r>
            <a:endParaRPr sz="4000"/>
          </a:p>
          <a:p>
            <a:pPr indent="-482600" lvl="0" marL="457200" rtl="0" algn="l">
              <a:lnSpc>
                <a:spcPct val="115000"/>
              </a:lnSpc>
              <a:spcBef>
                <a:spcPts val="0"/>
              </a:spcBef>
              <a:spcAft>
                <a:spcPts val="0"/>
              </a:spcAft>
              <a:buSzPts val="4000"/>
              <a:buAutoNum type="arabicPeriod"/>
            </a:pPr>
            <a:r>
              <a:rPr lang="en" sz="4000"/>
              <a:t>Terminologie</a:t>
            </a:r>
            <a:endParaRPr sz="4000"/>
          </a:p>
          <a:p>
            <a:pPr indent="-482600" lvl="0" marL="457200" rtl="0" algn="l">
              <a:lnSpc>
                <a:spcPct val="115000"/>
              </a:lnSpc>
              <a:spcBef>
                <a:spcPts val="0"/>
              </a:spcBef>
              <a:spcAft>
                <a:spcPts val="0"/>
              </a:spcAft>
              <a:buSzPts val="4000"/>
              <a:buAutoNum type="arabicPeriod"/>
            </a:pPr>
            <a:r>
              <a:rPr lang="en" sz="4000"/>
              <a:t>Structures clés</a:t>
            </a:r>
            <a:endParaRPr sz="4000"/>
          </a:p>
        </p:txBody>
      </p:sp>
      <p:grpSp>
        <p:nvGrpSpPr>
          <p:cNvPr id="236" name="Google Shape;236;p34"/>
          <p:cNvGrpSpPr/>
          <p:nvPr/>
        </p:nvGrpSpPr>
        <p:grpSpPr>
          <a:xfrm>
            <a:off x="7165024" y="954344"/>
            <a:ext cx="357774" cy="693789"/>
            <a:chOff x="5620066" y="2738519"/>
            <a:chExt cx="357774" cy="693789"/>
          </a:xfrm>
        </p:grpSpPr>
        <p:pic>
          <p:nvPicPr>
            <p:cNvPr id="237" name="Google Shape;237;p34"/>
            <p:cNvPicPr preferRelativeResize="0"/>
            <p:nvPr/>
          </p:nvPicPr>
          <p:blipFill rotWithShape="1">
            <a:blip r:embed="rId3">
              <a:alphaModFix/>
            </a:blip>
            <a:srcRect b="16523" l="18541" r="17368" t="16523"/>
            <a:stretch/>
          </p:blipFill>
          <p:spPr>
            <a:xfrm>
              <a:off x="5620066" y="2738519"/>
              <a:ext cx="357774" cy="351346"/>
            </a:xfrm>
            <a:prstGeom prst="rect">
              <a:avLst/>
            </a:prstGeom>
            <a:noFill/>
            <a:ln>
              <a:noFill/>
            </a:ln>
          </p:spPr>
        </p:pic>
        <p:pic>
          <p:nvPicPr>
            <p:cNvPr id="238" name="Google Shape;238;p34"/>
            <p:cNvPicPr preferRelativeResize="0"/>
            <p:nvPr/>
          </p:nvPicPr>
          <p:blipFill rotWithShape="1">
            <a:blip r:embed="rId4">
              <a:alphaModFix/>
            </a:blip>
            <a:srcRect b="16825" l="13625" r="22284" t="16222"/>
            <a:stretch/>
          </p:blipFill>
          <p:spPr>
            <a:xfrm>
              <a:off x="5620066" y="3080962"/>
              <a:ext cx="357774" cy="351346"/>
            </a:xfrm>
            <a:prstGeom prst="rect">
              <a:avLst/>
            </a:prstGeom>
            <a:noFill/>
            <a:ln>
              <a:noFill/>
            </a:ln>
          </p:spPr>
        </p:pic>
      </p:grpSp>
      <p:sp>
        <p:nvSpPr>
          <p:cNvPr id="239" name="Google Shape;239;p34"/>
          <p:cNvSpPr/>
          <p:nvPr/>
        </p:nvSpPr>
        <p:spPr>
          <a:xfrm>
            <a:off x="8119982" y="4453872"/>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4"/>
          <p:cNvSpPr/>
          <p:nvPr/>
        </p:nvSpPr>
        <p:spPr>
          <a:xfrm>
            <a:off x="6359455" y="445386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4"/>
          <p:cNvSpPr/>
          <p:nvPr/>
        </p:nvSpPr>
        <p:spPr>
          <a:xfrm>
            <a:off x="1065407" y="1751722"/>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 name="Google Shape;242;p34"/>
          <p:cNvGrpSpPr/>
          <p:nvPr/>
        </p:nvGrpSpPr>
        <p:grpSpPr>
          <a:xfrm>
            <a:off x="2135541" y="4065724"/>
            <a:ext cx="709021" cy="351346"/>
            <a:chOff x="2135541" y="4065724"/>
            <a:chExt cx="709021" cy="351346"/>
          </a:xfrm>
        </p:grpSpPr>
        <p:pic>
          <p:nvPicPr>
            <p:cNvPr id="243" name="Google Shape;243;p34"/>
            <p:cNvPicPr preferRelativeResize="0"/>
            <p:nvPr/>
          </p:nvPicPr>
          <p:blipFill rotWithShape="1">
            <a:blip r:embed="rId4">
              <a:alphaModFix/>
            </a:blip>
            <a:srcRect b="16825" l="13625" r="22284" t="16222"/>
            <a:stretch/>
          </p:blipFill>
          <p:spPr>
            <a:xfrm>
              <a:off x="2486788" y="4065724"/>
              <a:ext cx="357774" cy="351346"/>
            </a:xfrm>
            <a:prstGeom prst="rect">
              <a:avLst/>
            </a:prstGeom>
            <a:noFill/>
            <a:ln>
              <a:noFill/>
            </a:ln>
          </p:spPr>
        </p:pic>
        <p:pic>
          <p:nvPicPr>
            <p:cNvPr id="244" name="Google Shape;244;p34"/>
            <p:cNvPicPr preferRelativeResize="0"/>
            <p:nvPr/>
          </p:nvPicPr>
          <p:blipFill rotWithShape="1">
            <a:blip r:embed="rId4">
              <a:alphaModFix/>
            </a:blip>
            <a:srcRect b="16825" l="13625" r="22284" t="16222"/>
            <a:stretch/>
          </p:blipFill>
          <p:spPr>
            <a:xfrm>
              <a:off x="2135541" y="4065724"/>
              <a:ext cx="357774" cy="351346"/>
            </a:xfrm>
            <a:prstGeom prst="rect">
              <a:avLst/>
            </a:prstGeom>
            <a:noFill/>
            <a:ln>
              <a:noFill/>
            </a:ln>
          </p:spPr>
        </p:pic>
        <p:sp>
          <p:nvSpPr>
            <p:cNvPr id="245" name="Google Shape;245;p34"/>
            <p:cNvSpPr/>
            <p:nvPr/>
          </p:nvSpPr>
          <p:spPr>
            <a:xfrm>
              <a:off x="2510293" y="4085988"/>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35"/>
          <p:cNvPicPr preferRelativeResize="0"/>
          <p:nvPr/>
        </p:nvPicPr>
        <p:blipFill rotWithShape="1">
          <a:blip r:embed="rId3">
            <a:alphaModFix/>
          </a:blip>
          <a:srcRect b="16825" l="13625" r="22284" t="16222"/>
          <a:stretch/>
        </p:blipFill>
        <p:spPr>
          <a:xfrm>
            <a:off x="8078796" y="1368749"/>
            <a:ext cx="357774" cy="351346"/>
          </a:xfrm>
          <a:prstGeom prst="rect">
            <a:avLst/>
          </a:prstGeom>
          <a:noFill/>
          <a:ln>
            <a:noFill/>
          </a:ln>
        </p:spPr>
      </p:pic>
      <p:sp>
        <p:nvSpPr>
          <p:cNvPr id="251" name="Google Shape;251;p35"/>
          <p:cNvSpPr txBox="1"/>
          <p:nvPr>
            <p:ph type="title"/>
          </p:nvPr>
        </p:nvSpPr>
        <p:spPr>
          <a:xfrm>
            <a:off x="713225"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1.</a:t>
            </a:r>
            <a:r>
              <a:rPr lang="en"/>
              <a:t>Le problème</a:t>
            </a:r>
            <a:endParaRPr/>
          </a:p>
        </p:txBody>
      </p:sp>
      <p:sp>
        <p:nvSpPr>
          <p:cNvPr id="252" name="Google Shape;252;p35"/>
          <p:cNvSpPr txBox="1"/>
          <p:nvPr>
            <p:ph idx="1" type="subTitle"/>
          </p:nvPr>
        </p:nvSpPr>
        <p:spPr>
          <a:xfrm>
            <a:off x="514350" y="1694625"/>
            <a:ext cx="3997500" cy="2821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lang="en"/>
              <a:t>Dans une communauté fermée, les individus ont tendance à transférer la responsabilité de résoudre un problème à leurs voisins.</a:t>
            </a:r>
            <a:endParaRPr/>
          </a:p>
          <a:p>
            <a:pPr indent="-317500" lvl="0" marL="457200" rtl="0" algn="l">
              <a:spcBef>
                <a:spcPts val="500"/>
              </a:spcBef>
              <a:spcAft>
                <a:spcPts val="0"/>
              </a:spcAft>
              <a:buClr>
                <a:schemeClr val="dk2"/>
              </a:buClr>
              <a:buSzPts val="1400"/>
              <a:buChar char="●"/>
            </a:pPr>
            <a:r>
              <a:rPr lang="en"/>
              <a:t>Tous bénéficient de la résolution du problème, en dépit d’un coût personnel.</a:t>
            </a:r>
            <a:endParaRPr/>
          </a:p>
          <a:p>
            <a:pPr indent="-317500" lvl="0" marL="457200" rtl="0" algn="l">
              <a:spcBef>
                <a:spcPts val="500"/>
              </a:spcBef>
              <a:spcAft>
                <a:spcPts val="0"/>
              </a:spcAft>
              <a:buClr>
                <a:schemeClr val="dk2"/>
              </a:buClr>
              <a:buSzPts val="1400"/>
              <a:buChar char="●"/>
            </a:pPr>
            <a:r>
              <a:rPr lang="en"/>
              <a:t>Chaque agent préfère donc que quelqu’un d’autre s’en charge.</a:t>
            </a:r>
            <a:endParaRPr i="1"/>
          </a:p>
          <a:p>
            <a:pPr indent="0" lvl="0" marL="457200" rtl="0" algn="l">
              <a:spcBef>
                <a:spcPts val="500"/>
              </a:spcBef>
              <a:spcAft>
                <a:spcPts val="500"/>
              </a:spcAft>
              <a:buNone/>
            </a:pPr>
            <a:r>
              <a:rPr i="1" lang="en">
                <a:solidFill>
                  <a:schemeClr val="dk2"/>
                </a:solidFill>
              </a:rPr>
              <a:t> </a:t>
            </a:r>
            <a:r>
              <a:rPr i="1" lang="en">
                <a:solidFill>
                  <a:schemeClr val="dk2"/>
                </a:solidFill>
              </a:rPr>
              <a:t>Version en réseau du problème du passager clandestin</a:t>
            </a:r>
            <a:endParaRPr i="1">
              <a:solidFill>
                <a:schemeClr val="dk2"/>
              </a:solidFill>
            </a:endParaRPr>
          </a:p>
        </p:txBody>
      </p:sp>
      <p:sp>
        <p:nvSpPr>
          <p:cNvPr id="253" name="Google Shape;253;p35"/>
          <p:cNvSpPr txBox="1"/>
          <p:nvPr>
            <p:ph idx="2" type="subTitle"/>
          </p:nvPr>
        </p:nvSpPr>
        <p:spPr>
          <a:xfrm>
            <a:off x="4592800" y="1694625"/>
            <a:ext cx="3843900" cy="2757900"/>
          </a:xfrm>
          <a:prstGeom prst="rect">
            <a:avLst/>
          </a:prstGeom>
        </p:spPr>
        <p:txBody>
          <a:bodyPr anchorCtr="0" anchor="t" bIns="91425" lIns="91425" spcFirstLastPara="1" rIns="91425" wrap="square" tIns="91425">
            <a:noAutofit/>
          </a:bodyPr>
          <a:lstStyle/>
          <a:p>
            <a:pPr indent="-317500" lvl="0" marL="457200" rtl="0" algn="just">
              <a:spcBef>
                <a:spcPts val="0"/>
              </a:spcBef>
              <a:spcAft>
                <a:spcPts val="0"/>
              </a:spcAft>
              <a:buClr>
                <a:schemeClr val="dk2"/>
              </a:buClr>
              <a:buSzPts val="1400"/>
              <a:buChar char="●"/>
            </a:pPr>
            <a:r>
              <a:rPr lang="en"/>
              <a:t>Les agents ne peuvent passer la responsabilité qu’à leurs voisins dans un réseau social donné.</a:t>
            </a:r>
            <a:endParaRPr/>
          </a:p>
          <a:p>
            <a:pPr indent="-317500" lvl="0" marL="457200" rtl="0" algn="just">
              <a:spcBef>
                <a:spcPts val="500"/>
              </a:spcBef>
              <a:spcAft>
                <a:spcPts val="0"/>
              </a:spcAft>
              <a:buClr>
                <a:schemeClr val="dk2"/>
              </a:buClr>
              <a:buSzPts val="1400"/>
              <a:buChar char="●"/>
            </a:pPr>
            <a:r>
              <a:rPr lang="en"/>
              <a:t>L’objectif de chaque agent est de recevoir le problème le moins souvent possible.</a:t>
            </a:r>
            <a:endParaRPr/>
          </a:p>
          <a:p>
            <a:pPr indent="0" lvl="0" marL="0" rtl="0" algn="just">
              <a:spcBef>
                <a:spcPts val="1000"/>
              </a:spcBef>
              <a:spcAft>
                <a:spcPts val="0"/>
              </a:spcAft>
              <a:buNone/>
            </a:pPr>
            <a:r>
              <a:rPr lang="en"/>
              <a:t>Il ne suffit pas de passer la responsabilité au hasard : le choix du voisin est stratégique p</a:t>
            </a:r>
            <a:r>
              <a:rPr lang="en"/>
              <a:t>our </a:t>
            </a:r>
            <a:r>
              <a:rPr lang="en"/>
              <a:t>éviter que le problème ne revienne trop rapidement.</a:t>
            </a:r>
            <a:endParaRPr/>
          </a:p>
        </p:txBody>
      </p:sp>
      <p:grpSp>
        <p:nvGrpSpPr>
          <p:cNvPr id="254" name="Google Shape;254;p35"/>
          <p:cNvGrpSpPr/>
          <p:nvPr/>
        </p:nvGrpSpPr>
        <p:grpSpPr>
          <a:xfrm>
            <a:off x="1435016" y="760849"/>
            <a:ext cx="709041" cy="351346"/>
            <a:chOff x="2458841" y="1368749"/>
            <a:chExt cx="709041" cy="351346"/>
          </a:xfrm>
        </p:grpSpPr>
        <p:pic>
          <p:nvPicPr>
            <p:cNvPr id="255" name="Google Shape;255;p35"/>
            <p:cNvPicPr preferRelativeResize="0"/>
            <p:nvPr/>
          </p:nvPicPr>
          <p:blipFill rotWithShape="1">
            <a:blip r:embed="rId4">
              <a:alphaModFix/>
            </a:blip>
            <a:srcRect b="16523" l="18541" r="17368" t="16523"/>
            <a:stretch/>
          </p:blipFill>
          <p:spPr>
            <a:xfrm>
              <a:off x="2810108" y="1368749"/>
              <a:ext cx="357774" cy="351346"/>
            </a:xfrm>
            <a:prstGeom prst="rect">
              <a:avLst/>
            </a:prstGeom>
            <a:noFill/>
            <a:ln>
              <a:noFill/>
            </a:ln>
          </p:spPr>
        </p:pic>
        <p:pic>
          <p:nvPicPr>
            <p:cNvPr id="256" name="Google Shape;256;p35"/>
            <p:cNvPicPr preferRelativeResize="0"/>
            <p:nvPr/>
          </p:nvPicPr>
          <p:blipFill rotWithShape="1">
            <a:blip r:embed="rId3">
              <a:alphaModFix/>
            </a:blip>
            <a:srcRect b="16825" l="13625" r="22284" t="16222"/>
            <a:stretch/>
          </p:blipFill>
          <p:spPr>
            <a:xfrm>
              <a:off x="2458841" y="1368749"/>
              <a:ext cx="357774" cy="351346"/>
            </a:xfrm>
            <a:prstGeom prst="rect">
              <a:avLst/>
            </a:prstGeom>
            <a:noFill/>
            <a:ln>
              <a:noFill/>
            </a:ln>
          </p:spPr>
        </p:pic>
      </p:grpSp>
      <p:grpSp>
        <p:nvGrpSpPr>
          <p:cNvPr id="257" name="Google Shape;257;p35"/>
          <p:cNvGrpSpPr/>
          <p:nvPr/>
        </p:nvGrpSpPr>
        <p:grpSpPr>
          <a:xfrm>
            <a:off x="4235033" y="3955459"/>
            <a:ext cx="357774" cy="693789"/>
            <a:chOff x="8781290" y="1711192"/>
            <a:chExt cx="357774" cy="693789"/>
          </a:xfrm>
        </p:grpSpPr>
        <p:pic>
          <p:nvPicPr>
            <p:cNvPr id="258" name="Google Shape;258;p35"/>
            <p:cNvPicPr preferRelativeResize="0"/>
            <p:nvPr/>
          </p:nvPicPr>
          <p:blipFill rotWithShape="1">
            <a:blip r:embed="rId4">
              <a:alphaModFix/>
            </a:blip>
            <a:srcRect b="16523" l="18541" r="17368" t="16523"/>
            <a:stretch/>
          </p:blipFill>
          <p:spPr>
            <a:xfrm>
              <a:off x="8781290" y="1711192"/>
              <a:ext cx="357774" cy="351346"/>
            </a:xfrm>
            <a:prstGeom prst="rect">
              <a:avLst/>
            </a:prstGeom>
            <a:noFill/>
            <a:ln>
              <a:noFill/>
            </a:ln>
          </p:spPr>
        </p:pic>
        <p:pic>
          <p:nvPicPr>
            <p:cNvPr id="259" name="Google Shape;259;p35"/>
            <p:cNvPicPr preferRelativeResize="0"/>
            <p:nvPr/>
          </p:nvPicPr>
          <p:blipFill rotWithShape="1">
            <a:blip r:embed="rId3">
              <a:alphaModFix/>
            </a:blip>
            <a:srcRect b="16825" l="13625" r="22284" t="16222"/>
            <a:stretch/>
          </p:blipFill>
          <p:spPr>
            <a:xfrm>
              <a:off x="8781290" y="2053634"/>
              <a:ext cx="357774" cy="351346"/>
            </a:xfrm>
            <a:prstGeom prst="rect">
              <a:avLst/>
            </a:prstGeom>
            <a:noFill/>
            <a:ln>
              <a:noFill/>
            </a:ln>
          </p:spPr>
        </p:pic>
      </p:grpSp>
      <p:sp>
        <p:nvSpPr>
          <p:cNvPr id="260" name="Google Shape;260;p35"/>
          <p:cNvSpPr txBox="1"/>
          <p:nvPr>
            <p:ph type="title"/>
          </p:nvPr>
        </p:nvSpPr>
        <p:spPr>
          <a:xfrm>
            <a:off x="748975" y="1274025"/>
            <a:ext cx="3843900" cy="4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rPr>
              <a:t>Contexte</a:t>
            </a:r>
            <a:endParaRPr sz="2000">
              <a:solidFill>
                <a:schemeClr val="dk2"/>
              </a:solidFill>
            </a:endParaRPr>
          </a:p>
        </p:txBody>
      </p:sp>
      <p:sp>
        <p:nvSpPr>
          <p:cNvPr id="261" name="Google Shape;261;p35"/>
          <p:cNvSpPr txBox="1"/>
          <p:nvPr>
            <p:ph type="title"/>
          </p:nvPr>
        </p:nvSpPr>
        <p:spPr>
          <a:xfrm>
            <a:off x="4592800" y="1274025"/>
            <a:ext cx="3843900" cy="48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2"/>
                </a:solidFill>
              </a:rPr>
              <a:t>Contraintes et E</a:t>
            </a:r>
            <a:r>
              <a:rPr lang="en" sz="2000">
                <a:solidFill>
                  <a:schemeClr val="dk2"/>
                </a:solidFill>
              </a:rPr>
              <a:t>njeux</a:t>
            </a:r>
            <a:endParaRPr sz="20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txBox="1"/>
          <p:nvPr>
            <p:ph type="title"/>
          </p:nvPr>
        </p:nvSpPr>
        <p:spPr>
          <a:xfrm>
            <a:off x="3928350" y="949875"/>
            <a:ext cx="4129800" cy="102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2.Contribution des auteurs </a:t>
            </a:r>
            <a:endParaRPr/>
          </a:p>
        </p:txBody>
      </p:sp>
      <p:sp>
        <p:nvSpPr>
          <p:cNvPr id="267" name="Google Shape;267;p36"/>
          <p:cNvSpPr txBox="1"/>
          <p:nvPr>
            <p:ph idx="1" type="subTitle"/>
          </p:nvPr>
        </p:nvSpPr>
        <p:spPr>
          <a:xfrm>
            <a:off x="3928350" y="2006350"/>
            <a:ext cx="4129800" cy="270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Epilogue SemiBold"/>
                <a:ea typeface="Epilogue SemiBold"/>
                <a:cs typeface="Epilogue SemiBold"/>
                <a:sym typeface="Epilogue SemiBold"/>
              </a:rPr>
              <a:t>Modélisation</a:t>
            </a:r>
            <a:endParaRPr sz="2000">
              <a:solidFill>
                <a:schemeClr val="dk2"/>
              </a:solidFill>
              <a:latin typeface="Epilogue SemiBold"/>
              <a:ea typeface="Epilogue SemiBold"/>
              <a:cs typeface="Epilogue SemiBold"/>
              <a:sym typeface="Epilogue SemiBold"/>
            </a:endParaRPr>
          </a:p>
          <a:p>
            <a:pPr indent="0" lvl="0" marL="0" rtl="0" algn="l">
              <a:spcBef>
                <a:spcPts val="0"/>
              </a:spcBef>
              <a:spcAft>
                <a:spcPts val="0"/>
              </a:spcAft>
              <a:buNone/>
            </a:pPr>
            <a:r>
              <a:t/>
            </a:r>
            <a:endParaRPr/>
          </a:p>
          <a:p>
            <a:pPr indent="-330200" lvl="0" marL="457200" rtl="0" algn="l">
              <a:spcBef>
                <a:spcPts val="0"/>
              </a:spcBef>
              <a:spcAft>
                <a:spcPts val="0"/>
              </a:spcAft>
              <a:buClr>
                <a:schemeClr val="dk2"/>
              </a:buClr>
              <a:buSzPts val="1600"/>
              <a:buChar char="●"/>
            </a:pPr>
            <a:r>
              <a:rPr lang="en"/>
              <a:t>Jeu sur un graphe orienté fini</a:t>
            </a:r>
            <a:endParaRPr/>
          </a:p>
          <a:p>
            <a:pPr indent="-330200" lvl="0" marL="457200" rtl="0" algn="l">
              <a:spcBef>
                <a:spcPts val="0"/>
              </a:spcBef>
              <a:spcAft>
                <a:spcPts val="0"/>
              </a:spcAft>
              <a:buClr>
                <a:schemeClr val="dk2"/>
              </a:buClr>
              <a:buSzPts val="1600"/>
              <a:buChar char="●"/>
            </a:pPr>
            <a:r>
              <a:rPr lang="en"/>
              <a:t>Les s</a:t>
            </a:r>
            <a:r>
              <a:rPr lang="en"/>
              <a:t>ommets sont les agents</a:t>
            </a:r>
            <a:endParaRPr/>
          </a:p>
          <a:p>
            <a:pPr indent="-330200" lvl="0" marL="457200" rtl="0" algn="l">
              <a:spcBef>
                <a:spcPts val="0"/>
              </a:spcBef>
              <a:spcAft>
                <a:spcPts val="0"/>
              </a:spcAft>
              <a:buClr>
                <a:schemeClr val="dk2"/>
              </a:buClr>
              <a:buSzPts val="1600"/>
              <a:buChar char="●"/>
            </a:pPr>
            <a:r>
              <a:rPr lang="en"/>
              <a:t>Les arêtes </a:t>
            </a:r>
            <a:r>
              <a:rPr lang="en"/>
              <a:t>représentent</a:t>
            </a:r>
            <a:r>
              <a:rPr lang="en"/>
              <a:t> le transfert de responsabilité entre les agents</a:t>
            </a:r>
            <a:endParaRPr/>
          </a:p>
          <a:p>
            <a:pPr indent="0" lvl="0" marL="457200" rtl="0" algn="l">
              <a:spcBef>
                <a:spcPts val="0"/>
              </a:spcBef>
              <a:spcAft>
                <a:spcPts val="0"/>
              </a:spcAft>
              <a:buNone/>
            </a:pPr>
            <a:r>
              <a:t/>
            </a:r>
            <a:endParaRPr/>
          </a:p>
          <a:p>
            <a:pPr indent="0" lvl="0" marL="0" rtl="0" algn="l">
              <a:spcBef>
                <a:spcPts val="0"/>
              </a:spcBef>
              <a:spcAft>
                <a:spcPts val="0"/>
              </a:spcAft>
              <a:buNone/>
            </a:pPr>
            <a:r>
              <a:rPr lang="en"/>
              <a:t>Premier agent à </a:t>
            </a:r>
            <a:r>
              <a:rPr lang="en"/>
              <a:t>détenir</a:t>
            </a:r>
            <a:r>
              <a:rPr lang="en"/>
              <a:t> la responsabilité est tiré </a:t>
            </a:r>
            <a:r>
              <a:rPr lang="en"/>
              <a:t>aléatoirement</a:t>
            </a:r>
            <a:r>
              <a:rPr lang="en"/>
              <a:t> par la Nature </a:t>
            </a:r>
            <a:endParaRPr/>
          </a:p>
        </p:txBody>
      </p:sp>
      <p:pic>
        <p:nvPicPr>
          <p:cNvPr id="268" name="Google Shape;268;p36" title="Group 1 (5).png"/>
          <p:cNvPicPr preferRelativeResize="0"/>
          <p:nvPr>
            <p:ph idx="2" type="pic"/>
          </p:nvPr>
        </p:nvPicPr>
        <p:blipFill rotWithShape="1">
          <a:blip r:embed="rId3">
            <a:alphaModFix/>
          </a:blip>
          <a:srcRect b="0" l="119" r="119" t="0"/>
          <a:stretch/>
        </p:blipFill>
        <p:spPr>
          <a:xfrm>
            <a:off x="992400" y="684975"/>
            <a:ext cx="2616552" cy="35764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ph type="title"/>
          </p:nvPr>
        </p:nvSpPr>
        <p:spPr>
          <a:xfrm>
            <a:off x="716550"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Les deux versions du jeu</a:t>
            </a:r>
            <a:endParaRPr/>
          </a:p>
        </p:txBody>
      </p:sp>
      <p:sp>
        <p:nvSpPr>
          <p:cNvPr id="274" name="Google Shape;274;p37"/>
          <p:cNvSpPr txBox="1"/>
          <p:nvPr>
            <p:ph idx="1" type="subTitle"/>
          </p:nvPr>
        </p:nvSpPr>
        <p:spPr>
          <a:xfrm>
            <a:off x="4618750" y="1202425"/>
            <a:ext cx="3926700" cy="15618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dk2"/>
                </a:solidFill>
                <a:latin typeface="Epilogue"/>
                <a:ea typeface="Epilogue"/>
                <a:cs typeface="Epilogue"/>
                <a:sym typeface="Epilogue"/>
              </a:rPr>
              <a:t>Jeu Stochastique</a:t>
            </a:r>
            <a:endParaRPr/>
          </a:p>
          <a:p>
            <a:pPr indent="-317500" lvl="0" marL="457200" rtl="0" algn="l">
              <a:spcBef>
                <a:spcPts val="1000"/>
              </a:spcBef>
              <a:spcAft>
                <a:spcPts val="0"/>
              </a:spcAft>
              <a:buClr>
                <a:schemeClr val="dk2"/>
              </a:buClr>
              <a:buSzPts val="1400"/>
              <a:buChar char="●"/>
            </a:pPr>
            <a:r>
              <a:rPr lang="en"/>
              <a:t>Les agents choisissent des probabilités de transmission</a:t>
            </a:r>
            <a:endParaRPr/>
          </a:p>
          <a:p>
            <a:pPr indent="-317500" lvl="0" marL="457200" rtl="0" algn="just">
              <a:spcBef>
                <a:spcPts val="500"/>
              </a:spcBef>
              <a:spcAft>
                <a:spcPts val="0"/>
              </a:spcAft>
              <a:buClr>
                <a:schemeClr val="dk2"/>
              </a:buClr>
              <a:buSzPts val="1400"/>
              <a:buChar char="●"/>
            </a:pPr>
            <a:r>
              <a:rPr lang="en"/>
              <a:t>Le jeu induit une chaîne de Markov</a:t>
            </a:r>
            <a:endParaRPr/>
          </a:p>
          <a:p>
            <a:pPr indent="0" lvl="0" marL="457200" rtl="0" algn="just">
              <a:spcBef>
                <a:spcPts val="500"/>
              </a:spcBef>
              <a:spcAft>
                <a:spcPts val="0"/>
              </a:spcAft>
              <a:buNone/>
            </a:pPr>
            <a:r>
              <a:t/>
            </a:r>
            <a:endParaRPr/>
          </a:p>
          <a:p>
            <a:pPr indent="0" lvl="0" marL="0" rtl="0" algn="ctr">
              <a:spcBef>
                <a:spcPts val="0"/>
              </a:spcBef>
              <a:spcAft>
                <a:spcPts val="0"/>
              </a:spcAft>
              <a:buNone/>
            </a:pPr>
            <a:r>
              <a:t/>
            </a:r>
            <a:endParaRPr sz="2000">
              <a:solidFill>
                <a:schemeClr val="dk2"/>
              </a:solidFill>
              <a:latin typeface="Epilogue SemiBold"/>
              <a:ea typeface="Epilogue SemiBold"/>
              <a:cs typeface="Epilogue SemiBold"/>
              <a:sym typeface="Epilogue SemiBold"/>
            </a:endParaRPr>
          </a:p>
          <a:p>
            <a:pPr indent="0" lvl="0" marL="0" rtl="0" algn="just">
              <a:spcBef>
                <a:spcPts val="0"/>
              </a:spcBef>
              <a:spcAft>
                <a:spcPts val="0"/>
              </a:spcAft>
              <a:buNone/>
            </a:pPr>
            <a:r>
              <a:t/>
            </a:r>
            <a:endParaRPr/>
          </a:p>
        </p:txBody>
      </p:sp>
      <p:sp>
        <p:nvSpPr>
          <p:cNvPr id="275" name="Google Shape;275;p37"/>
          <p:cNvSpPr txBox="1"/>
          <p:nvPr>
            <p:ph idx="2" type="subTitle"/>
          </p:nvPr>
        </p:nvSpPr>
        <p:spPr>
          <a:xfrm>
            <a:off x="432550" y="1202425"/>
            <a:ext cx="4113600" cy="19698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dk2"/>
                </a:solidFill>
                <a:latin typeface="Epilogue"/>
                <a:ea typeface="Epilogue"/>
                <a:cs typeface="Epilogue"/>
                <a:sym typeface="Epilogue"/>
              </a:rPr>
              <a:t>Jeu Déterministe </a:t>
            </a:r>
            <a:endParaRPr/>
          </a:p>
          <a:p>
            <a:pPr indent="-317500" lvl="0" marL="457200" rtl="0" algn="just">
              <a:spcBef>
                <a:spcPts val="1000"/>
              </a:spcBef>
              <a:spcAft>
                <a:spcPts val="0"/>
              </a:spcAft>
              <a:buClr>
                <a:schemeClr val="dk2"/>
              </a:buClr>
              <a:buSzPts val="1400"/>
              <a:buChar char="●"/>
            </a:pPr>
            <a:r>
              <a:rPr lang="en"/>
              <a:t>Chaque agent choisit définitivement à quel voisin passe la responsabilité</a:t>
            </a:r>
            <a:endParaRPr/>
          </a:p>
          <a:p>
            <a:pPr indent="-317500" lvl="0" marL="457200" rtl="0" algn="l">
              <a:spcBef>
                <a:spcPts val="500"/>
              </a:spcBef>
              <a:spcAft>
                <a:spcPts val="0"/>
              </a:spcAft>
              <a:buClr>
                <a:schemeClr val="dk2"/>
              </a:buClr>
              <a:buSzPts val="1400"/>
              <a:buChar char="●"/>
            </a:pPr>
            <a:r>
              <a:rPr lang="en"/>
              <a:t>Le </a:t>
            </a:r>
            <a:r>
              <a:rPr b="1" lang="en"/>
              <a:t>coût </a:t>
            </a:r>
            <a:r>
              <a:rPr lang="en"/>
              <a:t>= fréquence asymptotique à laquelle l’agent reçoit la responsabilité</a:t>
            </a:r>
            <a:endParaRPr/>
          </a:p>
          <a:p>
            <a:pPr indent="-317500" lvl="0" marL="457200" rtl="0" algn="just">
              <a:spcBef>
                <a:spcPts val="500"/>
              </a:spcBef>
              <a:spcAft>
                <a:spcPts val="500"/>
              </a:spcAft>
              <a:buClr>
                <a:schemeClr val="dk2"/>
              </a:buClr>
              <a:buSzPts val="1400"/>
              <a:buChar char="●"/>
            </a:pPr>
            <a:r>
              <a:rPr lang="en"/>
              <a:t>Le jeu est statique, malgré une dynamique infinie dans le temps</a:t>
            </a:r>
            <a:endParaRPr/>
          </a:p>
        </p:txBody>
      </p:sp>
      <p:grpSp>
        <p:nvGrpSpPr>
          <p:cNvPr id="276" name="Google Shape;276;p37"/>
          <p:cNvGrpSpPr/>
          <p:nvPr/>
        </p:nvGrpSpPr>
        <p:grpSpPr>
          <a:xfrm>
            <a:off x="7715099" y="418399"/>
            <a:ext cx="709021" cy="693789"/>
            <a:chOff x="7727549" y="1368749"/>
            <a:chExt cx="709021" cy="693789"/>
          </a:xfrm>
        </p:grpSpPr>
        <p:pic>
          <p:nvPicPr>
            <p:cNvPr id="277" name="Google Shape;277;p37"/>
            <p:cNvPicPr preferRelativeResize="0"/>
            <p:nvPr/>
          </p:nvPicPr>
          <p:blipFill rotWithShape="1">
            <a:blip r:embed="rId4">
              <a:alphaModFix/>
            </a:blip>
            <a:srcRect b="16825" l="13625" r="22284" t="16222"/>
            <a:stretch/>
          </p:blipFill>
          <p:spPr>
            <a:xfrm>
              <a:off x="8078796" y="1368749"/>
              <a:ext cx="357774" cy="351346"/>
            </a:xfrm>
            <a:prstGeom prst="rect">
              <a:avLst/>
            </a:prstGeom>
            <a:noFill/>
            <a:ln>
              <a:noFill/>
            </a:ln>
          </p:spPr>
        </p:pic>
        <p:pic>
          <p:nvPicPr>
            <p:cNvPr id="278" name="Google Shape;278;p37"/>
            <p:cNvPicPr preferRelativeResize="0"/>
            <p:nvPr/>
          </p:nvPicPr>
          <p:blipFill rotWithShape="1">
            <a:blip r:embed="rId4">
              <a:alphaModFix/>
            </a:blip>
            <a:srcRect b="16825" l="13625" r="22284" t="16222"/>
            <a:stretch/>
          </p:blipFill>
          <p:spPr>
            <a:xfrm>
              <a:off x="7727549" y="1711192"/>
              <a:ext cx="357774" cy="351346"/>
            </a:xfrm>
            <a:prstGeom prst="rect">
              <a:avLst/>
            </a:prstGeom>
            <a:noFill/>
            <a:ln>
              <a:noFill/>
            </a:ln>
          </p:spPr>
        </p:pic>
      </p:grpSp>
      <p:cxnSp>
        <p:nvCxnSpPr>
          <p:cNvPr id="279" name="Google Shape;279;p37"/>
          <p:cNvCxnSpPr/>
          <p:nvPr/>
        </p:nvCxnSpPr>
        <p:spPr>
          <a:xfrm>
            <a:off x="4666188" y="1389400"/>
            <a:ext cx="8700" cy="3341700"/>
          </a:xfrm>
          <a:prstGeom prst="straightConnector1">
            <a:avLst/>
          </a:prstGeom>
          <a:noFill/>
          <a:ln cap="flat" cmpd="sng" w="19050">
            <a:solidFill>
              <a:srgbClr val="B7B7B7"/>
            </a:solidFill>
            <a:prstDash val="solid"/>
            <a:round/>
            <a:headEnd len="med" w="med" type="none"/>
            <a:tailEnd len="med" w="med" type="none"/>
          </a:ln>
        </p:spPr>
      </p:cxnSp>
      <p:sp>
        <p:nvSpPr>
          <p:cNvPr id="280" name="Google Shape;280;p37"/>
          <p:cNvSpPr txBox="1"/>
          <p:nvPr/>
        </p:nvSpPr>
        <p:spPr>
          <a:xfrm>
            <a:off x="4672450" y="2655775"/>
            <a:ext cx="3819300" cy="2185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solidFill>
                  <a:schemeClr val="dk2"/>
                </a:solidFill>
                <a:latin typeface="Epilogue SemiBold"/>
                <a:ea typeface="Epilogue SemiBold"/>
                <a:cs typeface="Epilogue SemiBold"/>
                <a:sym typeface="Epilogue SemiBold"/>
              </a:rPr>
              <a:t>Résultats clés </a:t>
            </a:r>
            <a:endParaRPr sz="2000">
              <a:solidFill>
                <a:schemeClr val="dk2"/>
              </a:solidFill>
              <a:latin typeface="Epilogue SemiBold"/>
              <a:ea typeface="Epilogue SemiBold"/>
              <a:cs typeface="Epilogue SemiBold"/>
              <a:sym typeface="Epilogue SemiBold"/>
            </a:endParaRPr>
          </a:p>
          <a:p>
            <a:pPr indent="-317500" lvl="0" marL="457200" rtl="0" algn="l">
              <a:lnSpc>
                <a:spcPct val="115000"/>
              </a:lnSpc>
              <a:spcBef>
                <a:spcPts val="500"/>
              </a:spcBef>
              <a:spcAft>
                <a:spcPts val="0"/>
              </a:spcAft>
              <a:buClr>
                <a:schemeClr val="dk2"/>
              </a:buClr>
              <a:buSzPts val="1400"/>
              <a:buFont typeface="Albert Sans"/>
              <a:buChar char="●"/>
            </a:pPr>
            <a:r>
              <a:rPr lang="en">
                <a:solidFill>
                  <a:schemeClr val="dk1"/>
                </a:solidFill>
                <a:latin typeface="Albert Sans"/>
                <a:ea typeface="Albert Sans"/>
                <a:cs typeface="Albert Sans"/>
                <a:sym typeface="Albert Sans"/>
              </a:rPr>
              <a:t>La distribution stationnaire = vecteur de coûts</a:t>
            </a:r>
            <a:endParaRPr>
              <a:solidFill>
                <a:schemeClr val="dk1"/>
              </a:solidFill>
              <a:latin typeface="Albert Sans"/>
              <a:ea typeface="Albert Sans"/>
              <a:cs typeface="Albert Sans"/>
              <a:sym typeface="Albert Sans"/>
            </a:endParaRPr>
          </a:p>
          <a:p>
            <a:pPr indent="-317500" lvl="0" marL="457200" rtl="0" algn="l">
              <a:lnSpc>
                <a:spcPct val="115000"/>
              </a:lnSpc>
              <a:spcBef>
                <a:spcPts val="500"/>
              </a:spcBef>
              <a:spcAft>
                <a:spcPts val="0"/>
              </a:spcAft>
              <a:buClr>
                <a:schemeClr val="dk2"/>
              </a:buClr>
              <a:buSzPts val="1400"/>
              <a:buFont typeface="Albert Sans"/>
              <a:buChar char="●"/>
            </a:pPr>
            <a:r>
              <a:rPr lang="en">
                <a:solidFill>
                  <a:schemeClr val="dk1"/>
                </a:solidFill>
                <a:latin typeface="Albert Sans"/>
                <a:ea typeface="Albert Sans"/>
                <a:cs typeface="Albert Sans"/>
                <a:sym typeface="Albert Sans"/>
              </a:rPr>
              <a:t>Les équilibres purs du jeu déterministe sont aussi des équilibres du jeu stochastique</a:t>
            </a:r>
            <a:endParaRPr>
              <a:solidFill>
                <a:schemeClr val="dk1"/>
              </a:solidFill>
              <a:latin typeface="Albert Sans"/>
              <a:ea typeface="Albert Sans"/>
              <a:cs typeface="Albert Sans"/>
              <a:sym typeface="Albert Sans"/>
            </a:endParaRPr>
          </a:p>
          <a:p>
            <a:pPr indent="-317500" lvl="0" marL="457200" rtl="0" algn="just">
              <a:lnSpc>
                <a:spcPct val="115000"/>
              </a:lnSpc>
              <a:spcBef>
                <a:spcPts val="500"/>
              </a:spcBef>
              <a:spcAft>
                <a:spcPts val="500"/>
              </a:spcAft>
              <a:buClr>
                <a:schemeClr val="dk2"/>
              </a:buClr>
              <a:buSzPts val="1400"/>
              <a:buFont typeface="Albert Sans"/>
              <a:buChar char="●"/>
            </a:pPr>
            <a:r>
              <a:rPr lang="en">
                <a:solidFill>
                  <a:schemeClr val="dk1"/>
                </a:solidFill>
                <a:latin typeface="Albert Sans"/>
                <a:ea typeface="Albert Sans"/>
                <a:cs typeface="Albert Sans"/>
                <a:sym typeface="Albert Sans"/>
              </a:rPr>
              <a:t>Existence d’équilibres prior-free</a:t>
            </a:r>
            <a:endParaRPr>
              <a:solidFill>
                <a:schemeClr val="dk1"/>
              </a:solidFill>
              <a:latin typeface="Albert Sans"/>
              <a:ea typeface="Albert Sans"/>
              <a:cs typeface="Albert Sans"/>
              <a:sym typeface="Albert Sans"/>
            </a:endParaRPr>
          </a:p>
        </p:txBody>
      </p:sp>
      <p:sp>
        <p:nvSpPr>
          <p:cNvPr id="281" name="Google Shape;281;p37"/>
          <p:cNvSpPr txBox="1"/>
          <p:nvPr/>
        </p:nvSpPr>
        <p:spPr>
          <a:xfrm>
            <a:off x="432550" y="3262450"/>
            <a:ext cx="4233600" cy="1442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solidFill>
                  <a:schemeClr val="dk2"/>
                </a:solidFill>
                <a:latin typeface="Epilogue SemiBold"/>
                <a:ea typeface="Epilogue SemiBold"/>
                <a:cs typeface="Epilogue SemiBold"/>
                <a:sym typeface="Epilogue SemiBold"/>
              </a:rPr>
              <a:t>Résultats clés </a:t>
            </a:r>
            <a:endParaRPr sz="2000">
              <a:solidFill>
                <a:schemeClr val="dk2"/>
              </a:solidFill>
              <a:latin typeface="Epilogue SemiBold"/>
              <a:ea typeface="Epilogue SemiBold"/>
              <a:cs typeface="Epilogue SemiBold"/>
              <a:sym typeface="Epilogue SemiBold"/>
            </a:endParaRPr>
          </a:p>
          <a:p>
            <a:pPr indent="-317500" lvl="0" marL="457200" rtl="0" algn="just">
              <a:lnSpc>
                <a:spcPct val="115000"/>
              </a:lnSpc>
              <a:spcBef>
                <a:spcPts val="500"/>
              </a:spcBef>
              <a:spcAft>
                <a:spcPts val="0"/>
              </a:spcAft>
              <a:buClr>
                <a:schemeClr val="dk2"/>
              </a:buClr>
              <a:buSzPts val="1400"/>
              <a:buFont typeface="Albert Sans"/>
              <a:buChar char="●"/>
            </a:pPr>
            <a:r>
              <a:rPr lang="en">
                <a:solidFill>
                  <a:schemeClr val="dk1"/>
                </a:solidFill>
                <a:latin typeface="Albert Sans"/>
                <a:ea typeface="Albert Sans"/>
                <a:cs typeface="Albert Sans"/>
                <a:sym typeface="Albert Sans"/>
              </a:rPr>
              <a:t>Existence d’un potentiel ordinal généralisé</a:t>
            </a:r>
            <a:endParaRPr>
              <a:solidFill>
                <a:schemeClr val="dk1"/>
              </a:solidFill>
              <a:latin typeface="Albert Sans"/>
              <a:ea typeface="Albert Sans"/>
              <a:cs typeface="Albert Sans"/>
              <a:sym typeface="Albert Sans"/>
            </a:endParaRPr>
          </a:p>
          <a:p>
            <a:pPr indent="-317500" lvl="0" marL="457200" rtl="0" algn="just">
              <a:lnSpc>
                <a:spcPct val="115000"/>
              </a:lnSpc>
              <a:spcBef>
                <a:spcPts val="500"/>
              </a:spcBef>
              <a:spcAft>
                <a:spcPts val="0"/>
              </a:spcAft>
              <a:buClr>
                <a:schemeClr val="dk2"/>
              </a:buClr>
              <a:buSzPts val="1400"/>
              <a:buFont typeface="Albert Sans"/>
              <a:buChar char="●"/>
            </a:pPr>
            <a:r>
              <a:rPr lang="en">
                <a:solidFill>
                  <a:schemeClr val="dk1"/>
                </a:solidFill>
                <a:latin typeface="Albert Sans"/>
                <a:ea typeface="Albert Sans"/>
                <a:cs typeface="Albert Sans"/>
                <a:sym typeface="Albert Sans"/>
              </a:rPr>
              <a:t>Existence d’équilibres de Nash purs</a:t>
            </a:r>
            <a:endParaRPr>
              <a:solidFill>
                <a:schemeClr val="dk1"/>
              </a:solidFill>
              <a:latin typeface="Albert Sans"/>
              <a:ea typeface="Albert Sans"/>
              <a:cs typeface="Albert Sans"/>
              <a:sym typeface="Albert Sans"/>
            </a:endParaRPr>
          </a:p>
          <a:p>
            <a:pPr indent="-317500" lvl="0" marL="457200" rtl="0" algn="just">
              <a:lnSpc>
                <a:spcPct val="115000"/>
              </a:lnSpc>
              <a:spcBef>
                <a:spcPts val="500"/>
              </a:spcBef>
              <a:spcAft>
                <a:spcPts val="500"/>
              </a:spcAft>
              <a:buClr>
                <a:schemeClr val="dk2"/>
              </a:buClr>
              <a:buSzPts val="1400"/>
              <a:buFont typeface="Albert Sans"/>
              <a:buChar char="●"/>
            </a:pPr>
            <a:r>
              <a:rPr lang="en">
                <a:solidFill>
                  <a:schemeClr val="dk1"/>
                </a:solidFill>
                <a:latin typeface="Albert Sans"/>
                <a:ea typeface="Albert Sans"/>
                <a:cs typeface="Albert Sans"/>
                <a:sym typeface="Albert Sans"/>
              </a:rPr>
              <a:t>Existence d’équilibres </a:t>
            </a:r>
            <a:r>
              <a:rPr lang="en">
                <a:solidFill>
                  <a:schemeClr val="dk1"/>
                </a:solidFill>
                <a:latin typeface="Albert Sans"/>
                <a:ea typeface="Albert Sans"/>
                <a:cs typeface="Albert Sans"/>
                <a:sym typeface="Albert Sans"/>
              </a:rPr>
              <a:t>prior-free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8"/>
          <p:cNvSpPr txBox="1"/>
          <p:nvPr>
            <p:ph idx="2" type="subTitle"/>
          </p:nvPr>
        </p:nvSpPr>
        <p:spPr>
          <a:xfrm>
            <a:off x="1537800" y="3283850"/>
            <a:ext cx="6714900" cy="14145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b="1" lang="en"/>
              <a:t>Voisins sortants : </a:t>
            </a:r>
            <a:r>
              <a:rPr lang="en">
                <a:solidFill>
                  <a:srgbClr val="B45F06"/>
                </a:solidFill>
              </a:rPr>
              <a:t>N</a:t>
            </a:r>
            <a:r>
              <a:rPr baseline="-25000" lang="en">
                <a:solidFill>
                  <a:srgbClr val="B45F06"/>
                </a:solidFill>
              </a:rPr>
              <a:t>i</a:t>
            </a:r>
            <a:r>
              <a:rPr baseline="30000" lang="en">
                <a:solidFill>
                  <a:srgbClr val="B45F06"/>
                </a:solidFill>
              </a:rPr>
              <a:t>+</a:t>
            </a:r>
            <a:r>
              <a:rPr lang="en"/>
              <a:t> = {j | (i,j) ∈ E},   </a:t>
            </a:r>
            <a:r>
              <a:rPr lang="en">
                <a:solidFill>
                  <a:srgbClr val="B45F06"/>
                </a:solidFill>
              </a:rPr>
              <a:t>|</a:t>
            </a:r>
            <a:r>
              <a:rPr lang="en">
                <a:solidFill>
                  <a:srgbClr val="B45F06"/>
                </a:solidFill>
              </a:rPr>
              <a:t>N</a:t>
            </a:r>
            <a:r>
              <a:rPr baseline="-25000" lang="en">
                <a:solidFill>
                  <a:srgbClr val="B45F06"/>
                </a:solidFill>
              </a:rPr>
              <a:t>i</a:t>
            </a:r>
            <a:r>
              <a:rPr baseline="30000" lang="en">
                <a:solidFill>
                  <a:srgbClr val="B45F06"/>
                </a:solidFill>
              </a:rPr>
              <a:t>+</a:t>
            </a:r>
            <a:r>
              <a:rPr lang="en">
                <a:solidFill>
                  <a:srgbClr val="B45F06"/>
                </a:solidFill>
              </a:rPr>
              <a:t>|</a:t>
            </a:r>
            <a:r>
              <a:rPr lang="en"/>
              <a:t> = degré sortant de  i</a:t>
            </a:r>
            <a:endParaRPr/>
          </a:p>
          <a:p>
            <a:pPr indent="0" lvl="0" marL="0" rtl="0" algn="just">
              <a:spcBef>
                <a:spcPts val="500"/>
              </a:spcBef>
              <a:spcAft>
                <a:spcPts val="0"/>
              </a:spcAft>
              <a:buNone/>
            </a:pPr>
            <a:r>
              <a:rPr b="1" lang="en"/>
              <a:t>Chemin </a:t>
            </a:r>
            <a:r>
              <a:rPr lang="en"/>
              <a:t>: suite d’arêtes orientées successives</a:t>
            </a:r>
            <a:endParaRPr/>
          </a:p>
          <a:p>
            <a:pPr indent="0" lvl="0" marL="0" rtl="0" algn="just">
              <a:spcBef>
                <a:spcPts val="500"/>
              </a:spcBef>
              <a:spcAft>
                <a:spcPts val="500"/>
              </a:spcAft>
              <a:buNone/>
            </a:pPr>
            <a:r>
              <a:rPr b="1" lang="en"/>
              <a:t>Graphe fortement connexe : </a:t>
            </a:r>
            <a:r>
              <a:rPr lang="en"/>
              <a:t>pour tout i,j∈V, il existe un chemin de i vers j et </a:t>
            </a:r>
            <a:r>
              <a:rPr lang="en"/>
              <a:t>un chemin de j vers i </a:t>
            </a:r>
            <a:endParaRPr/>
          </a:p>
        </p:txBody>
      </p:sp>
      <p:sp>
        <p:nvSpPr>
          <p:cNvPr id="287" name="Google Shape;287;p38"/>
          <p:cNvSpPr txBox="1"/>
          <p:nvPr>
            <p:ph type="title"/>
          </p:nvPr>
        </p:nvSpPr>
        <p:spPr>
          <a:xfrm>
            <a:off x="716550" y="35525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3.Terminologie</a:t>
            </a:r>
            <a:endParaRPr/>
          </a:p>
        </p:txBody>
      </p:sp>
      <p:sp>
        <p:nvSpPr>
          <p:cNvPr id="288" name="Google Shape;288;p38"/>
          <p:cNvSpPr txBox="1"/>
          <p:nvPr>
            <p:ph idx="1" type="subTitle"/>
          </p:nvPr>
        </p:nvSpPr>
        <p:spPr>
          <a:xfrm>
            <a:off x="1823700" y="1434475"/>
            <a:ext cx="5496600" cy="1351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b="1" lang="en">
                <a:solidFill>
                  <a:srgbClr val="B45F06"/>
                </a:solidFill>
              </a:rPr>
              <a:t>G =(V,E)</a:t>
            </a:r>
            <a:r>
              <a:rPr lang="en"/>
              <a:t> : graphe orienté représentant le réseau social</a:t>
            </a:r>
            <a:endParaRPr/>
          </a:p>
          <a:p>
            <a:pPr indent="-317500" lvl="0" marL="457200" rtl="0" algn="l">
              <a:spcBef>
                <a:spcPts val="500"/>
              </a:spcBef>
              <a:spcAft>
                <a:spcPts val="0"/>
              </a:spcAft>
              <a:buClr>
                <a:schemeClr val="dk2"/>
              </a:buClr>
              <a:buSzPts val="1400"/>
              <a:buChar char="●"/>
            </a:pPr>
            <a:r>
              <a:rPr b="1" lang="en">
                <a:solidFill>
                  <a:srgbClr val="B45F06"/>
                </a:solidFill>
              </a:rPr>
              <a:t>V={1,…,n}</a:t>
            </a:r>
            <a:r>
              <a:rPr b="1" lang="en"/>
              <a:t> </a:t>
            </a:r>
            <a:r>
              <a:rPr lang="en"/>
              <a:t>: ensemble des agents</a:t>
            </a:r>
            <a:endParaRPr/>
          </a:p>
          <a:p>
            <a:pPr indent="-317500" lvl="0" marL="457200" rtl="0" algn="l">
              <a:spcBef>
                <a:spcPts val="500"/>
              </a:spcBef>
              <a:spcAft>
                <a:spcPts val="0"/>
              </a:spcAft>
              <a:buClr>
                <a:schemeClr val="dk2"/>
              </a:buClr>
              <a:buSzPts val="1400"/>
              <a:buChar char="●"/>
            </a:pPr>
            <a:r>
              <a:rPr b="1" lang="en">
                <a:solidFill>
                  <a:srgbClr val="B45F06"/>
                </a:solidFill>
              </a:rPr>
              <a:t>E⊆V×V</a:t>
            </a:r>
            <a:r>
              <a:rPr lang="en"/>
              <a:t> : relations de transfert de responsabilité</a:t>
            </a:r>
            <a:endParaRPr/>
          </a:p>
          <a:p>
            <a:pPr indent="-317500" lvl="0" marL="457200" rtl="0" algn="l">
              <a:spcBef>
                <a:spcPts val="500"/>
              </a:spcBef>
              <a:spcAft>
                <a:spcPts val="500"/>
              </a:spcAft>
              <a:buClr>
                <a:schemeClr val="dk2"/>
              </a:buClr>
              <a:buSzPts val="1400"/>
              <a:buChar char="●"/>
            </a:pPr>
            <a:r>
              <a:rPr lang="en"/>
              <a:t>Graphe simple, sans boucles</a:t>
            </a:r>
            <a:endParaRPr/>
          </a:p>
        </p:txBody>
      </p:sp>
      <p:sp>
        <p:nvSpPr>
          <p:cNvPr id="289" name="Google Shape;289;p38"/>
          <p:cNvSpPr txBox="1"/>
          <p:nvPr>
            <p:ph idx="7" type="subTitle"/>
          </p:nvPr>
        </p:nvSpPr>
        <p:spPr>
          <a:xfrm>
            <a:off x="716550" y="856100"/>
            <a:ext cx="7710900" cy="74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Graphe du modèle</a:t>
            </a:r>
            <a:endParaRPr>
              <a:solidFill>
                <a:schemeClr val="dk2"/>
              </a:solidFill>
            </a:endParaRPr>
          </a:p>
        </p:txBody>
      </p:sp>
      <p:sp>
        <p:nvSpPr>
          <p:cNvPr id="290" name="Google Shape;290;p38"/>
          <p:cNvSpPr txBox="1"/>
          <p:nvPr>
            <p:ph idx="8" type="subTitle"/>
          </p:nvPr>
        </p:nvSpPr>
        <p:spPr>
          <a:xfrm>
            <a:off x="716552" y="2724250"/>
            <a:ext cx="7710900" cy="74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Notions de base </a:t>
            </a: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9"/>
          <p:cNvSpPr txBox="1"/>
          <p:nvPr>
            <p:ph idx="2" type="subTitle"/>
          </p:nvPr>
        </p:nvSpPr>
        <p:spPr>
          <a:xfrm>
            <a:off x="3434675" y="1702449"/>
            <a:ext cx="2422800" cy="11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chaque sommet a un degré sortant = 1</a:t>
            </a:r>
            <a:endParaRPr/>
          </a:p>
          <a:p>
            <a:pPr indent="0" lvl="0" marL="0" rtl="0" algn="l">
              <a:spcBef>
                <a:spcPts val="500"/>
              </a:spcBef>
              <a:spcAft>
                <a:spcPts val="0"/>
              </a:spcAft>
              <a:buNone/>
            </a:pPr>
            <a:r>
              <a:rPr lang="en"/>
              <a:t>- contient exactement un cycle</a:t>
            </a:r>
            <a:endParaRPr/>
          </a:p>
          <a:p>
            <a:pPr indent="0" lvl="0" marL="0" rtl="0" algn="just">
              <a:spcBef>
                <a:spcPts val="500"/>
              </a:spcBef>
              <a:spcAft>
                <a:spcPts val="0"/>
              </a:spcAft>
              <a:buNone/>
            </a:pPr>
            <a:r>
              <a:t/>
            </a:r>
            <a:endParaRPr b="1">
              <a:solidFill>
                <a:srgbClr val="38761D"/>
              </a:solidFill>
            </a:endParaRPr>
          </a:p>
          <a:p>
            <a:pPr indent="0" lvl="0" marL="0" rtl="0" algn="just">
              <a:spcBef>
                <a:spcPts val="0"/>
              </a:spcBef>
              <a:spcAft>
                <a:spcPts val="0"/>
              </a:spcAft>
              <a:buNone/>
            </a:pPr>
            <a:r>
              <a:t/>
            </a:r>
            <a:endParaRPr b="1"/>
          </a:p>
        </p:txBody>
      </p:sp>
      <p:sp>
        <p:nvSpPr>
          <p:cNvPr id="296" name="Google Shape;296;p39"/>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4.Structures clés</a:t>
            </a:r>
            <a:endParaRPr/>
          </a:p>
        </p:txBody>
      </p:sp>
      <p:sp>
        <p:nvSpPr>
          <p:cNvPr id="297" name="Google Shape;297;p39"/>
          <p:cNvSpPr txBox="1"/>
          <p:nvPr>
            <p:ph idx="1" type="subTitle"/>
          </p:nvPr>
        </p:nvSpPr>
        <p:spPr>
          <a:xfrm>
            <a:off x="652525" y="1702449"/>
            <a:ext cx="2784300" cy="11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a:t>
            </a:r>
            <a:r>
              <a:rPr lang="en" sz="1300"/>
              <a:t> sous-graphe fortement connexe</a:t>
            </a:r>
            <a:endParaRPr sz="1300"/>
          </a:p>
          <a:p>
            <a:pPr indent="0" lvl="0" marL="0" rtl="0" algn="l">
              <a:spcBef>
                <a:spcPts val="500"/>
              </a:spcBef>
              <a:spcAft>
                <a:spcPts val="0"/>
              </a:spcAft>
              <a:buNone/>
            </a:pPr>
            <a:r>
              <a:rPr lang="en" sz="1300"/>
              <a:t>- chaque sommet a un degré sortant = 1</a:t>
            </a:r>
            <a:endParaRPr sz="1300"/>
          </a:p>
          <a:p>
            <a:pPr indent="0" lvl="0" marL="0" rtl="0" algn="just">
              <a:spcBef>
                <a:spcPts val="500"/>
              </a:spcBef>
              <a:spcAft>
                <a:spcPts val="0"/>
              </a:spcAft>
              <a:buNone/>
            </a:pPr>
            <a:r>
              <a:t/>
            </a:r>
            <a:endParaRPr b="1">
              <a:solidFill>
                <a:srgbClr val="38761D"/>
              </a:solidFill>
            </a:endParaRPr>
          </a:p>
        </p:txBody>
      </p:sp>
      <p:sp>
        <p:nvSpPr>
          <p:cNvPr id="298" name="Google Shape;298;p39"/>
          <p:cNvSpPr txBox="1"/>
          <p:nvPr>
            <p:ph idx="7" type="subTitle"/>
          </p:nvPr>
        </p:nvSpPr>
        <p:spPr>
          <a:xfrm>
            <a:off x="958951" y="1112135"/>
            <a:ext cx="2179200" cy="74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Cycle</a:t>
            </a:r>
            <a:endParaRPr>
              <a:solidFill>
                <a:schemeClr val="dk2"/>
              </a:solidFill>
            </a:endParaRPr>
          </a:p>
        </p:txBody>
      </p:sp>
      <p:sp>
        <p:nvSpPr>
          <p:cNvPr id="299" name="Google Shape;299;p39"/>
          <p:cNvSpPr txBox="1"/>
          <p:nvPr>
            <p:ph idx="8" type="subTitle"/>
          </p:nvPr>
        </p:nvSpPr>
        <p:spPr>
          <a:xfrm>
            <a:off x="3436813" y="1112138"/>
            <a:ext cx="2175000" cy="74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Unicycle</a:t>
            </a:r>
            <a:endParaRPr>
              <a:solidFill>
                <a:schemeClr val="dk2"/>
              </a:solidFill>
            </a:endParaRPr>
          </a:p>
        </p:txBody>
      </p:sp>
      <p:sp>
        <p:nvSpPr>
          <p:cNvPr id="300" name="Google Shape;300;p39"/>
          <p:cNvSpPr txBox="1"/>
          <p:nvPr>
            <p:ph idx="2" type="subTitle"/>
          </p:nvPr>
        </p:nvSpPr>
        <p:spPr>
          <a:xfrm>
            <a:off x="5857475" y="1750199"/>
            <a:ext cx="2321100" cy="1145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 pas de cycle</a:t>
            </a:r>
            <a:endParaRPr/>
          </a:p>
          <a:p>
            <a:pPr indent="0" lvl="0" marL="0" rtl="0" algn="just">
              <a:spcBef>
                <a:spcPts val="500"/>
              </a:spcBef>
              <a:spcAft>
                <a:spcPts val="0"/>
              </a:spcAft>
              <a:buNone/>
            </a:pPr>
            <a:r>
              <a:rPr lang="en"/>
              <a:t>- i a degré sortant 0</a:t>
            </a:r>
            <a:endParaRPr/>
          </a:p>
          <a:p>
            <a:pPr indent="0" lvl="0" marL="0" rtl="0" algn="just">
              <a:spcBef>
                <a:spcPts val="500"/>
              </a:spcBef>
              <a:spcAft>
                <a:spcPts val="0"/>
              </a:spcAft>
              <a:buNone/>
            </a:pPr>
            <a:r>
              <a:rPr lang="en"/>
              <a:t>- tous les autres sommets ont degré sortant 1</a:t>
            </a:r>
            <a:endParaRPr b="1"/>
          </a:p>
          <a:p>
            <a:pPr indent="0" lvl="0" marL="0" rtl="0" algn="just">
              <a:spcBef>
                <a:spcPts val="500"/>
              </a:spcBef>
              <a:spcAft>
                <a:spcPts val="0"/>
              </a:spcAft>
              <a:buNone/>
            </a:pPr>
            <a:r>
              <a:t/>
            </a:r>
            <a:endParaRPr/>
          </a:p>
        </p:txBody>
      </p:sp>
      <p:sp>
        <p:nvSpPr>
          <p:cNvPr id="301" name="Google Shape;301;p39"/>
          <p:cNvSpPr txBox="1"/>
          <p:nvPr>
            <p:ph idx="8" type="subTitle"/>
          </p:nvPr>
        </p:nvSpPr>
        <p:spPr>
          <a:xfrm>
            <a:off x="6005841" y="1159884"/>
            <a:ext cx="2175000" cy="74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Arbre enraciné en i</a:t>
            </a:r>
            <a:endParaRPr>
              <a:solidFill>
                <a:schemeClr val="dk2"/>
              </a:solidFill>
            </a:endParaRPr>
          </a:p>
        </p:txBody>
      </p:sp>
      <p:sp>
        <p:nvSpPr>
          <p:cNvPr id="302" name="Google Shape;302;p39"/>
          <p:cNvSpPr txBox="1"/>
          <p:nvPr/>
        </p:nvSpPr>
        <p:spPr>
          <a:xfrm>
            <a:off x="713225" y="2868164"/>
            <a:ext cx="2721600" cy="40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rgbClr val="38761D"/>
                </a:solidFill>
                <a:latin typeface="Albert Sans"/>
                <a:ea typeface="Albert Sans"/>
                <a:cs typeface="Albert Sans"/>
                <a:sym typeface="Albert Sans"/>
              </a:rPr>
              <a:t>Ex.</a:t>
            </a:r>
            <a:endParaRPr/>
          </a:p>
        </p:txBody>
      </p:sp>
      <p:sp>
        <p:nvSpPr>
          <p:cNvPr id="303" name="Google Shape;303;p39"/>
          <p:cNvSpPr txBox="1"/>
          <p:nvPr/>
        </p:nvSpPr>
        <p:spPr>
          <a:xfrm>
            <a:off x="3436825" y="2909564"/>
            <a:ext cx="2321100" cy="40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rgbClr val="38761D"/>
                </a:solidFill>
                <a:latin typeface="Albert Sans"/>
                <a:ea typeface="Albert Sans"/>
                <a:cs typeface="Albert Sans"/>
                <a:sym typeface="Albert Sans"/>
              </a:rPr>
              <a:t>Ex.</a:t>
            </a:r>
            <a:endParaRPr/>
          </a:p>
        </p:txBody>
      </p:sp>
      <p:sp>
        <p:nvSpPr>
          <p:cNvPr id="304" name="Google Shape;304;p39"/>
          <p:cNvSpPr txBox="1"/>
          <p:nvPr/>
        </p:nvSpPr>
        <p:spPr>
          <a:xfrm>
            <a:off x="5857475" y="2909564"/>
            <a:ext cx="2175000" cy="40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rgbClr val="38761D"/>
                </a:solidFill>
                <a:latin typeface="Albert Sans"/>
                <a:ea typeface="Albert Sans"/>
                <a:cs typeface="Albert Sans"/>
                <a:sym typeface="Albert Sans"/>
              </a:rPr>
              <a:t>Ex.</a:t>
            </a:r>
            <a:endParaRPr/>
          </a:p>
        </p:txBody>
      </p:sp>
      <p:pic>
        <p:nvPicPr>
          <p:cNvPr id="305" name="Google Shape;305;p39" title="cycle.png"/>
          <p:cNvPicPr preferRelativeResize="0"/>
          <p:nvPr/>
        </p:nvPicPr>
        <p:blipFill>
          <a:blip r:embed="rId4">
            <a:alphaModFix/>
          </a:blip>
          <a:stretch>
            <a:fillRect/>
          </a:stretch>
        </p:blipFill>
        <p:spPr>
          <a:xfrm>
            <a:off x="1274350" y="3010255"/>
            <a:ext cx="1584425" cy="1488400"/>
          </a:xfrm>
          <a:prstGeom prst="rect">
            <a:avLst/>
          </a:prstGeom>
          <a:noFill/>
          <a:ln>
            <a:noFill/>
          </a:ln>
        </p:spPr>
      </p:pic>
      <p:pic>
        <p:nvPicPr>
          <p:cNvPr id="306" name="Google Shape;306;p39" title="unicycle.png"/>
          <p:cNvPicPr preferRelativeResize="0"/>
          <p:nvPr/>
        </p:nvPicPr>
        <p:blipFill>
          <a:blip r:embed="rId5">
            <a:alphaModFix/>
          </a:blip>
          <a:stretch>
            <a:fillRect/>
          </a:stretch>
        </p:blipFill>
        <p:spPr>
          <a:xfrm>
            <a:off x="3922875" y="3010250"/>
            <a:ext cx="1835049" cy="1816207"/>
          </a:xfrm>
          <a:prstGeom prst="rect">
            <a:avLst/>
          </a:prstGeom>
          <a:noFill/>
          <a:ln>
            <a:noFill/>
          </a:ln>
        </p:spPr>
      </p:pic>
      <p:pic>
        <p:nvPicPr>
          <p:cNvPr id="307" name="Google Shape;307;p39" title="arbre (1).png"/>
          <p:cNvPicPr preferRelativeResize="0"/>
          <p:nvPr/>
        </p:nvPicPr>
        <p:blipFill>
          <a:blip r:embed="rId6">
            <a:alphaModFix/>
          </a:blip>
          <a:stretch>
            <a:fillRect/>
          </a:stretch>
        </p:blipFill>
        <p:spPr>
          <a:xfrm>
            <a:off x="6335975" y="2993962"/>
            <a:ext cx="1844874" cy="182596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0"/>
          <p:cNvSpPr txBox="1"/>
          <p:nvPr>
            <p:ph type="title"/>
          </p:nvPr>
        </p:nvSpPr>
        <p:spPr>
          <a:xfrm>
            <a:off x="909300" y="2225850"/>
            <a:ext cx="7325400" cy="1725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Buck passing game : version déterministe</a:t>
            </a:r>
            <a:endParaRPr/>
          </a:p>
        </p:txBody>
      </p:sp>
      <p:sp>
        <p:nvSpPr>
          <p:cNvPr id="313" name="Google Shape;313;p40"/>
          <p:cNvSpPr txBox="1"/>
          <p:nvPr>
            <p:ph idx="2" type="title"/>
          </p:nvPr>
        </p:nvSpPr>
        <p:spPr>
          <a:xfrm>
            <a:off x="4048350" y="913316"/>
            <a:ext cx="1047300" cy="969600"/>
          </a:xfrm>
          <a:prstGeom prst="rect">
            <a:avLst/>
          </a:prstGeom>
          <a:solidFill>
            <a:srgbClr val="3C51A9"/>
          </a:solidFill>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314" name="Google Shape;314;p40"/>
          <p:cNvGrpSpPr/>
          <p:nvPr/>
        </p:nvGrpSpPr>
        <p:grpSpPr>
          <a:xfrm>
            <a:off x="7731792" y="683864"/>
            <a:ext cx="709214" cy="351346"/>
            <a:chOff x="7731792" y="683864"/>
            <a:chExt cx="709214" cy="351346"/>
          </a:xfrm>
        </p:grpSpPr>
        <p:pic>
          <p:nvPicPr>
            <p:cNvPr id="315" name="Google Shape;315;p40"/>
            <p:cNvPicPr preferRelativeResize="0"/>
            <p:nvPr/>
          </p:nvPicPr>
          <p:blipFill rotWithShape="1">
            <a:blip r:embed="rId3">
              <a:alphaModFix/>
            </a:blip>
            <a:srcRect b="16825" l="13625" r="22284" t="16222"/>
            <a:stretch/>
          </p:blipFill>
          <p:spPr>
            <a:xfrm>
              <a:off x="8083232" y="683864"/>
              <a:ext cx="357774" cy="351346"/>
            </a:xfrm>
            <a:prstGeom prst="rect">
              <a:avLst/>
            </a:prstGeom>
            <a:noFill/>
            <a:ln>
              <a:noFill/>
            </a:ln>
          </p:spPr>
        </p:pic>
        <p:pic>
          <p:nvPicPr>
            <p:cNvPr id="316" name="Google Shape;316;p40"/>
            <p:cNvPicPr preferRelativeResize="0"/>
            <p:nvPr/>
          </p:nvPicPr>
          <p:blipFill rotWithShape="1">
            <a:blip r:embed="rId4">
              <a:alphaModFix/>
            </a:blip>
            <a:srcRect b="16523" l="18541" r="17368" t="16523"/>
            <a:stretch/>
          </p:blipFill>
          <p:spPr>
            <a:xfrm>
              <a:off x="7731792" y="683864"/>
              <a:ext cx="357774" cy="351346"/>
            </a:xfrm>
            <a:prstGeom prst="rect">
              <a:avLst/>
            </a:prstGeom>
            <a:noFill/>
            <a:ln>
              <a:noFill/>
            </a:ln>
          </p:spPr>
        </p:pic>
      </p:grpSp>
      <p:pic>
        <p:nvPicPr>
          <p:cNvPr id="317" name="Google Shape;317;p40"/>
          <p:cNvPicPr preferRelativeResize="0"/>
          <p:nvPr/>
        </p:nvPicPr>
        <p:blipFill rotWithShape="1">
          <a:blip r:embed="rId3">
            <a:alphaModFix/>
          </a:blip>
          <a:srcRect b="16825" l="13625" r="22284" t="16222"/>
          <a:stretch/>
        </p:blipFill>
        <p:spPr>
          <a:xfrm>
            <a:off x="7727549" y="1711192"/>
            <a:ext cx="357774" cy="351346"/>
          </a:xfrm>
          <a:prstGeom prst="rect">
            <a:avLst/>
          </a:prstGeom>
          <a:noFill/>
          <a:ln>
            <a:noFill/>
          </a:ln>
        </p:spPr>
      </p:pic>
      <p:grpSp>
        <p:nvGrpSpPr>
          <p:cNvPr id="318" name="Google Shape;318;p40"/>
          <p:cNvGrpSpPr/>
          <p:nvPr/>
        </p:nvGrpSpPr>
        <p:grpSpPr>
          <a:xfrm>
            <a:off x="6322547" y="1026306"/>
            <a:ext cx="709021" cy="693789"/>
            <a:chOff x="6322547" y="1123984"/>
            <a:chExt cx="709021" cy="693789"/>
          </a:xfrm>
        </p:grpSpPr>
        <p:pic>
          <p:nvPicPr>
            <p:cNvPr id="319" name="Google Shape;319;p40"/>
            <p:cNvPicPr preferRelativeResize="0"/>
            <p:nvPr/>
          </p:nvPicPr>
          <p:blipFill rotWithShape="1">
            <a:blip r:embed="rId3">
              <a:alphaModFix/>
            </a:blip>
            <a:srcRect b="16825" l="13625" r="22284" t="16222"/>
            <a:stretch/>
          </p:blipFill>
          <p:spPr>
            <a:xfrm>
              <a:off x="6673794" y="1123984"/>
              <a:ext cx="357774" cy="351346"/>
            </a:xfrm>
            <a:prstGeom prst="rect">
              <a:avLst/>
            </a:prstGeom>
            <a:noFill/>
            <a:ln>
              <a:noFill/>
            </a:ln>
          </p:spPr>
        </p:pic>
        <p:pic>
          <p:nvPicPr>
            <p:cNvPr id="320" name="Google Shape;320;p40"/>
            <p:cNvPicPr preferRelativeResize="0"/>
            <p:nvPr/>
          </p:nvPicPr>
          <p:blipFill rotWithShape="1">
            <a:blip r:embed="rId3">
              <a:alphaModFix/>
            </a:blip>
            <a:srcRect b="16825" l="13625" r="22284" t="16222"/>
            <a:stretch/>
          </p:blipFill>
          <p:spPr>
            <a:xfrm>
              <a:off x="6322547" y="1123984"/>
              <a:ext cx="357774" cy="351346"/>
            </a:xfrm>
            <a:prstGeom prst="rect">
              <a:avLst/>
            </a:prstGeom>
            <a:noFill/>
            <a:ln>
              <a:noFill/>
            </a:ln>
          </p:spPr>
        </p:pic>
        <p:pic>
          <p:nvPicPr>
            <p:cNvPr id="321" name="Google Shape;321;p40"/>
            <p:cNvPicPr preferRelativeResize="0"/>
            <p:nvPr/>
          </p:nvPicPr>
          <p:blipFill rotWithShape="1">
            <a:blip r:embed="rId3">
              <a:alphaModFix/>
            </a:blip>
            <a:srcRect b="16825" l="13625" r="22284" t="16222"/>
            <a:stretch/>
          </p:blipFill>
          <p:spPr>
            <a:xfrm>
              <a:off x="6673794" y="1466427"/>
              <a:ext cx="357774" cy="351346"/>
            </a:xfrm>
            <a:prstGeom prst="rect">
              <a:avLst/>
            </a:prstGeom>
            <a:noFill/>
            <a:ln>
              <a:noFill/>
            </a:ln>
          </p:spPr>
        </p:pic>
        <p:pic>
          <p:nvPicPr>
            <p:cNvPr id="322" name="Google Shape;322;p40"/>
            <p:cNvPicPr preferRelativeResize="0"/>
            <p:nvPr/>
          </p:nvPicPr>
          <p:blipFill rotWithShape="1">
            <a:blip r:embed="rId3">
              <a:alphaModFix/>
            </a:blip>
            <a:srcRect b="16825" l="13625" r="22284" t="16222"/>
            <a:stretch/>
          </p:blipFill>
          <p:spPr>
            <a:xfrm>
              <a:off x="6322547" y="1466427"/>
              <a:ext cx="357774" cy="351346"/>
            </a:xfrm>
            <a:prstGeom prst="rect">
              <a:avLst/>
            </a:prstGeom>
            <a:noFill/>
            <a:ln>
              <a:noFill/>
            </a:ln>
          </p:spPr>
        </p:pic>
      </p:grpSp>
      <p:pic>
        <p:nvPicPr>
          <p:cNvPr id="323" name="Google Shape;323;p40"/>
          <p:cNvPicPr preferRelativeResize="0"/>
          <p:nvPr/>
        </p:nvPicPr>
        <p:blipFill rotWithShape="1">
          <a:blip r:embed="rId4">
            <a:alphaModFix/>
          </a:blip>
          <a:srcRect b="16523" l="18541" r="17368" t="16523"/>
          <a:stretch/>
        </p:blipFill>
        <p:spPr>
          <a:xfrm>
            <a:off x="8078796" y="3423404"/>
            <a:ext cx="357774" cy="351346"/>
          </a:xfrm>
          <a:prstGeom prst="rect">
            <a:avLst/>
          </a:prstGeom>
          <a:noFill/>
          <a:ln>
            <a:noFill/>
          </a:ln>
        </p:spPr>
      </p:pic>
      <p:sp>
        <p:nvSpPr>
          <p:cNvPr id="324" name="Google Shape;324;p40"/>
          <p:cNvSpPr/>
          <p:nvPr/>
        </p:nvSpPr>
        <p:spPr>
          <a:xfrm>
            <a:off x="1084884" y="34845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0"/>
          <p:cNvSpPr/>
          <p:nvPr/>
        </p:nvSpPr>
        <p:spPr>
          <a:xfrm>
            <a:off x="6359455" y="445386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0"/>
          <p:cNvSpPr/>
          <p:nvPr/>
        </p:nvSpPr>
        <p:spPr>
          <a:xfrm>
            <a:off x="6359455" y="1401613"/>
            <a:ext cx="310800" cy="310800"/>
          </a:xfrm>
          <a:prstGeom prst="rect">
            <a:avLst/>
          </a:prstGeom>
          <a:solidFill>
            <a:schemeClr val="dk1"/>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1"/>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Idée </a:t>
            </a:r>
            <a:r>
              <a:rPr lang="en"/>
              <a:t>générale</a:t>
            </a:r>
            <a:r>
              <a:rPr lang="en"/>
              <a:t>  du jeu </a:t>
            </a:r>
            <a:r>
              <a:rPr lang="en"/>
              <a:t>déterministe</a:t>
            </a:r>
            <a:endParaRPr/>
          </a:p>
        </p:txBody>
      </p:sp>
      <p:sp>
        <p:nvSpPr>
          <p:cNvPr id="332" name="Google Shape;332;p41"/>
          <p:cNvSpPr txBox="1"/>
          <p:nvPr>
            <p:ph idx="1" type="subTitle"/>
          </p:nvPr>
        </p:nvSpPr>
        <p:spPr>
          <a:xfrm>
            <a:off x="1197600" y="1307550"/>
            <a:ext cx="6755700" cy="314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a :</a:t>
            </a:r>
            <a:endParaRPr/>
          </a:p>
          <a:p>
            <a:pPr indent="0" lvl="0" marL="0" rtl="0" algn="l">
              <a:spcBef>
                <a:spcPts val="0"/>
              </a:spcBef>
              <a:spcAft>
                <a:spcPts val="0"/>
              </a:spcAft>
              <a:buNone/>
            </a:pPr>
            <a:r>
              <a:t/>
            </a:r>
            <a:endParaRPr/>
          </a:p>
          <a:p>
            <a:pPr indent="-317500" lvl="0" marL="457200" rtl="0" algn="l">
              <a:spcBef>
                <a:spcPts val="0"/>
              </a:spcBef>
              <a:spcAft>
                <a:spcPts val="0"/>
              </a:spcAft>
              <a:buClr>
                <a:schemeClr val="dk2"/>
              </a:buClr>
              <a:buSzPts val="1400"/>
              <a:buChar char="●"/>
            </a:pPr>
            <a:r>
              <a:rPr lang="en"/>
              <a:t>un graphe orienté </a:t>
            </a:r>
            <a:r>
              <a:rPr lang="en">
                <a:solidFill>
                  <a:srgbClr val="B45F06"/>
                </a:solidFill>
              </a:rPr>
              <a:t>G = (V, E)</a:t>
            </a:r>
            <a:r>
              <a:rPr lang="en"/>
              <a:t> </a:t>
            </a:r>
            <a:endParaRPr/>
          </a:p>
          <a:p>
            <a:pPr indent="-317500" lvl="0" marL="457200" rtl="0" algn="l">
              <a:spcBef>
                <a:spcPts val="500"/>
              </a:spcBef>
              <a:spcAft>
                <a:spcPts val="0"/>
              </a:spcAft>
              <a:buClr>
                <a:schemeClr val="dk2"/>
              </a:buClr>
              <a:buSzPts val="1400"/>
              <a:buChar char="●"/>
            </a:pPr>
            <a:r>
              <a:rPr lang="en"/>
              <a:t>chaque sommet = un joueur</a:t>
            </a:r>
            <a:endParaRPr/>
          </a:p>
          <a:p>
            <a:pPr indent="-317500" lvl="0" marL="457200" rtl="0" algn="l">
              <a:spcBef>
                <a:spcPts val="500"/>
              </a:spcBef>
              <a:spcAft>
                <a:spcPts val="0"/>
              </a:spcAft>
              <a:buClr>
                <a:schemeClr val="dk2"/>
              </a:buClr>
              <a:buSzPts val="1400"/>
              <a:buChar char="●"/>
            </a:pPr>
            <a:r>
              <a:rPr lang="en"/>
              <a:t>chaque arête  (i,j)  = i peut passer la responsabilité (le buck) à j</a:t>
            </a:r>
            <a:endParaRPr/>
          </a:p>
          <a:p>
            <a:pPr indent="-317500" lvl="0" marL="457200" rtl="0" algn="l">
              <a:spcBef>
                <a:spcPts val="500"/>
              </a:spcBef>
              <a:spcAft>
                <a:spcPts val="0"/>
              </a:spcAft>
              <a:buClr>
                <a:schemeClr val="dk2"/>
              </a:buClr>
              <a:buSzPts val="1400"/>
              <a:buChar char="●"/>
            </a:pPr>
            <a:r>
              <a:rPr lang="en"/>
              <a:t>chaque joueur choisit une fois pour toutes </a:t>
            </a:r>
            <a:r>
              <a:rPr b="1" lang="en"/>
              <a:t>UN </a:t>
            </a:r>
            <a:r>
              <a:rPr lang="en"/>
              <a:t>voisin sortant</a:t>
            </a:r>
            <a:endParaRPr/>
          </a:p>
          <a:p>
            <a:pPr indent="0" lvl="0" marL="0" rtl="0" algn="l">
              <a:spcBef>
                <a:spcPts val="500"/>
              </a:spcBef>
              <a:spcAft>
                <a:spcPts val="0"/>
              </a:spcAft>
              <a:buNone/>
            </a:pPr>
            <a:r>
              <a:t/>
            </a:r>
            <a:endParaRPr/>
          </a:p>
          <a:p>
            <a:pPr indent="-317500" lvl="0" marL="457200" rtl="0" algn="l">
              <a:spcBef>
                <a:spcPts val="0"/>
              </a:spcBef>
              <a:spcAft>
                <a:spcPts val="0"/>
              </a:spcAft>
              <a:buSzPts val="1400"/>
              <a:buChar char="➔"/>
            </a:pPr>
            <a:r>
              <a:rPr lang="en"/>
              <a:t>Pas de hasard dans les choix : </a:t>
            </a:r>
            <a:r>
              <a:rPr b="1" lang="en"/>
              <a:t>stratégies pures, fixes.</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grpSp>
        <p:nvGrpSpPr>
          <p:cNvPr id="333" name="Google Shape;333;p41"/>
          <p:cNvGrpSpPr/>
          <p:nvPr/>
        </p:nvGrpSpPr>
        <p:grpSpPr>
          <a:xfrm>
            <a:off x="7727549" y="3423404"/>
            <a:ext cx="709021" cy="1378674"/>
            <a:chOff x="7727549" y="3423404"/>
            <a:chExt cx="709021" cy="1378674"/>
          </a:xfrm>
        </p:grpSpPr>
        <p:pic>
          <p:nvPicPr>
            <p:cNvPr id="334" name="Google Shape;334;p41"/>
            <p:cNvPicPr preferRelativeResize="0"/>
            <p:nvPr/>
          </p:nvPicPr>
          <p:blipFill rotWithShape="1">
            <a:blip r:embed="rId3">
              <a:alphaModFix/>
            </a:blip>
            <a:srcRect b="16523" l="18541" r="17368" t="16523"/>
            <a:stretch/>
          </p:blipFill>
          <p:spPr>
            <a:xfrm>
              <a:off x="8078796" y="3423404"/>
              <a:ext cx="357774" cy="351346"/>
            </a:xfrm>
            <a:prstGeom prst="rect">
              <a:avLst/>
            </a:prstGeom>
            <a:noFill/>
            <a:ln>
              <a:noFill/>
            </a:ln>
          </p:spPr>
        </p:pic>
        <p:pic>
          <p:nvPicPr>
            <p:cNvPr id="335" name="Google Shape;335;p41"/>
            <p:cNvPicPr preferRelativeResize="0"/>
            <p:nvPr/>
          </p:nvPicPr>
          <p:blipFill rotWithShape="1">
            <a:blip r:embed="rId4">
              <a:alphaModFix/>
            </a:blip>
            <a:srcRect b="16825" l="13625" r="22284" t="16222"/>
            <a:stretch/>
          </p:blipFill>
          <p:spPr>
            <a:xfrm>
              <a:off x="8078796" y="3765847"/>
              <a:ext cx="357774" cy="351346"/>
            </a:xfrm>
            <a:prstGeom prst="rect">
              <a:avLst/>
            </a:prstGeom>
            <a:noFill/>
            <a:ln>
              <a:noFill/>
            </a:ln>
          </p:spPr>
        </p:pic>
        <p:pic>
          <p:nvPicPr>
            <p:cNvPr id="336" name="Google Shape;336;p41"/>
            <p:cNvPicPr preferRelativeResize="0"/>
            <p:nvPr/>
          </p:nvPicPr>
          <p:blipFill rotWithShape="1">
            <a:blip r:embed="rId4">
              <a:alphaModFix/>
            </a:blip>
            <a:srcRect b="16825" l="13625" r="22284" t="16222"/>
            <a:stretch/>
          </p:blipFill>
          <p:spPr>
            <a:xfrm>
              <a:off x="8078796" y="4108290"/>
              <a:ext cx="357774" cy="351346"/>
            </a:xfrm>
            <a:prstGeom prst="rect">
              <a:avLst/>
            </a:prstGeom>
            <a:noFill/>
            <a:ln>
              <a:noFill/>
            </a:ln>
          </p:spPr>
        </p:pic>
        <p:pic>
          <p:nvPicPr>
            <p:cNvPr id="337" name="Google Shape;337;p41"/>
            <p:cNvPicPr preferRelativeResize="0"/>
            <p:nvPr/>
          </p:nvPicPr>
          <p:blipFill rotWithShape="1">
            <a:blip r:embed="rId4">
              <a:alphaModFix/>
            </a:blip>
            <a:srcRect b="16825" l="13625" r="22284" t="16222"/>
            <a:stretch/>
          </p:blipFill>
          <p:spPr>
            <a:xfrm>
              <a:off x="8078796" y="4450732"/>
              <a:ext cx="357774" cy="351346"/>
            </a:xfrm>
            <a:prstGeom prst="rect">
              <a:avLst/>
            </a:prstGeom>
            <a:noFill/>
            <a:ln>
              <a:noFill/>
            </a:ln>
          </p:spPr>
        </p:pic>
        <p:pic>
          <p:nvPicPr>
            <p:cNvPr id="338" name="Google Shape;338;p41"/>
            <p:cNvPicPr preferRelativeResize="0"/>
            <p:nvPr/>
          </p:nvPicPr>
          <p:blipFill rotWithShape="1">
            <a:blip r:embed="rId4">
              <a:alphaModFix/>
            </a:blip>
            <a:srcRect b="16825" l="13625" r="22284" t="16222"/>
            <a:stretch/>
          </p:blipFill>
          <p:spPr>
            <a:xfrm>
              <a:off x="7727549" y="4450732"/>
              <a:ext cx="357774" cy="351346"/>
            </a:xfrm>
            <a:prstGeom prst="rect">
              <a:avLst/>
            </a:prstGeom>
            <a:noFill/>
            <a:ln>
              <a:noFill/>
            </a:ln>
          </p:spPr>
        </p:pic>
      </p:grpSp>
      <p:pic>
        <p:nvPicPr>
          <p:cNvPr id="339" name="Google Shape;339;p41"/>
          <p:cNvPicPr preferRelativeResize="0"/>
          <p:nvPr/>
        </p:nvPicPr>
        <p:blipFill rotWithShape="1">
          <a:blip r:embed="rId3">
            <a:alphaModFix/>
          </a:blip>
          <a:srcRect b="16523" l="18541" r="17368" t="16523"/>
          <a:stretch/>
        </p:blipFill>
        <p:spPr>
          <a:xfrm>
            <a:off x="8078796" y="3423404"/>
            <a:ext cx="357774" cy="35134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2"/>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Déroulement du jeu</a:t>
            </a:r>
            <a:endParaRPr/>
          </a:p>
        </p:txBody>
      </p:sp>
      <p:sp>
        <p:nvSpPr>
          <p:cNvPr id="345" name="Google Shape;345;p42"/>
          <p:cNvSpPr txBox="1"/>
          <p:nvPr>
            <p:ph idx="1" type="subTitle"/>
          </p:nvPr>
        </p:nvSpPr>
        <p:spPr>
          <a:xfrm>
            <a:off x="1416550" y="1564650"/>
            <a:ext cx="5875200" cy="2949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AutoNum type="arabicPeriod"/>
            </a:pPr>
            <a:r>
              <a:rPr b="1" lang="en"/>
              <a:t>Au temps 0 :</a:t>
            </a:r>
            <a:endParaRPr b="1"/>
          </a:p>
          <a:p>
            <a:pPr indent="-317500" lvl="0" marL="800100" rtl="0" algn="l">
              <a:spcBef>
                <a:spcPts val="0"/>
              </a:spcBef>
              <a:spcAft>
                <a:spcPts val="0"/>
              </a:spcAft>
              <a:buClr>
                <a:schemeClr val="lt2"/>
              </a:buClr>
              <a:buSzPts val="1400"/>
              <a:buChar char="●"/>
            </a:pPr>
            <a:r>
              <a:rPr lang="en"/>
              <a:t>La nature choisit un joueur initial selon une loi de probabilité </a:t>
            </a:r>
            <a:r>
              <a:rPr b="1" lang="en"/>
              <a:t>µ</a:t>
            </a:r>
            <a:r>
              <a:rPr lang="en"/>
              <a:t>.</a:t>
            </a:r>
            <a:endParaRPr/>
          </a:p>
          <a:p>
            <a:pPr indent="0" lvl="0" marL="0" rtl="0" algn="l">
              <a:spcBef>
                <a:spcPts val="0"/>
              </a:spcBef>
              <a:spcAft>
                <a:spcPts val="0"/>
              </a:spcAft>
              <a:buNone/>
            </a:pPr>
            <a:r>
              <a:t/>
            </a:r>
            <a:endParaRPr/>
          </a:p>
          <a:p>
            <a:pPr indent="-317500" lvl="0" marL="457200" rtl="0" algn="l">
              <a:spcBef>
                <a:spcPts val="0"/>
              </a:spcBef>
              <a:spcAft>
                <a:spcPts val="0"/>
              </a:spcAft>
              <a:buClr>
                <a:schemeClr val="dk2"/>
              </a:buClr>
              <a:buSzPts val="1400"/>
              <a:buAutoNum type="arabicPeriod"/>
            </a:pPr>
            <a:r>
              <a:rPr b="1" lang="en"/>
              <a:t>Ensuite :</a:t>
            </a:r>
            <a:endParaRPr b="1"/>
          </a:p>
          <a:p>
            <a:pPr indent="-317500" lvl="0" marL="800100" rtl="0" algn="l">
              <a:spcBef>
                <a:spcPts val="0"/>
              </a:spcBef>
              <a:spcAft>
                <a:spcPts val="0"/>
              </a:spcAft>
              <a:buClr>
                <a:schemeClr val="lt2"/>
              </a:buClr>
              <a:buSzPts val="1400"/>
              <a:buChar char="●"/>
            </a:pPr>
            <a:r>
              <a:rPr lang="en"/>
              <a:t>le joueur qui a le buck le passe à son voisin désigné</a:t>
            </a:r>
            <a:endParaRPr/>
          </a:p>
          <a:p>
            <a:pPr indent="-317500" lvl="0" marL="800100" rtl="0" algn="l">
              <a:spcBef>
                <a:spcPts val="0"/>
              </a:spcBef>
              <a:spcAft>
                <a:spcPts val="0"/>
              </a:spcAft>
              <a:buClr>
                <a:schemeClr val="lt2"/>
              </a:buClr>
              <a:buSzPts val="1400"/>
              <a:buChar char="●"/>
            </a:pPr>
            <a:r>
              <a:rPr lang="en"/>
              <a:t>ce voisin fait pareil</a:t>
            </a:r>
            <a:endParaRPr/>
          </a:p>
          <a:p>
            <a:pPr indent="-317500" lvl="0" marL="800100" rtl="0" algn="l">
              <a:spcBef>
                <a:spcPts val="0"/>
              </a:spcBef>
              <a:spcAft>
                <a:spcPts val="0"/>
              </a:spcAft>
              <a:buClr>
                <a:schemeClr val="lt2"/>
              </a:buClr>
              <a:buSzPts val="1400"/>
              <a:buChar char="●"/>
            </a:pPr>
            <a:r>
              <a:rPr lang="en"/>
              <a:t>etc., indéfiniment</a:t>
            </a:r>
            <a:endParaRPr/>
          </a:p>
          <a:p>
            <a:pPr indent="0" lvl="0" marL="800100" rtl="0" algn="l">
              <a:spcBef>
                <a:spcPts val="0"/>
              </a:spcBef>
              <a:spcAft>
                <a:spcPts val="0"/>
              </a:spcAft>
              <a:buNone/>
            </a:pPr>
            <a:r>
              <a:t/>
            </a:r>
            <a:endParaRPr/>
          </a:p>
          <a:p>
            <a:pPr indent="-317500" lvl="0" marL="457200" rtl="0" algn="l">
              <a:spcBef>
                <a:spcPts val="0"/>
              </a:spcBef>
              <a:spcAft>
                <a:spcPts val="0"/>
              </a:spcAft>
              <a:buSzPts val="1400"/>
              <a:buChar char="➔"/>
            </a:pPr>
            <a:r>
              <a:rPr lang="en"/>
              <a:t>Comme chaque joueur a exactement une sortie, le processus devient déterministe après le tirage initial.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46" name="Google Shape;346;p42"/>
          <p:cNvPicPr preferRelativeResize="0"/>
          <p:nvPr/>
        </p:nvPicPr>
        <p:blipFill rotWithShape="1">
          <a:blip r:embed="rId3">
            <a:alphaModFix/>
          </a:blip>
          <a:srcRect b="16825" l="13625" r="22284" t="16222"/>
          <a:stretch/>
        </p:blipFill>
        <p:spPr>
          <a:xfrm>
            <a:off x="1058778" y="3423412"/>
            <a:ext cx="357774" cy="35134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3"/>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Structure du jeu : unicycle et cycles</a:t>
            </a:r>
            <a:endParaRPr/>
          </a:p>
        </p:txBody>
      </p:sp>
      <p:sp>
        <p:nvSpPr>
          <p:cNvPr id="352" name="Google Shape;352;p43"/>
          <p:cNvSpPr txBox="1"/>
          <p:nvPr>
            <p:ph idx="1" type="subTitle"/>
          </p:nvPr>
        </p:nvSpPr>
        <p:spPr>
          <a:xfrm>
            <a:off x="1502427" y="1457684"/>
            <a:ext cx="5752800" cy="2848200"/>
          </a:xfrm>
          <a:prstGeom prst="rect">
            <a:avLst/>
          </a:prstGeom>
        </p:spPr>
        <p:txBody>
          <a:bodyPr anchorCtr="0" anchor="ctr" bIns="91425" lIns="91425" spcFirstLastPara="1" rIns="91425" wrap="square" tIns="91425">
            <a:noAutofit/>
          </a:bodyPr>
          <a:lstStyle/>
          <a:p>
            <a:pPr indent="0" lvl="0" marL="0" rtl="0" algn="l">
              <a:spcBef>
                <a:spcPts val="1200"/>
              </a:spcBef>
              <a:spcAft>
                <a:spcPts val="0"/>
              </a:spcAft>
              <a:buNone/>
            </a:pPr>
            <a:r>
              <a:rPr lang="en"/>
              <a:t>Quand chaque joueur choisit un voisin :</a:t>
            </a:r>
            <a:endParaRPr/>
          </a:p>
          <a:p>
            <a:pPr indent="-317500" lvl="0" marL="457200" rtl="0" algn="l">
              <a:spcBef>
                <a:spcPts val="1200"/>
              </a:spcBef>
              <a:spcAft>
                <a:spcPts val="0"/>
              </a:spcAft>
              <a:buClr>
                <a:schemeClr val="dk1"/>
              </a:buClr>
              <a:buSzPts val="1400"/>
              <a:buFont typeface="Arial"/>
              <a:buChar char="●"/>
            </a:pPr>
            <a:r>
              <a:rPr lang="en"/>
              <a:t>on obtient un graphe induit </a:t>
            </a:r>
            <a:r>
              <a:rPr b="1" lang="en">
                <a:solidFill>
                  <a:srgbClr val="B45F06"/>
                </a:solidFill>
              </a:rPr>
              <a:t>G</a:t>
            </a:r>
            <a:r>
              <a:rPr b="1" baseline="-25000" lang="en">
                <a:solidFill>
                  <a:srgbClr val="B45F06"/>
                </a:solidFill>
              </a:rPr>
              <a:t>s</a:t>
            </a:r>
            <a:r>
              <a:rPr baseline="-25000" lang="en"/>
              <a:t> </a:t>
            </a:r>
            <a:r>
              <a:rPr lang="en"/>
              <a:t> où chaque sommet a comme degré sortant 1</a:t>
            </a:r>
            <a:endParaRPr/>
          </a:p>
          <a:p>
            <a:pPr indent="-317500" lvl="0" marL="457200" rtl="0" algn="l">
              <a:spcBef>
                <a:spcPts val="500"/>
              </a:spcBef>
              <a:spcAft>
                <a:spcPts val="0"/>
              </a:spcAft>
              <a:buClr>
                <a:schemeClr val="dk1"/>
              </a:buClr>
              <a:buSzPts val="1400"/>
              <a:buChar char="●"/>
            </a:pPr>
            <a:r>
              <a:rPr lang="en"/>
              <a:t>donc :</a:t>
            </a:r>
            <a:endParaRPr/>
          </a:p>
          <a:p>
            <a:pPr indent="-317500" lvl="1" marL="914400" rtl="0" algn="l">
              <a:lnSpc>
                <a:spcPct val="115000"/>
              </a:lnSpc>
              <a:spcBef>
                <a:spcPts val="0"/>
              </a:spcBef>
              <a:spcAft>
                <a:spcPts val="0"/>
              </a:spcAft>
              <a:buClr>
                <a:schemeClr val="dk1"/>
              </a:buClr>
              <a:buSzPts val="1400"/>
              <a:buFont typeface="Arial"/>
              <a:buChar char="○"/>
            </a:pPr>
            <a:r>
              <a:rPr lang="en"/>
              <a:t>chaque composante contient exactement </a:t>
            </a:r>
            <a:r>
              <a:rPr b="1" lang="en"/>
              <a:t>un </a:t>
            </a:r>
            <a:r>
              <a:rPr lang="en"/>
              <a:t>cycle</a:t>
            </a:r>
            <a:endParaRPr/>
          </a:p>
          <a:p>
            <a:pPr indent="-317500" lvl="1" marL="914400" rtl="0" algn="l">
              <a:lnSpc>
                <a:spcPct val="115000"/>
              </a:lnSpc>
              <a:spcBef>
                <a:spcPts val="0"/>
              </a:spcBef>
              <a:spcAft>
                <a:spcPts val="0"/>
              </a:spcAft>
              <a:buClr>
                <a:schemeClr val="dk1"/>
              </a:buClr>
              <a:buSzPts val="1400"/>
              <a:buChar char="○"/>
            </a:pPr>
            <a:r>
              <a:rPr lang="en"/>
              <a:t>avec éventuellement des chemins qui mènent vers ce cycle</a:t>
            </a:r>
            <a:endParaRPr/>
          </a:p>
          <a:p>
            <a:pPr indent="0" lvl="0" marL="0" rtl="0" algn="l">
              <a:spcBef>
                <a:spcPts val="2000"/>
              </a:spcBef>
              <a:spcAft>
                <a:spcPts val="0"/>
              </a:spcAft>
              <a:buNone/>
            </a:pPr>
            <a:r>
              <a:rPr lang="en"/>
              <a:t>Ces composantes sont appelées </a:t>
            </a:r>
            <a:r>
              <a:rPr b="1" lang="en"/>
              <a:t>unicycles</a:t>
            </a:r>
            <a:endParaRPr b="1"/>
          </a:p>
          <a:p>
            <a:pPr indent="0" lvl="0" marL="0" rtl="0" algn="l">
              <a:spcBef>
                <a:spcPts val="12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4"/>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8761D"/>
                </a:solidFill>
              </a:rPr>
              <a:t>Exemple </a:t>
            </a:r>
            <a:endParaRPr>
              <a:solidFill>
                <a:srgbClr val="38761D"/>
              </a:solidFill>
            </a:endParaRPr>
          </a:p>
        </p:txBody>
      </p:sp>
      <p:pic>
        <p:nvPicPr>
          <p:cNvPr id="358" name="Google Shape;358;p44"/>
          <p:cNvPicPr preferRelativeResize="0"/>
          <p:nvPr/>
        </p:nvPicPr>
        <p:blipFill rotWithShape="1">
          <a:blip r:embed="rId3">
            <a:alphaModFix/>
          </a:blip>
          <a:srcRect b="16825" l="13625" r="22284" t="16222"/>
          <a:stretch/>
        </p:blipFill>
        <p:spPr>
          <a:xfrm>
            <a:off x="1058778" y="3423412"/>
            <a:ext cx="357774" cy="351346"/>
          </a:xfrm>
          <a:prstGeom prst="rect">
            <a:avLst/>
          </a:prstGeom>
          <a:noFill/>
          <a:ln>
            <a:noFill/>
          </a:ln>
        </p:spPr>
      </p:pic>
      <p:pic>
        <p:nvPicPr>
          <p:cNvPr id="359" name="Google Shape;359;p44" title="ExempleDeteminsite1.png"/>
          <p:cNvPicPr preferRelativeResize="0"/>
          <p:nvPr/>
        </p:nvPicPr>
        <p:blipFill>
          <a:blip r:embed="rId4">
            <a:alphaModFix/>
          </a:blip>
          <a:stretch>
            <a:fillRect/>
          </a:stretch>
        </p:blipFill>
        <p:spPr>
          <a:xfrm>
            <a:off x="820700" y="1181326"/>
            <a:ext cx="7332127" cy="3501374"/>
          </a:xfrm>
          <a:prstGeom prst="rect">
            <a:avLst/>
          </a:prstGeom>
          <a:noFill/>
          <a:ln>
            <a:noFill/>
          </a:ln>
        </p:spPr>
      </p:pic>
      <p:sp>
        <p:nvSpPr>
          <p:cNvPr id="360" name="Google Shape;360;p44"/>
          <p:cNvSpPr txBox="1"/>
          <p:nvPr/>
        </p:nvSpPr>
        <p:spPr>
          <a:xfrm>
            <a:off x="820700" y="4337450"/>
            <a:ext cx="3417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Albert Sans"/>
                <a:ea typeface="Albert Sans"/>
                <a:cs typeface="Albert Sans"/>
                <a:sym typeface="Albert Sans"/>
              </a:rPr>
              <a:t>∀ s ∈ V, d</a:t>
            </a:r>
            <a:r>
              <a:rPr baseline="30000" lang="en">
                <a:solidFill>
                  <a:schemeClr val="dk1"/>
                </a:solidFill>
                <a:latin typeface="Albert Sans"/>
                <a:ea typeface="Albert Sans"/>
                <a:cs typeface="Albert Sans"/>
                <a:sym typeface="Albert Sans"/>
              </a:rPr>
              <a:t>+</a:t>
            </a:r>
            <a:r>
              <a:rPr lang="en">
                <a:solidFill>
                  <a:schemeClr val="dk1"/>
                </a:solidFill>
                <a:latin typeface="Albert Sans"/>
                <a:ea typeface="Albert Sans"/>
                <a:cs typeface="Albert Sans"/>
                <a:sym typeface="Albert Sans"/>
              </a:rPr>
              <a:t>(s) = nombre de voisins de s</a:t>
            </a:r>
            <a:endParaRPr>
              <a:solidFill>
                <a:schemeClr val="dk1"/>
              </a:solidFill>
              <a:latin typeface="Albert Sans"/>
              <a:ea typeface="Albert Sans"/>
              <a:cs typeface="Albert Sans"/>
              <a:sym typeface="Albert Sans"/>
            </a:endParaRPr>
          </a:p>
        </p:txBody>
      </p:sp>
      <p:sp>
        <p:nvSpPr>
          <p:cNvPr id="361" name="Google Shape;361;p44"/>
          <p:cNvSpPr txBox="1"/>
          <p:nvPr/>
        </p:nvSpPr>
        <p:spPr>
          <a:xfrm>
            <a:off x="6003300" y="681300"/>
            <a:ext cx="21876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rgbClr val="B45F06"/>
                </a:solidFill>
                <a:latin typeface="Albert Sans"/>
                <a:ea typeface="Albert Sans"/>
                <a:cs typeface="Albert Sans"/>
                <a:sym typeface="Albert Sans"/>
              </a:rPr>
              <a:t>G = (V, E) </a:t>
            </a:r>
            <a:r>
              <a:rPr lang="en">
                <a:solidFill>
                  <a:schemeClr val="dk1"/>
                </a:solidFill>
                <a:latin typeface="Albert Sans"/>
                <a:ea typeface="Albert Sans"/>
                <a:cs typeface="Albert Sans"/>
                <a:sym typeface="Albert Sans"/>
              </a:rPr>
              <a:t>avec |V|</a:t>
            </a:r>
            <a:r>
              <a:rPr lang="en">
                <a:solidFill>
                  <a:srgbClr val="B45F06"/>
                </a:solidFill>
                <a:latin typeface="Albert Sans"/>
                <a:ea typeface="Albert Sans"/>
                <a:cs typeface="Albert Sans"/>
                <a:sym typeface="Albert Sans"/>
              </a:rPr>
              <a:t> </a:t>
            </a:r>
            <a:r>
              <a:rPr lang="en">
                <a:solidFill>
                  <a:schemeClr val="dk1"/>
                </a:solidFill>
                <a:latin typeface="Albert Sans"/>
                <a:ea typeface="Albert Sans"/>
                <a:cs typeface="Albert Sans"/>
                <a:sym typeface="Albert Sans"/>
              </a:rPr>
              <a:t>= 13</a:t>
            </a:r>
            <a:endParaRPr>
              <a:solidFill>
                <a:schemeClr val="dk1"/>
              </a:solidFill>
              <a:latin typeface="Albert Sans"/>
              <a:ea typeface="Albert Sans"/>
              <a:cs typeface="Albert Sans"/>
              <a:sym typeface="Albert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5"/>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8761D"/>
                </a:solidFill>
              </a:rPr>
              <a:t>Exemple </a:t>
            </a:r>
            <a:endParaRPr>
              <a:solidFill>
                <a:srgbClr val="38761D"/>
              </a:solidFill>
            </a:endParaRPr>
          </a:p>
        </p:txBody>
      </p:sp>
      <p:pic>
        <p:nvPicPr>
          <p:cNvPr id="367" name="Google Shape;367;p45"/>
          <p:cNvPicPr preferRelativeResize="0"/>
          <p:nvPr/>
        </p:nvPicPr>
        <p:blipFill rotWithShape="1">
          <a:blip r:embed="rId3">
            <a:alphaModFix/>
          </a:blip>
          <a:srcRect b="16825" l="13625" r="22284" t="16222"/>
          <a:stretch/>
        </p:blipFill>
        <p:spPr>
          <a:xfrm>
            <a:off x="1058778" y="3423412"/>
            <a:ext cx="357774" cy="351346"/>
          </a:xfrm>
          <a:prstGeom prst="rect">
            <a:avLst/>
          </a:prstGeom>
          <a:noFill/>
          <a:ln>
            <a:noFill/>
          </a:ln>
        </p:spPr>
      </p:pic>
      <p:pic>
        <p:nvPicPr>
          <p:cNvPr id="368" name="Google Shape;368;p45" title="ExempleDeteminsite2.png"/>
          <p:cNvPicPr preferRelativeResize="0"/>
          <p:nvPr/>
        </p:nvPicPr>
        <p:blipFill>
          <a:blip r:embed="rId4">
            <a:alphaModFix/>
          </a:blip>
          <a:stretch>
            <a:fillRect/>
          </a:stretch>
        </p:blipFill>
        <p:spPr>
          <a:xfrm>
            <a:off x="820700" y="1181325"/>
            <a:ext cx="7332137" cy="35013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6"/>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8761D"/>
                </a:solidFill>
              </a:rPr>
              <a:t>Exemple </a:t>
            </a:r>
            <a:endParaRPr>
              <a:solidFill>
                <a:srgbClr val="38761D"/>
              </a:solidFill>
            </a:endParaRPr>
          </a:p>
        </p:txBody>
      </p:sp>
      <p:pic>
        <p:nvPicPr>
          <p:cNvPr id="374" name="Google Shape;374;p46"/>
          <p:cNvPicPr preferRelativeResize="0"/>
          <p:nvPr/>
        </p:nvPicPr>
        <p:blipFill rotWithShape="1">
          <a:blip r:embed="rId3">
            <a:alphaModFix/>
          </a:blip>
          <a:srcRect b="16825" l="13625" r="22284" t="16222"/>
          <a:stretch/>
        </p:blipFill>
        <p:spPr>
          <a:xfrm>
            <a:off x="1058778" y="3423412"/>
            <a:ext cx="357774" cy="351346"/>
          </a:xfrm>
          <a:prstGeom prst="rect">
            <a:avLst/>
          </a:prstGeom>
          <a:noFill/>
          <a:ln>
            <a:noFill/>
          </a:ln>
        </p:spPr>
      </p:pic>
      <p:pic>
        <p:nvPicPr>
          <p:cNvPr id="375" name="Google Shape;375;p46" title="ExempleDeteminsite3.png"/>
          <p:cNvPicPr preferRelativeResize="0"/>
          <p:nvPr/>
        </p:nvPicPr>
        <p:blipFill>
          <a:blip r:embed="rId4">
            <a:alphaModFix/>
          </a:blip>
          <a:stretch>
            <a:fillRect/>
          </a:stretch>
        </p:blipFill>
        <p:spPr>
          <a:xfrm>
            <a:off x="820700" y="1181323"/>
            <a:ext cx="7332152" cy="3501374"/>
          </a:xfrm>
          <a:prstGeom prst="rect">
            <a:avLst/>
          </a:prstGeom>
          <a:noFill/>
          <a:ln>
            <a:noFill/>
          </a:ln>
        </p:spPr>
      </p:pic>
      <p:sp>
        <p:nvSpPr>
          <p:cNvPr id="376" name="Google Shape;376;p46"/>
          <p:cNvSpPr txBox="1"/>
          <p:nvPr/>
        </p:nvSpPr>
        <p:spPr>
          <a:xfrm>
            <a:off x="713225" y="4382300"/>
            <a:ext cx="28488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Albert Sans"/>
              <a:buChar char="➔"/>
            </a:pPr>
            <a:r>
              <a:rPr b="1" lang="en">
                <a:solidFill>
                  <a:schemeClr val="dk1"/>
                </a:solidFill>
                <a:latin typeface="Albert Sans"/>
                <a:ea typeface="Albert Sans"/>
                <a:cs typeface="Albert Sans"/>
                <a:sym typeface="Albert Sans"/>
              </a:rPr>
              <a:t> </a:t>
            </a:r>
            <a:r>
              <a:rPr b="1" lang="en">
                <a:solidFill>
                  <a:schemeClr val="dk1"/>
                </a:solidFill>
                <a:latin typeface="Albert Sans"/>
                <a:ea typeface="Albert Sans"/>
                <a:cs typeface="Albert Sans"/>
                <a:sym typeface="Albert Sans"/>
              </a:rPr>
              <a:t>Unicycles</a:t>
            </a:r>
            <a:r>
              <a:rPr b="1" lang="en">
                <a:solidFill>
                  <a:schemeClr val="dk1"/>
                </a:solidFill>
                <a:latin typeface="Albert Sans"/>
                <a:ea typeface="Albert Sans"/>
                <a:cs typeface="Albert Sans"/>
                <a:sym typeface="Albert Sans"/>
              </a:rPr>
              <a:t> de tailles 3 et 4</a:t>
            </a:r>
            <a:endParaRPr b="1">
              <a:solidFill>
                <a:schemeClr val="dk1"/>
              </a:solidFill>
              <a:latin typeface="Albert Sans"/>
              <a:ea typeface="Albert Sans"/>
              <a:cs typeface="Albert Sans"/>
              <a:sym typeface="Albert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7"/>
          <p:cNvSpPr txBox="1"/>
          <p:nvPr>
            <p:ph type="title"/>
          </p:nvPr>
        </p:nvSpPr>
        <p:spPr>
          <a:xfrm>
            <a:off x="940800" y="2185600"/>
            <a:ext cx="7262400" cy="171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Équilibre du jeu déterministe</a:t>
            </a:r>
            <a:endParaRPr/>
          </a:p>
        </p:txBody>
      </p:sp>
      <p:sp>
        <p:nvSpPr>
          <p:cNvPr id="382" name="Google Shape;382;p47"/>
          <p:cNvSpPr txBox="1"/>
          <p:nvPr>
            <p:ph idx="2" type="title"/>
          </p:nvPr>
        </p:nvSpPr>
        <p:spPr>
          <a:xfrm>
            <a:off x="4048350" y="913316"/>
            <a:ext cx="1047300" cy="969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03</a:t>
            </a:r>
            <a:endParaRPr/>
          </a:p>
        </p:txBody>
      </p:sp>
      <p:grpSp>
        <p:nvGrpSpPr>
          <p:cNvPr id="383" name="Google Shape;383;p47"/>
          <p:cNvGrpSpPr/>
          <p:nvPr/>
        </p:nvGrpSpPr>
        <p:grpSpPr>
          <a:xfrm>
            <a:off x="7731792" y="683864"/>
            <a:ext cx="709214" cy="351346"/>
            <a:chOff x="7731792" y="683864"/>
            <a:chExt cx="709214" cy="351346"/>
          </a:xfrm>
        </p:grpSpPr>
        <p:pic>
          <p:nvPicPr>
            <p:cNvPr id="384" name="Google Shape;384;p47"/>
            <p:cNvPicPr preferRelativeResize="0"/>
            <p:nvPr/>
          </p:nvPicPr>
          <p:blipFill rotWithShape="1">
            <a:blip r:embed="rId3">
              <a:alphaModFix/>
            </a:blip>
            <a:srcRect b="16825" l="13625" r="22284" t="16222"/>
            <a:stretch/>
          </p:blipFill>
          <p:spPr>
            <a:xfrm>
              <a:off x="8083232" y="683864"/>
              <a:ext cx="357774" cy="351346"/>
            </a:xfrm>
            <a:prstGeom prst="rect">
              <a:avLst/>
            </a:prstGeom>
            <a:noFill/>
            <a:ln>
              <a:noFill/>
            </a:ln>
          </p:spPr>
        </p:pic>
        <p:pic>
          <p:nvPicPr>
            <p:cNvPr id="385" name="Google Shape;385;p47"/>
            <p:cNvPicPr preferRelativeResize="0"/>
            <p:nvPr/>
          </p:nvPicPr>
          <p:blipFill rotWithShape="1">
            <a:blip r:embed="rId4">
              <a:alphaModFix/>
            </a:blip>
            <a:srcRect b="16523" l="18541" r="17368" t="16523"/>
            <a:stretch/>
          </p:blipFill>
          <p:spPr>
            <a:xfrm>
              <a:off x="7731792" y="683864"/>
              <a:ext cx="357774" cy="351346"/>
            </a:xfrm>
            <a:prstGeom prst="rect">
              <a:avLst/>
            </a:prstGeom>
            <a:noFill/>
            <a:ln>
              <a:noFill/>
            </a:ln>
          </p:spPr>
        </p:pic>
      </p:grpSp>
      <p:pic>
        <p:nvPicPr>
          <p:cNvPr id="386" name="Google Shape;386;p47"/>
          <p:cNvPicPr preferRelativeResize="0"/>
          <p:nvPr/>
        </p:nvPicPr>
        <p:blipFill rotWithShape="1">
          <a:blip r:embed="rId3">
            <a:alphaModFix/>
          </a:blip>
          <a:srcRect b="16825" l="13625" r="22284" t="16222"/>
          <a:stretch/>
        </p:blipFill>
        <p:spPr>
          <a:xfrm>
            <a:off x="7727549" y="1711192"/>
            <a:ext cx="357774" cy="351346"/>
          </a:xfrm>
          <a:prstGeom prst="rect">
            <a:avLst/>
          </a:prstGeom>
          <a:noFill/>
          <a:ln>
            <a:noFill/>
          </a:ln>
        </p:spPr>
      </p:pic>
      <p:grpSp>
        <p:nvGrpSpPr>
          <p:cNvPr id="387" name="Google Shape;387;p47"/>
          <p:cNvGrpSpPr/>
          <p:nvPr/>
        </p:nvGrpSpPr>
        <p:grpSpPr>
          <a:xfrm>
            <a:off x="6322547" y="1026306"/>
            <a:ext cx="709021" cy="693789"/>
            <a:chOff x="6322547" y="1123984"/>
            <a:chExt cx="709021" cy="693789"/>
          </a:xfrm>
        </p:grpSpPr>
        <p:pic>
          <p:nvPicPr>
            <p:cNvPr id="388" name="Google Shape;388;p47"/>
            <p:cNvPicPr preferRelativeResize="0"/>
            <p:nvPr/>
          </p:nvPicPr>
          <p:blipFill rotWithShape="1">
            <a:blip r:embed="rId3">
              <a:alphaModFix/>
            </a:blip>
            <a:srcRect b="16825" l="13625" r="22284" t="16222"/>
            <a:stretch/>
          </p:blipFill>
          <p:spPr>
            <a:xfrm>
              <a:off x="6673794" y="1123984"/>
              <a:ext cx="357774" cy="351346"/>
            </a:xfrm>
            <a:prstGeom prst="rect">
              <a:avLst/>
            </a:prstGeom>
            <a:noFill/>
            <a:ln>
              <a:noFill/>
            </a:ln>
          </p:spPr>
        </p:pic>
        <p:pic>
          <p:nvPicPr>
            <p:cNvPr id="389" name="Google Shape;389;p47"/>
            <p:cNvPicPr preferRelativeResize="0"/>
            <p:nvPr/>
          </p:nvPicPr>
          <p:blipFill rotWithShape="1">
            <a:blip r:embed="rId3">
              <a:alphaModFix/>
            </a:blip>
            <a:srcRect b="16825" l="13625" r="22284" t="16222"/>
            <a:stretch/>
          </p:blipFill>
          <p:spPr>
            <a:xfrm>
              <a:off x="6322547" y="1123984"/>
              <a:ext cx="357774" cy="351346"/>
            </a:xfrm>
            <a:prstGeom prst="rect">
              <a:avLst/>
            </a:prstGeom>
            <a:noFill/>
            <a:ln>
              <a:noFill/>
            </a:ln>
          </p:spPr>
        </p:pic>
        <p:pic>
          <p:nvPicPr>
            <p:cNvPr id="390" name="Google Shape;390;p47"/>
            <p:cNvPicPr preferRelativeResize="0"/>
            <p:nvPr/>
          </p:nvPicPr>
          <p:blipFill rotWithShape="1">
            <a:blip r:embed="rId3">
              <a:alphaModFix/>
            </a:blip>
            <a:srcRect b="16825" l="13625" r="22284" t="16222"/>
            <a:stretch/>
          </p:blipFill>
          <p:spPr>
            <a:xfrm>
              <a:off x="6673794" y="1466427"/>
              <a:ext cx="357774" cy="351346"/>
            </a:xfrm>
            <a:prstGeom prst="rect">
              <a:avLst/>
            </a:prstGeom>
            <a:noFill/>
            <a:ln>
              <a:noFill/>
            </a:ln>
          </p:spPr>
        </p:pic>
        <p:pic>
          <p:nvPicPr>
            <p:cNvPr id="391" name="Google Shape;391;p47"/>
            <p:cNvPicPr preferRelativeResize="0"/>
            <p:nvPr/>
          </p:nvPicPr>
          <p:blipFill rotWithShape="1">
            <a:blip r:embed="rId3">
              <a:alphaModFix/>
            </a:blip>
            <a:srcRect b="16825" l="13625" r="22284" t="16222"/>
            <a:stretch/>
          </p:blipFill>
          <p:spPr>
            <a:xfrm>
              <a:off x="6322547" y="1466427"/>
              <a:ext cx="357774" cy="351346"/>
            </a:xfrm>
            <a:prstGeom prst="rect">
              <a:avLst/>
            </a:prstGeom>
            <a:noFill/>
            <a:ln>
              <a:noFill/>
            </a:ln>
          </p:spPr>
        </p:pic>
      </p:grpSp>
      <p:pic>
        <p:nvPicPr>
          <p:cNvPr id="392" name="Google Shape;392;p47"/>
          <p:cNvPicPr preferRelativeResize="0"/>
          <p:nvPr/>
        </p:nvPicPr>
        <p:blipFill rotWithShape="1">
          <a:blip r:embed="rId4">
            <a:alphaModFix/>
          </a:blip>
          <a:srcRect b="16523" l="18541" r="17368" t="16523"/>
          <a:stretch/>
        </p:blipFill>
        <p:spPr>
          <a:xfrm>
            <a:off x="8078796" y="3423404"/>
            <a:ext cx="357774" cy="351346"/>
          </a:xfrm>
          <a:prstGeom prst="rect">
            <a:avLst/>
          </a:prstGeom>
          <a:noFill/>
          <a:ln>
            <a:noFill/>
          </a:ln>
        </p:spPr>
      </p:pic>
      <p:sp>
        <p:nvSpPr>
          <p:cNvPr id="393" name="Google Shape;393;p47"/>
          <p:cNvSpPr/>
          <p:nvPr/>
        </p:nvSpPr>
        <p:spPr>
          <a:xfrm>
            <a:off x="1084884" y="34845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7"/>
          <p:cNvSpPr/>
          <p:nvPr/>
        </p:nvSpPr>
        <p:spPr>
          <a:xfrm>
            <a:off x="6359455" y="445386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7"/>
          <p:cNvSpPr/>
          <p:nvPr/>
        </p:nvSpPr>
        <p:spPr>
          <a:xfrm>
            <a:off x="6359455" y="1401613"/>
            <a:ext cx="310800" cy="310800"/>
          </a:xfrm>
          <a:prstGeom prst="rect">
            <a:avLst/>
          </a:prstGeom>
          <a:solidFill>
            <a:schemeClr val="dk1"/>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8"/>
          <p:cNvSpPr/>
          <p:nvPr/>
        </p:nvSpPr>
        <p:spPr>
          <a:xfrm>
            <a:off x="4646125" y="1739250"/>
            <a:ext cx="3342000" cy="1373400"/>
          </a:xfrm>
          <a:prstGeom prst="roundRect">
            <a:avLst>
              <a:gd fmla="val 7267" name="adj"/>
            </a:avLst>
          </a:prstGeom>
          <a:solidFill>
            <a:srgbClr val="D7DFE5">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01" name="Google Shape;401;p48"/>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Coût</a:t>
            </a:r>
            <a:r>
              <a:rPr lang="en"/>
              <a:t> d’un joueur </a:t>
            </a:r>
            <a:endParaRPr/>
          </a:p>
        </p:txBody>
      </p:sp>
      <p:sp>
        <p:nvSpPr>
          <p:cNvPr id="402" name="Google Shape;402;p48"/>
          <p:cNvSpPr txBox="1"/>
          <p:nvPr>
            <p:ph idx="1" type="subTitle"/>
          </p:nvPr>
        </p:nvSpPr>
        <p:spPr>
          <a:xfrm>
            <a:off x="675575" y="1650450"/>
            <a:ext cx="3938100" cy="16890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sz="1700">
                <a:solidFill>
                  <a:schemeClr val="dk2"/>
                </a:solidFill>
                <a:latin typeface="Epilogue SemiBold"/>
                <a:ea typeface="Epilogue SemiBold"/>
                <a:cs typeface="Epilogue SemiBold"/>
                <a:sym typeface="Epilogue SemiBold"/>
              </a:rPr>
              <a:t>Résultat fondamental :</a:t>
            </a:r>
            <a:endParaRPr sz="1700">
              <a:solidFill>
                <a:schemeClr val="dk2"/>
              </a:solidFill>
              <a:latin typeface="Epilogue SemiBold"/>
              <a:ea typeface="Epilogue SemiBold"/>
              <a:cs typeface="Epilogue SemiBold"/>
              <a:sym typeface="Epilogue SemiBold"/>
            </a:endParaRPr>
          </a:p>
          <a:p>
            <a:pPr indent="0" lvl="0" marL="0" rtl="0" algn="l">
              <a:spcBef>
                <a:spcPts val="1000"/>
              </a:spcBef>
              <a:spcAft>
                <a:spcPts val="0"/>
              </a:spcAft>
              <a:buNone/>
            </a:pPr>
            <a:r>
              <a:rPr lang="en"/>
              <a:t>1. S</a:t>
            </a:r>
            <a:r>
              <a:rPr lang="en"/>
              <a:t>i un joueur n’est pas dans un cycle :</a:t>
            </a:r>
            <a:endParaRPr/>
          </a:p>
          <a:p>
            <a:pPr indent="457200" lvl="0" marL="0" rtl="0" algn="l">
              <a:spcBef>
                <a:spcPts val="0"/>
              </a:spcBef>
              <a:spcAft>
                <a:spcPts val="0"/>
              </a:spcAft>
              <a:buNone/>
            </a:pPr>
            <a:r>
              <a:rPr lang="en"/>
              <a:t>→ </a:t>
            </a:r>
            <a:r>
              <a:rPr b="1" lang="en"/>
              <a:t>coût = 0</a:t>
            </a:r>
            <a:endParaRPr b="1"/>
          </a:p>
          <a:p>
            <a:pPr indent="0" lvl="0" marL="0" rtl="0" algn="l">
              <a:spcBef>
                <a:spcPts val="1000"/>
              </a:spcBef>
              <a:spcAft>
                <a:spcPts val="0"/>
              </a:spcAft>
              <a:buNone/>
            </a:pPr>
            <a:r>
              <a:rPr lang="en"/>
              <a:t>2. S</a:t>
            </a:r>
            <a:r>
              <a:rPr lang="en"/>
              <a:t>i un joueur est dans un cycle de</a:t>
            </a:r>
            <a:endParaRPr/>
          </a:p>
          <a:p>
            <a:pPr indent="0" lvl="0" marL="0" rtl="0" algn="l">
              <a:spcBef>
                <a:spcPts val="0"/>
              </a:spcBef>
              <a:spcAft>
                <a:spcPts val="0"/>
              </a:spcAft>
              <a:buNone/>
            </a:pPr>
            <a:r>
              <a:rPr lang="en"/>
              <a:t>    longueur ( k ) :  il reçoit le buck 1 fois sur k</a:t>
            </a:r>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p:txBody>
      </p:sp>
      <p:sp>
        <p:nvSpPr>
          <p:cNvPr id="403" name="Google Shape;403;p48"/>
          <p:cNvSpPr txBox="1"/>
          <p:nvPr>
            <p:ph idx="1" type="subTitle"/>
          </p:nvPr>
        </p:nvSpPr>
        <p:spPr>
          <a:xfrm>
            <a:off x="4722975" y="1739150"/>
            <a:ext cx="3265200" cy="1373400"/>
          </a:xfrm>
          <a:prstGeom prst="rect">
            <a:avLst/>
          </a:prstGeom>
        </p:spPr>
        <p:txBody>
          <a:bodyPr anchorCtr="0" anchor="t" bIns="91425" lIns="91425" spcFirstLastPara="1" rIns="91425" wrap="square" tIns="91425">
            <a:noAutofit/>
          </a:bodyPr>
          <a:lstStyle/>
          <a:p>
            <a:pPr indent="0" lvl="0" marL="0" rtl="0" algn="l">
              <a:lnSpc>
                <a:spcPct val="138000"/>
              </a:lnSpc>
              <a:spcBef>
                <a:spcPts val="0"/>
              </a:spcBef>
              <a:spcAft>
                <a:spcPts val="0"/>
              </a:spcAft>
              <a:buNone/>
            </a:pPr>
            <a:r>
              <a:rPr b="1" lang="en">
                <a:solidFill>
                  <a:srgbClr val="3C51A9"/>
                </a:solidFill>
                <a:latin typeface="Epilogue"/>
                <a:ea typeface="Epilogue"/>
                <a:cs typeface="Epilogue"/>
                <a:sym typeface="Epilogue"/>
              </a:rPr>
              <a:t>Remarque:</a:t>
            </a:r>
            <a:endParaRPr b="1">
              <a:solidFill>
                <a:srgbClr val="3C51A9"/>
              </a:solidFill>
              <a:latin typeface="Epilogue"/>
              <a:ea typeface="Epilogue"/>
              <a:cs typeface="Epilogue"/>
              <a:sym typeface="Epilogue"/>
            </a:endParaRPr>
          </a:p>
          <a:p>
            <a:pPr indent="0" lvl="0" marL="0" rtl="0" algn="l">
              <a:lnSpc>
                <a:spcPct val="138000"/>
              </a:lnSpc>
              <a:spcBef>
                <a:spcPts val="0"/>
              </a:spcBef>
              <a:spcAft>
                <a:spcPts val="0"/>
              </a:spcAft>
              <a:buNone/>
            </a:pPr>
            <a:r>
              <a:rPr lang="en"/>
              <a:t>Cela ne compte que si le buck arrive dans cette composante pondérée par la probabilité initiale (</a:t>
            </a:r>
            <a:r>
              <a:rPr b="1" lang="en"/>
              <a:t>µ</a:t>
            </a:r>
            <a:r>
              <a:rPr lang="en"/>
              <a:t>)</a:t>
            </a:r>
            <a:endParaRPr/>
          </a:p>
          <a:p>
            <a:pPr indent="0" lvl="0" marL="0" rtl="0" algn="l">
              <a:spcBef>
                <a:spcPts val="0"/>
              </a:spcBef>
              <a:spcAft>
                <a:spcPts val="0"/>
              </a:spcAft>
              <a:buNone/>
            </a:pPr>
            <a:r>
              <a:t/>
            </a:r>
            <a:endParaRPr>
              <a:solidFill>
                <a:srgbClr val="000000"/>
              </a:solidFill>
            </a:endParaRPr>
          </a:p>
        </p:txBody>
      </p:sp>
      <p:sp>
        <p:nvSpPr>
          <p:cNvPr id="404" name="Google Shape;404;p48"/>
          <p:cNvSpPr txBox="1"/>
          <p:nvPr/>
        </p:nvSpPr>
        <p:spPr>
          <a:xfrm>
            <a:off x="637175" y="1181213"/>
            <a:ext cx="7485000" cy="400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1"/>
                </a:solidFill>
                <a:latin typeface="Albert Sans"/>
                <a:ea typeface="Albert Sans"/>
                <a:cs typeface="Albert Sans"/>
                <a:sym typeface="Albert Sans"/>
              </a:rPr>
              <a:t>Le coût d’un joueur</a:t>
            </a:r>
            <a:r>
              <a:rPr lang="en">
                <a:solidFill>
                  <a:schemeClr val="dk1"/>
                </a:solidFill>
                <a:latin typeface="Albert Sans"/>
                <a:ea typeface="Albert Sans"/>
                <a:cs typeface="Albert Sans"/>
                <a:sym typeface="Albert Sans"/>
              </a:rPr>
              <a:t> = la fréquence asymptotique à laquelle il reçoit le buck</a:t>
            </a:r>
            <a:endParaRPr>
              <a:solidFill>
                <a:schemeClr val="dk1"/>
              </a:solidFill>
            </a:endParaRPr>
          </a:p>
        </p:txBody>
      </p:sp>
      <p:pic>
        <p:nvPicPr>
          <p:cNvPr id="405" name="Google Shape;405;p48" title="equation_20260102_170745.png"/>
          <p:cNvPicPr preferRelativeResize="0"/>
          <p:nvPr/>
        </p:nvPicPr>
        <p:blipFill>
          <a:blip r:embed="rId3">
            <a:alphaModFix/>
          </a:blip>
          <a:stretch>
            <a:fillRect/>
          </a:stretch>
        </p:blipFill>
        <p:spPr>
          <a:xfrm>
            <a:off x="1024450" y="3855587"/>
            <a:ext cx="2276650" cy="840800"/>
          </a:xfrm>
          <a:prstGeom prst="rect">
            <a:avLst/>
          </a:prstGeom>
          <a:noFill/>
          <a:ln>
            <a:noFill/>
          </a:ln>
        </p:spPr>
      </p:pic>
      <p:sp>
        <p:nvSpPr>
          <p:cNvPr id="406" name="Google Shape;406;p48"/>
          <p:cNvSpPr txBox="1"/>
          <p:nvPr/>
        </p:nvSpPr>
        <p:spPr>
          <a:xfrm>
            <a:off x="4644525" y="3532150"/>
            <a:ext cx="683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a:solidFill>
                  <a:schemeClr val="dk1"/>
                </a:solidFill>
                <a:latin typeface="Albert Sans"/>
                <a:ea typeface="Albert Sans"/>
                <a:cs typeface="Albert Sans"/>
                <a:sym typeface="Albert Sans"/>
              </a:rPr>
              <a:t>avec</a:t>
            </a:r>
            <a:endParaRPr/>
          </a:p>
        </p:txBody>
      </p:sp>
      <p:pic>
        <p:nvPicPr>
          <p:cNvPr id="407" name="Google Shape;407;p48" title="equation_20260102_171207.png"/>
          <p:cNvPicPr preferRelativeResize="0"/>
          <p:nvPr/>
        </p:nvPicPr>
        <p:blipFill>
          <a:blip r:embed="rId4">
            <a:alphaModFix/>
          </a:blip>
          <a:stretch>
            <a:fillRect/>
          </a:stretch>
        </p:blipFill>
        <p:spPr>
          <a:xfrm>
            <a:off x="5465775" y="3521200"/>
            <a:ext cx="1299638" cy="572700"/>
          </a:xfrm>
          <a:prstGeom prst="rect">
            <a:avLst/>
          </a:prstGeom>
          <a:noFill/>
          <a:ln>
            <a:noFill/>
          </a:ln>
        </p:spPr>
      </p:pic>
      <p:sp>
        <p:nvSpPr>
          <p:cNvPr id="408" name="Google Shape;408;p48"/>
          <p:cNvSpPr txBox="1"/>
          <p:nvPr/>
        </p:nvSpPr>
        <p:spPr>
          <a:xfrm>
            <a:off x="4613800" y="4282975"/>
            <a:ext cx="683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a:solidFill>
                  <a:schemeClr val="dk1"/>
                </a:solidFill>
                <a:latin typeface="Albert Sans"/>
                <a:ea typeface="Albert Sans"/>
                <a:cs typeface="Albert Sans"/>
                <a:sym typeface="Albert Sans"/>
              </a:rPr>
              <a:t>et</a:t>
            </a:r>
            <a:endParaRPr/>
          </a:p>
        </p:txBody>
      </p:sp>
      <p:pic>
        <p:nvPicPr>
          <p:cNvPr id="409" name="Google Shape;409;p48" title="equation_20260102_171502.png"/>
          <p:cNvPicPr preferRelativeResize="0"/>
          <p:nvPr/>
        </p:nvPicPr>
        <p:blipFill>
          <a:blip r:embed="rId5">
            <a:alphaModFix/>
          </a:blip>
          <a:stretch>
            <a:fillRect/>
          </a:stretch>
        </p:blipFill>
        <p:spPr>
          <a:xfrm>
            <a:off x="5273905" y="4180412"/>
            <a:ext cx="2086495" cy="605325"/>
          </a:xfrm>
          <a:prstGeom prst="rect">
            <a:avLst/>
          </a:prstGeom>
          <a:noFill/>
          <a:ln>
            <a:noFill/>
          </a:ln>
        </p:spPr>
      </p:pic>
      <p:sp>
        <p:nvSpPr>
          <p:cNvPr id="410" name="Google Shape;410;p48"/>
          <p:cNvSpPr txBox="1"/>
          <p:nvPr/>
        </p:nvSpPr>
        <p:spPr>
          <a:xfrm>
            <a:off x="897275" y="3444425"/>
            <a:ext cx="2211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a:solidFill>
                  <a:schemeClr val="dk1"/>
                </a:solidFill>
                <a:latin typeface="Albert Sans"/>
                <a:ea typeface="Albert Sans"/>
                <a:cs typeface="Albert Sans"/>
                <a:sym typeface="Albert Sans"/>
              </a:rPr>
              <a:t>On a :</a:t>
            </a:r>
            <a:endParaRPr/>
          </a:p>
        </p:txBody>
      </p:sp>
      <p:cxnSp>
        <p:nvCxnSpPr>
          <p:cNvPr id="411" name="Google Shape;411;p48"/>
          <p:cNvCxnSpPr/>
          <p:nvPr/>
        </p:nvCxnSpPr>
        <p:spPr>
          <a:xfrm flipH="1">
            <a:off x="713250" y="3370132"/>
            <a:ext cx="7731300" cy="22200"/>
          </a:xfrm>
          <a:prstGeom prst="straightConnector1">
            <a:avLst/>
          </a:prstGeom>
          <a:noFill/>
          <a:ln cap="flat" cmpd="sng" w="19050">
            <a:solidFill>
              <a:srgbClr val="CCCCCC"/>
            </a:solidFill>
            <a:prstDash val="dash"/>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9"/>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Équilibre pur et déviation unilatérale</a:t>
            </a:r>
            <a:endParaRPr/>
          </a:p>
        </p:txBody>
      </p:sp>
      <p:sp>
        <p:nvSpPr>
          <p:cNvPr id="417" name="Google Shape;417;p49"/>
          <p:cNvSpPr txBox="1"/>
          <p:nvPr>
            <p:ph idx="3" type="subTitle"/>
          </p:nvPr>
        </p:nvSpPr>
        <p:spPr>
          <a:xfrm>
            <a:off x="752325" y="1279150"/>
            <a:ext cx="35736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Équilibre</a:t>
            </a:r>
            <a:r>
              <a:rPr lang="en">
                <a:solidFill>
                  <a:schemeClr val="dk2"/>
                </a:solidFill>
              </a:rPr>
              <a:t> pur</a:t>
            </a:r>
            <a:endParaRPr>
              <a:solidFill>
                <a:schemeClr val="dk2"/>
              </a:solidFill>
            </a:endParaRPr>
          </a:p>
        </p:txBody>
      </p:sp>
      <p:sp>
        <p:nvSpPr>
          <p:cNvPr id="418" name="Google Shape;418;p49"/>
          <p:cNvSpPr txBox="1"/>
          <p:nvPr>
            <p:ph idx="4" type="subTitle"/>
          </p:nvPr>
        </p:nvSpPr>
        <p:spPr>
          <a:xfrm>
            <a:off x="4644500" y="1279150"/>
            <a:ext cx="37797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Déviation</a:t>
            </a:r>
            <a:r>
              <a:rPr lang="en">
                <a:solidFill>
                  <a:schemeClr val="dk2"/>
                </a:solidFill>
              </a:rPr>
              <a:t> unilatérale</a:t>
            </a:r>
            <a:endParaRPr>
              <a:solidFill>
                <a:schemeClr val="dk2"/>
              </a:solidFill>
            </a:endParaRPr>
          </a:p>
        </p:txBody>
      </p:sp>
      <p:sp>
        <p:nvSpPr>
          <p:cNvPr id="419" name="Google Shape;419;p49"/>
          <p:cNvSpPr txBox="1"/>
          <p:nvPr>
            <p:ph idx="1" type="subTitle"/>
          </p:nvPr>
        </p:nvSpPr>
        <p:spPr>
          <a:xfrm>
            <a:off x="4612000" y="1692100"/>
            <a:ext cx="4024500" cy="1969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t/>
            </a:r>
            <a:endParaRPr/>
          </a:p>
          <a:p>
            <a:pPr indent="0" lvl="0" marL="0" rtl="0" algn="just">
              <a:spcBef>
                <a:spcPts val="0"/>
              </a:spcBef>
              <a:spcAft>
                <a:spcPts val="0"/>
              </a:spcAft>
              <a:buNone/>
            </a:pPr>
            <a:r>
              <a:rPr lang="en"/>
              <a:t>Un joueur change </a:t>
            </a:r>
            <a:r>
              <a:rPr b="1" lang="en"/>
              <a:t>seul </a:t>
            </a:r>
            <a:r>
              <a:rPr lang="en"/>
              <a:t>le voisin auquel il </a:t>
            </a:r>
            <a:endParaRPr/>
          </a:p>
          <a:p>
            <a:pPr indent="0" lvl="0" marL="0" rtl="0" algn="just">
              <a:spcBef>
                <a:spcPts val="0"/>
              </a:spcBef>
              <a:spcAft>
                <a:spcPts val="0"/>
              </a:spcAft>
              <a:buNone/>
            </a:pPr>
            <a:r>
              <a:rPr lang="en"/>
              <a:t>passe le buck</a:t>
            </a:r>
            <a:endParaRPr/>
          </a:p>
          <a:p>
            <a:pPr indent="0" lvl="0" marL="0" rtl="0" algn="just">
              <a:spcBef>
                <a:spcPts val="0"/>
              </a:spcBef>
              <a:spcAft>
                <a:spcPts val="0"/>
              </a:spcAft>
              <a:buNone/>
            </a:pPr>
            <a:r>
              <a:t/>
            </a:r>
            <a:endParaRPr/>
          </a:p>
          <a:p>
            <a:pPr indent="0" lvl="0" marL="0" rtl="0" algn="just">
              <a:spcBef>
                <a:spcPts val="0"/>
              </a:spcBef>
              <a:spcAft>
                <a:spcPts val="0"/>
              </a:spcAft>
              <a:buNone/>
            </a:pPr>
            <a:r>
              <a:rPr i="1" lang="en"/>
              <a:t>La déviation est </a:t>
            </a:r>
            <a:r>
              <a:rPr b="1" i="1" lang="en"/>
              <a:t>profitable </a:t>
            </a:r>
            <a:r>
              <a:rPr i="1" lang="en"/>
              <a:t>ssi :</a:t>
            </a:r>
            <a:endParaRPr i="1"/>
          </a:p>
          <a:p>
            <a:pPr indent="0" lvl="0" marL="0" rtl="0" algn="l">
              <a:spcBef>
                <a:spcPts val="0"/>
              </a:spcBef>
              <a:spcAft>
                <a:spcPts val="0"/>
              </a:spcAft>
              <a:buNone/>
            </a:pPr>
            <a:r>
              <a:rPr i="1" lang="en"/>
              <a:t>sa fréquence asymptotique du buck diminue</a:t>
            </a:r>
            <a:endParaRPr i="1"/>
          </a:p>
        </p:txBody>
      </p:sp>
      <p:sp>
        <p:nvSpPr>
          <p:cNvPr id="420" name="Google Shape;420;p49"/>
          <p:cNvSpPr txBox="1"/>
          <p:nvPr>
            <p:ph idx="2" type="subTitle"/>
          </p:nvPr>
        </p:nvSpPr>
        <p:spPr>
          <a:xfrm>
            <a:off x="752300" y="1692100"/>
            <a:ext cx="3631200" cy="21171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a:t>On </a:t>
            </a:r>
            <a:r>
              <a:rPr lang="en"/>
              <a:t>s'intéresse</a:t>
            </a:r>
            <a:r>
              <a:rPr lang="en"/>
              <a:t> à </a:t>
            </a:r>
            <a:r>
              <a:rPr lang="en"/>
              <a:t>l'</a:t>
            </a:r>
            <a:r>
              <a:rPr b="1" lang="en"/>
              <a:t>Équilibre</a:t>
            </a:r>
            <a:r>
              <a:rPr b="1" lang="en"/>
              <a:t> de Nash </a:t>
            </a:r>
            <a:r>
              <a:rPr lang="en"/>
              <a:t>en </a:t>
            </a:r>
            <a:r>
              <a:rPr lang="en"/>
              <a:t>stratégie</a:t>
            </a:r>
            <a:r>
              <a:rPr lang="en"/>
              <a:t> pure.</a:t>
            </a:r>
            <a:endParaRPr/>
          </a:p>
          <a:p>
            <a:pPr indent="0" lvl="0" marL="0" rtl="0" algn="just">
              <a:spcBef>
                <a:spcPts val="500"/>
              </a:spcBef>
              <a:spcAft>
                <a:spcPts val="0"/>
              </a:spcAft>
              <a:buNone/>
            </a:pPr>
            <a:r>
              <a:rPr lang="en"/>
              <a:t>Les </a:t>
            </a:r>
            <a:r>
              <a:rPr lang="en"/>
              <a:t>équilibres</a:t>
            </a:r>
            <a:r>
              <a:rPr lang="en"/>
              <a:t> peuvent </a:t>
            </a:r>
            <a:r>
              <a:rPr lang="en"/>
              <a:t>dépendre</a:t>
            </a:r>
            <a:r>
              <a:rPr lang="en"/>
              <a:t> de la </a:t>
            </a:r>
            <a:r>
              <a:rPr b="1" lang="en"/>
              <a:t>distribution initiale</a:t>
            </a:r>
            <a:r>
              <a:rPr lang="en"/>
              <a:t> μ</a:t>
            </a:r>
            <a:endParaRPr/>
          </a:p>
          <a:p>
            <a:pPr indent="0" lvl="0" marL="0" rtl="0" algn="just">
              <a:spcBef>
                <a:spcPts val="500"/>
              </a:spcBef>
              <a:spcAft>
                <a:spcPts val="0"/>
              </a:spcAft>
              <a:buNone/>
            </a:pPr>
            <a:r>
              <a:rPr i="1" lang="en"/>
              <a:t>L’objectif est de montrer l’existence </a:t>
            </a:r>
            <a:r>
              <a:rPr i="1" lang="en"/>
              <a:t>d'équilibres</a:t>
            </a:r>
            <a:r>
              <a:rPr i="1" lang="en"/>
              <a:t> </a:t>
            </a:r>
            <a:r>
              <a:rPr b="1" i="1" lang="en"/>
              <a:t>robustes </a:t>
            </a:r>
            <a:r>
              <a:rPr i="1" lang="en"/>
              <a:t>(</a:t>
            </a:r>
            <a:r>
              <a:rPr i="1" lang="en"/>
              <a:t>indép</a:t>
            </a:r>
            <a:r>
              <a:rPr i="1" lang="en"/>
              <a:t>. de μ)</a:t>
            </a:r>
            <a:endParaRPr i="1"/>
          </a:p>
        </p:txBody>
      </p:sp>
      <p:sp>
        <p:nvSpPr>
          <p:cNvPr id="421" name="Google Shape;421;p49"/>
          <p:cNvSpPr/>
          <p:nvPr/>
        </p:nvSpPr>
        <p:spPr>
          <a:xfrm>
            <a:off x="1614139" y="3809204"/>
            <a:ext cx="5915700" cy="819900"/>
          </a:xfrm>
          <a:prstGeom prst="roundRect">
            <a:avLst>
              <a:gd fmla="val 7267" name="adj"/>
            </a:avLst>
          </a:prstGeom>
          <a:solidFill>
            <a:srgbClr val="D7DFE5">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22" name="Google Shape;422;p49"/>
          <p:cNvSpPr txBox="1"/>
          <p:nvPr>
            <p:ph idx="4294967295" type="subTitle"/>
          </p:nvPr>
        </p:nvSpPr>
        <p:spPr>
          <a:xfrm>
            <a:off x="1678827" y="3870245"/>
            <a:ext cx="5779800" cy="697800"/>
          </a:xfrm>
          <a:prstGeom prst="rect">
            <a:avLst/>
          </a:prstGeom>
        </p:spPr>
        <p:txBody>
          <a:bodyPr anchorCtr="0" anchor="t" bIns="91425" lIns="91425" spcFirstLastPara="1" rIns="91425" wrap="square" tIns="91425">
            <a:noAutofit/>
          </a:bodyPr>
          <a:lstStyle/>
          <a:p>
            <a:pPr indent="0" lvl="0" marL="0" rtl="0" algn="l">
              <a:lnSpc>
                <a:spcPct val="138000"/>
              </a:lnSpc>
              <a:spcBef>
                <a:spcPts val="0"/>
              </a:spcBef>
              <a:spcAft>
                <a:spcPts val="0"/>
              </a:spcAft>
              <a:buNone/>
            </a:pPr>
            <a:r>
              <a:rPr b="1" lang="en">
                <a:solidFill>
                  <a:srgbClr val="3C51A9"/>
                </a:solidFill>
                <a:latin typeface="Epilogue"/>
                <a:ea typeface="Epilogue"/>
                <a:cs typeface="Epilogue"/>
                <a:sym typeface="Epilogue"/>
              </a:rPr>
              <a:t>Équilibre de Nash</a:t>
            </a:r>
            <a:r>
              <a:rPr b="1" lang="en">
                <a:solidFill>
                  <a:srgbClr val="3C51A9"/>
                </a:solidFill>
                <a:latin typeface="Epilogue"/>
                <a:ea typeface="Epilogue"/>
                <a:cs typeface="Epilogue"/>
                <a:sym typeface="Epilogue"/>
              </a:rPr>
              <a:t>:</a:t>
            </a:r>
            <a:endParaRPr b="1">
              <a:solidFill>
                <a:srgbClr val="3C51A9"/>
              </a:solidFill>
              <a:latin typeface="Epilogue"/>
              <a:ea typeface="Epilogue"/>
              <a:cs typeface="Epilogue"/>
              <a:sym typeface="Epilogue"/>
            </a:endParaRPr>
          </a:p>
          <a:p>
            <a:pPr indent="0" lvl="0" marL="0" rtl="0" algn="l">
              <a:lnSpc>
                <a:spcPct val="138000"/>
              </a:lnSpc>
              <a:spcBef>
                <a:spcPts val="0"/>
              </a:spcBef>
              <a:spcAft>
                <a:spcPts val="0"/>
              </a:spcAft>
              <a:buNone/>
            </a:pPr>
            <a:r>
              <a:rPr lang="en"/>
              <a:t>Aucun joueur ne peut réduire son </a:t>
            </a:r>
            <a:r>
              <a:rPr lang="en"/>
              <a:t>coût</a:t>
            </a:r>
            <a:r>
              <a:rPr lang="en"/>
              <a:t> en changeant de voisin</a:t>
            </a:r>
            <a:endParaRPr/>
          </a:p>
          <a:p>
            <a:pPr indent="0" lvl="0" marL="0" rtl="0" algn="l">
              <a:lnSpc>
                <a:spcPct val="138000"/>
              </a:lnSpc>
              <a:spcBef>
                <a:spcPts val="0"/>
              </a:spcBef>
              <a:spcAft>
                <a:spcPts val="0"/>
              </a:spcAft>
              <a:buNone/>
            </a:pPr>
            <a:r>
              <a:t/>
            </a:r>
            <a:endParaRPr/>
          </a:p>
          <a:p>
            <a:pPr indent="0" lvl="0" marL="0" rtl="0" algn="l">
              <a:spcBef>
                <a:spcPts val="0"/>
              </a:spcBef>
              <a:spcAft>
                <a:spcPts val="0"/>
              </a:spcAft>
              <a:buNone/>
            </a:pPr>
            <a:r>
              <a:t/>
            </a:r>
            <a:endParaRPr>
              <a:solidFill>
                <a:srgbClr val="000000"/>
              </a:solidFill>
            </a:endParaRPr>
          </a:p>
        </p:txBody>
      </p:sp>
      <p:cxnSp>
        <p:nvCxnSpPr>
          <p:cNvPr id="423" name="Google Shape;423;p49"/>
          <p:cNvCxnSpPr/>
          <p:nvPr/>
        </p:nvCxnSpPr>
        <p:spPr>
          <a:xfrm>
            <a:off x="4490088" y="1279150"/>
            <a:ext cx="8700" cy="2359800"/>
          </a:xfrm>
          <a:prstGeom prst="straightConnector1">
            <a:avLst/>
          </a:prstGeom>
          <a:noFill/>
          <a:ln cap="flat" cmpd="sng" w="19050">
            <a:solidFill>
              <a:srgbClr val="CCCCCC"/>
            </a:solidFill>
            <a:prstDash val="dash"/>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0"/>
          <p:cNvSpPr txBox="1"/>
          <p:nvPr>
            <p:ph type="title"/>
          </p:nvPr>
        </p:nvSpPr>
        <p:spPr>
          <a:xfrm>
            <a:off x="713225"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Pourquoi les </a:t>
            </a:r>
            <a:r>
              <a:rPr lang="en" sz="2800"/>
              <a:t>équilibres</a:t>
            </a:r>
            <a:r>
              <a:rPr lang="en" sz="2800"/>
              <a:t> </a:t>
            </a:r>
            <a:r>
              <a:rPr lang="en" sz="2800"/>
              <a:t>dépendent</a:t>
            </a:r>
            <a:r>
              <a:rPr lang="en" sz="2800"/>
              <a:t> de μ ?</a:t>
            </a:r>
            <a:endParaRPr sz="2800"/>
          </a:p>
        </p:txBody>
      </p:sp>
      <p:sp>
        <p:nvSpPr>
          <p:cNvPr id="429" name="Google Shape;429;p50"/>
          <p:cNvSpPr txBox="1"/>
          <p:nvPr>
            <p:ph idx="1" type="subTitle"/>
          </p:nvPr>
        </p:nvSpPr>
        <p:spPr>
          <a:xfrm>
            <a:off x="4641275" y="1530575"/>
            <a:ext cx="3695100" cy="254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Epilogue SemiBold"/>
                <a:ea typeface="Epilogue SemiBold"/>
                <a:cs typeface="Epilogue SemiBold"/>
                <a:sym typeface="Epilogue SemiBold"/>
              </a:rPr>
              <a:t>Les </a:t>
            </a:r>
            <a:r>
              <a:rPr i="1" lang="en" sz="1600">
                <a:solidFill>
                  <a:schemeClr val="dk2"/>
                </a:solidFill>
                <a:latin typeface="Epilogue SemiBold"/>
                <a:ea typeface="Epilogue SemiBold"/>
                <a:cs typeface="Epilogue SemiBold"/>
                <a:sym typeface="Epilogue SemiBold"/>
              </a:rPr>
              <a:t>equilibres prior free</a:t>
            </a:r>
            <a:r>
              <a:rPr lang="en" sz="1600">
                <a:solidFill>
                  <a:schemeClr val="dk2"/>
                </a:solidFill>
                <a:latin typeface="Epilogue SemiBold"/>
                <a:ea typeface="Epilogue SemiBold"/>
                <a:cs typeface="Epilogue SemiBold"/>
                <a:sym typeface="Epilogue SemiBold"/>
              </a:rPr>
              <a:t> (PFNE</a:t>
            </a:r>
            <a:r>
              <a:rPr lang="en" sz="1600">
                <a:solidFill>
                  <a:schemeClr val="dk2"/>
                </a:solidFill>
                <a:latin typeface="Epilogue SemiBold"/>
                <a:ea typeface="Epilogue SemiBold"/>
                <a:cs typeface="Epilogue SemiBold"/>
                <a:sym typeface="Epilogue SemiBold"/>
              </a:rPr>
              <a:t>)</a:t>
            </a:r>
            <a:endParaRPr sz="1600">
              <a:solidFill>
                <a:schemeClr val="dk2"/>
              </a:solidFill>
              <a:latin typeface="Epilogue SemiBold"/>
              <a:ea typeface="Epilogue SemiBold"/>
              <a:cs typeface="Epilogue SemiBold"/>
              <a:sym typeface="Epilogue SemiBold"/>
            </a:endParaRPr>
          </a:p>
          <a:p>
            <a:pPr indent="0" lvl="0" marL="0" rtl="0" algn="l">
              <a:spcBef>
                <a:spcPts val="1000"/>
              </a:spcBef>
              <a:spcAft>
                <a:spcPts val="0"/>
              </a:spcAft>
              <a:buNone/>
            </a:pPr>
            <a:r>
              <a:rPr lang="en"/>
              <a:t>Équilibres valables pour toute loi initiale μ</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Dépendent uniquement :</a:t>
            </a:r>
            <a:endParaRPr/>
          </a:p>
          <a:p>
            <a:pPr indent="-317500" lvl="0" marL="457200" rtl="0" algn="l">
              <a:spcBef>
                <a:spcPts val="500"/>
              </a:spcBef>
              <a:spcAft>
                <a:spcPts val="0"/>
              </a:spcAft>
              <a:buSzPts val="1400"/>
              <a:buChar char="●"/>
            </a:pPr>
            <a:r>
              <a:rPr lang="en"/>
              <a:t>du graphe</a:t>
            </a:r>
            <a:endParaRPr/>
          </a:p>
          <a:p>
            <a:pPr indent="-317500" lvl="0" marL="457200" rtl="0" algn="l">
              <a:spcBef>
                <a:spcPts val="500"/>
              </a:spcBef>
              <a:spcAft>
                <a:spcPts val="0"/>
              </a:spcAft>
              <a:buSzPts val="1400"/>
              <a:buChar char="●"/>
            </a:pPr>
            <a:r>
              <a:rPr lang="en"/>
              <a:t>des stratégies</a:t>
            </a:r>
            <a:endParaRPr/>
          </a:p>
          <a:p>
            <a:pPr indent="0" lvl="0" marL="0" rtl="0" algn="l">
              <a:spcBef>
                <a:spcPts val="0"/>
              </a:spcBef>
              <a:spcAft>
                <a:spcPts val="0"/>
              </a:spcAft>
              <a:buNone/>
            </a:pPr>
            <a:r>
              <a:t/>
            </a:r>
            <a:endParaRPr/>
          </a:p>
        </p:txBody>
      </p:sp>
      <p:sp>
        <p:nvSpPr>
          <p:cNvPr id="430" name="Google Shape;430;p50"/>
          <p:cNvSpPr txBox="1"/>
          <p:nvPr>
            <p:ph idx="2" type="subTitle"/>
          </p:nvPr>
        </p:nvSpPr>
        <p:spPr>
          <a:xfrm>
            <a:off x="744650" y="1530575"/>
            <a:ext cx="3695100" cy="161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Epilogue SemiBold"/>
                <a:ea typeface="Epilogue SemiBold"/>
                <a:cs typeface="Epilogue SemiBold"/>
                <a:sym typeface="Epilogue SemiBold"/>
              </a:rPr>
              <a:t>Rôle</a:t>
            </a:r>
            <a:r>
              <a:rPr lang="en" sz="1600">
                <a:solidFill>
                  <a:schemeClr val="dk2"/>
                </a:solidFill>
                <a:latin typeface="Epilogue SemiBold"/>
                <a:ea typeface="Epilogue SemiBold"/>
                <a:cs typeface="Epilogue SemiBold"/>
                <a:sym typeface="Epilogue SemiBold"/>
              </a:rPr>
              <a:t> de la distribution initiale</a:t>
            </a:r>
            <a:endParaRPr sz="1600">
              <a:solidFill>
                <a:schemeClr val="dk2"/>
              </a:solidFill>
              <a:latin typeface="Epilogue SemiBold"/>
              <a:ea typeface="Epilogue SemiBold"/>
              <a:cs typeface="Epilogue SemiBold"/>
              <a:sym typeface="Epilogue SemiBold"/>
            </a:endParaRPr>
          </a:p>
          <a:p>
            <a:pPr indent="0" lvl="0" marL="0" rtl="0" algn="l">
              <a:spcBef>
                <a:spcPts val="1000"/>
              </a:spcBef>
              <a:spcAft>
                <a:spcPts val="0"/>
              </a:spcAft>
              <a:buNone/>
            </a:pPr>
            <a:r>
              <a:rPr lang="en"/>
              <a:t>Le </a:t>
            </a:r>
            <a:r>
              <a:rPr lang="en"/>
              <a:t>coût</a:t>
            </a:r>
            <a:r>
              <a:rPr lang="en"/>
              <a:t> </a:t>
            </a:r>
            <a:r>
              <a:rPr lang="en"/>
              <a:t>dépend :</a:t>
            </a:r>
            <a:endParaRPr/>
          </a:p>
          <a:p>
            <a:pPr indent="-317500" lvl="0" marL="457200" rtl="0" algn="l">
              <a:spcBef>
                <a:spcPts val="500"/>
              </a:spcBef>
              <a:spcAft>
                <a:spcPts val="0"/>
              </a:spcAft>
              <a:buSzPts val="1400"/>
              <a:buChar char="●"/>
            </a:pPr>
            <a:r>
              <a:rPr lang="en"/>
              <a:t>Du cycle atteint</a:t>
            </a:r>
            <a:endParaRPr/>
          </a:p>
          <a:p>
            <a:pPr indent="-317500" lvl="0" marL="457200" rtl="0" algn="l">
              <a:spcBef>
                <a:spcPts val="500"/>
              </a:spcBef>
              <a:spcAft>
                <a:spcPts val="0"/>
              </a:spcAft>
              <a:buSzPts val="1400"/>
              <a:buChar char="●"/>
            </a:pPr>
            <a:r>
              <a:rPr lang="en"/>
              <a:t>De sa longueur</a:t>
            </a:r>
            <a:endParaRPr/>
          </a:p>
          <a:p>
            <a:pPr indent="-317500" lvl="0" marL="457200" rtl="0" algn="l">
              <a:spcBef>
                <a:spcPts val="500"/>
              </a:spcBef>
              <a:spcAft>
                <a:spcPts val="0"/>
              </a:spcAft>
              <a:buSzPts val="1400"/>
              <a:buChar char="●"/>
            </a:pPr>
            <a:r>
              <a:rPr lang="en"/>
              <a:t>De la probabilité d’atteindre le cycle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431" name="Google Shape;431;p50" title="equation_20260102_170745.png"/>
          <p:cNvPicPr preferRelativeResize="0"/>
          <p:nvPr/>
        </p:nvPicPr>
        <p:blipFill>
          <a:blip r:embed="rId3">
            <a:alphaModFix/>
          </a:blip>
          <a:stretch>
            <a:fillRect/>
          </a:stretch>
        </p:blipFill>
        <p:spPr>
          <a:xfrm>
            <a:off x="1392925" y="3466162"/>
            <a:ext cx="2276650" cy="840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1"/>
          <p:cNvSpPr txBox="1"/>
          <p:nvPr>
            <p:ph type="title"/>
          </p:nvPr>
        </p:nvSpPr>
        <p:spPr>
          <a:xfrm>
            <a:off x="713225"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Chemin d'amélioration et FIP</a:t>
            </a:r>
            <a:endParaRPr/>
          </a:p>
          <a:p>
            <a:pPr indent="0" lvl="0" marL="0" rtl="0" algn="ctr">
              <a:spcBef>
                <a:spcPts val="0"/>
              </a:spcBef>
              <a:spcAft>
                <a:spcPts val="0"/>
              </a:spcAft>
              <a:buNone/>
            </a:pPr>
            <a:r>
              <a:t/>
            </a:r>
            <a:endParaRPr sz="2800"/>
          </a:p>
        </p:txBody>
      </p:sp>
      <p:sp>
        <p:nvSpPr>
          <p:cNvPr id="437" name="Google Shape;437;p51"/>
          <p:cNvSpPr txBox="1"/>
          <p:nvPr>
            <p:ph idx="1" type="subTitle"/>
          </p:nvPr>
        </p:nvSpPr>
        <p:spPr>
          <a:xfrm>
            <a:off x="4722125" y="1359425"/>
            <a:ext cx="3695100" cy="30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Epilogue SemiBold"/>
                <a:ea typeface="Epilogue SemiBold"/>
                <a:cs typeface="Epilogue SemiBold"/>
                <a:sym typeface="Epilogue SemiBold"/>
              </a:rPr>
              <a:t>Propriété de finitude des améliorations (FIP)</a:t>
            </a:r>
            <a:endParaRPr sz="1600">
              <a:solidFill>
                <a:schemeClr val="dk2"/>
              </a:solidFill>
              <a:latin typeface="Epilogue SemiBold"/>
              <a:ea typeface="Epilogue SemiBold"/>
              <a:cs typeface="Epilogue SemiBold"/>
              <a:sym typeface="Epilogue SemiBold"/>
            </a:endParaRPr>
          </a:p>
          <a:p>
            <a:pPr indent="0" lvl="0" marL="0" rtl="0" algn="l">
              <a:spcBef>
                <a:spcPts val="1000"/>
              </a:spcBef>
              <a:spcAft>
                <a:spcPts val="0"/>
              </a:spcAft>
              <a:buNone/>
            </a:pPr>
            <a:r>
              <a:rPr lang="en"/>
              <a:t>Comme:</a:t>
            </a:r>
            <a:endParaRPr/>
          </a:p>
          <a:p>
            <a:pPr indent="-317500" lvl="0" marL="457200" rtl="0" algn="l">
              <a:spcBef>
                <a:spcPts val="0"/>
              </a:spcBef>
              <a:spcAft>
                <a:spcPts val="0"/>
              </a:spcAft>
              <a:buClr>
                <a:schemeClr val="dk2"/>
              </a:buClr>
              <a:buSzPts val="1400"/>
              <a:buAutoNum type="arabicPeriod"/>
            </a:pPr>
            <a:r>
              <a:rPr lang="en"/>
              <a:t>Tout chemin d’amélioration est fini</a:t>
            </a:r>
            <a:endParaRPr/>
          </a:p>
          <a:p>
            <a:pPr indent="-317500" lvl="0" marL="457200" rtl="0" algn="l">
              <a:spcBef>
                <a:spcPts val="0"/>
              </a:spcBef>
              <a:spcAft>
                <a:spcPts val="0"/>
              </a:spcAft>
              <a:buClr>
                <a:schemeClr val="dk2"/>
              </a:buClr>
              <a:buSzPts val="1400"/>
              <a:buAutoNum type="arabicPeriod"/>
            </a:pPr>
            <a:r>
              <a:rPr lang="en"/>
              <a:t>On ne peut pas améliorer indéfiniment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Alors:</a:t>
            </a:r>
            <a:endParaRPr/>
          </a:p>
          <a:p>
            <a:pPr indent="0" lvl="0" marL="0" rtl="0" algn="l">
              <a:spcBef>
                <a:spcPts val="0"/>
              </a:spcBef>
              <a:spcAft>
                <a:spcPts val="0"/>
              </a:spcAft>
              <a:buNone/>
            </a:pPr>
            <a:r>
              <a:rPr lang="en"/>
              <a:t>Toute dynamique de meilleure </a:t>
            </a:r>
            <a:r>
              <a:rPr lang="en"/>
              <a:t>réponse</a:t>
            </a:r>
            <a:r>
              <a:rPr lang="en"/>
              <a:t> </a:t>
            </a:r>
            <a:r>
              <a:rPr b="1" lang="en"/>
              <a:t>converge </a:t>
            </a:r>
            <a:r>
              <a:rPr lang="en"/>
              <a:t>vers un  </a:t>
            </a:r>
            <a:r>
              <a:rPr b="1" lang="en"/>
              <a:t>équilibre de Nash pur</a:t>
            </a:r>
            <a:endParaRPr b="1"/>
          </a:p>
        </p:txBody>
      </p:sp>
      <p:sp>
        <p:nvSpPr>
          <p:cNvPr id="438" name="Google Shape;438;p51"/>
          <p:cNvSpPr txBox="1"/>
          <p:nvPr>
            <p:ph idx="2" type="subTitle"/>
          </p:nvPr>
        </p:nvSpPr>
        <p:spPr>
          <a:xfrm>
            <a:off x="866534" y="1359425"/>
            <a:ext cx="3695100" cy="193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Epilogue SemiBold"/>
                <a:ea typeface="Epilogue SemiBold"/>
                <a:cs typeface="Epilogue SemiBold"/>
                <a:sym typeface="Epilogue SemiBold"/>
              </a:rPr>
              <a:t>Chemin d’amelioration</a:t>
            </a:r>
            <a:endParaRPr sz="1600">
              <a:solidFill>
                <a:schemeClr val="dk2"/>
              </a:solidFill>
              <a:latin typeface="Epilogue SemiBold"/>
              <a:ea typeface="Epilogue SemiBold"/>
              <a:cs typeface="Epilogue SemiBold"/>
              <a:sym typeface="Epilogue SemiBold"/>
            </a:endParaRPr>
          </a:p>
          <a:p>
            <a:pPr indent="0" lvl="0" marL="0" rtl="0" algn="l">
              <a:spcBef>
                <a:spcPts val="1000"/>
              </a:spcBef>
              <a:spcAft>
                <a:spcPts val="0"/>
              </a:spcAft>
              <a:buNone/>
            </a:pPr>
            <a:r>
              <a:rPr lang="en"/>
              <a:t>Un chemin d’amélioration est une suite de meilleures réponses:</a:t>
            </a:r>
            <a:endParaRPr/>
          </a:p>
          <a:p>
            <a:pPr indent="457200" lvl="0" marL="457200" rtl="0" algn="l">
              <a:spcBef>
                <a:spcPts val="500"/>
              </a:spcBef>
              <a:spcAft>
                <a:spcPts val="0"/>
              </a:spcAft>
              <a:buNone/>
            </a:pPr>
            <a:r>
              <a:rPr lang="en"/>
              <a:t>s0→s1→s2→…</a:t>
            </a:r>
            <a:endParaRPr/>
          </a:p>
          <a:p>
            <a:pPr indent="0" lvl="0" marL="0" rtl="0" algn="l">
              <a:spcBef>
                <a:spcPts val="500"/>
              </a:spcBef>
              <a:spcAft>
                <a:spcPts val="0"/>
              </a:spcAft>
              <a:buNone/>
            </a:pPr>
            <a:r>
              <a:rPr lang="en"/>
              <a:t>où chaque sk+1​ est une déviation profitable </a:t>
            </a:r>
            <a:r>
              <a:rPr lang="en"/>
              <a:t>de sk</a:t>
            </a:r>
            <a:endParaRPr/>
          </a:p>
          <a:p>
            <a:pPr indent="0" lvl="0" marL="457200" rtl="0" algn="l">
              <a:spcBef>
                <a:spcPts val="5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439" name="Google Shape;439;p51" title="pathImprovement.png"/>
          <p:cNvPicPr preferRelativeResize="0"/>
          <p:nvPr/>
        </p:nvPicPr>
        <p:blipFill>
          <a:blip r:embed="rId3">
            <a:alphaModFix/>
          </a:blip>
          <a:stretch>
            <a:fillRect/>
          </a:stretch>
        </p:blipFill>
        <p:spPr>
          <a:xfrm>
            <a:off x="713237" y="3450119"/>
            <a:ext cx="3728532" cy="917575"/>
          </a:xfrm>
          <a:prstGeom prst="rect">
            <a:avLst/>
          </a:prstGeom>
          <a:noFill/>
          <a:ln>
            <a:noFill/>
          </a:ln>
        </p:spPr>
      </p:pic>
      <p:cxnSp>
        <p:nvCxnSpPr>
          <p:cNvPr id="440" name="Google Shape;440;p51"/>
          <p:cNvCxnSpPr/>
          <p:nvPr/>
        </p:nvCxnSpPr>
        <p:spPr>
          <a:xfrm>
            <a:off x="4577588" y="1233075"/>
            <a:ext cx="28500" cy="3457500"/>
          </a:xfrm>
          <a:prstGeom prst="straightConnector1">
            <a:avLst/>
          </a:prstGeom>
          <a:noFill/>
          <a:ln cap="flat" cmpd="sng" w="19050">
            <a:solidFill>
              <a:srgbClr val="CCCCCC"/>
            </a:solidFill>
            <a:prstDash val="dash"/>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2"/>
          <p:cNvSpPr/>
          <p:nvPr/>
        </p:nvSpPr>
        <p:spPr>
          <a:xfrm>
            <a:off x="1405350" y="2968775"/>
            <a:ext cx="6333300" cy="1644900"/>
          </a:xfrm>
          <a:prstGeom prst="roundRect">
            <a:avLst>
              <a:gd fmla="val 7267" name="adj"/>
            </a:avLst>
          </a:prstGeom>
          <a:solidFill>
            <a:srgbClr val="D7DFE5">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46" name="Google Shape;446;p52"/>
          <p:cNvSpPr txBox="1"/>
          <p:nvPr>
            <p:ph type="title"/>
          </p:nvPr>
        </p:nvSpPr>
        <p:spPr>
          <a:xfrm>
            <a:off x="713225"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Potentiel du jeu déterministe</a:t>
            </a:r>
            <a:endParaRPr/>
          </a:p>
        </p:txBody>
      </p:sp>
      <p:sp>
        <p:nvSpPr>
          <p:cNvPr id="447" name="Google Shape;447;p52"/>
          <p:cNvSpPr txBox="1"/>
          <p:nvPr>
            <p:ph idx="1" type="subTitle"/>
          </p:nvPr>
        </p:nvSpPr>
        <p:spPr>
          <a:xfrm>
            <a:off x="5383101" y="1382375"/>
            <a:ext cx="2628000" cy="122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Epilogue SemiBold"/>
                <a:ea typeface="Epilogue SemiBold"/>
                <a:cs typeface="Epilogue SemiBold"/>
                <a:sym typeface="Epilogue SemiBold"/>
              </a:rPr>
              <a:t>Conséquences</a:t>
            </a:r>
            <a:endParaRPr sz="1600">
              <a:solidFill>
                <a:schemeClr val="dk2"/>
              </a:solidFill>
              <a:latin typeface="Epilogue SemiBold"/>
              <a:ea typeface="Epilogue SemiBold"/>
              <a:cs typeface="Epilogue SemiBold"/>
              <a:sym typeface="Epilogue SemiBold"/>
            </a:endParaRPr>
          </a:p>
          <a:p>
            <a:pPr indent="0" lvl="0" marL="0" rtl="0" algn="l">
              <a:spcBef>
                <a:spcPts val="1000"/>
              </a:spcBef>
              <a:spcAft>
                <a:spcPts val="0"/>
              </a:spcAft>
              <a:buNone/>
            </a:pPr>
            <a:r>
              <a:rPr lang="en"/>
              <a:t>Un jeu fini admet un potentiel ordinal généralisé ⇔ Il satisfait la FIP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48" name="Google Shape;448;p52"/>
          <p:cNvSpPr txBox="1"/>
          <p:nvPr>
            <p:ph idx="2" type="subTitle"/>
          </p:nvPr>
        </p:nvSpPr>
        <p:spPr>
          <a:xfrm>
            <a:off x="1219700" y="1382375"/>
            <a:ext cx="3538500" cy="122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Epilogue SemiBold"/>
                <a:ea typeface="Epilogue SemiBold"/>
                <a:cs typeface="Epilogue SemiBold"/>
                <a:sym typeface="Epilogue SemiBold"/>
              </a:rPr>
              <a:t>Fonction potentiel</a:t>
            </a:r>
            <a:endParaRPr sz="1600">
              <a:solidFill>
                <a:schemeClr val="dk2"/>
              </a:solidFill>
              <a:latin typeface="Epilogue SemiBold"/>
              <a:ea typeface="Epilogue SemiBold"/>
              <a:cs typeface="Epilogue SemiBold"/>
              <a:sym typeface="Epilogue SemiBold"/>
            </a:endParaRPr>
          </a:p>
          <a:p>
            <a:pPr indent="0" lvl="0" marL="0" rtl="0" algn="l">
              <a:spcBef>
                <a:spcPts val="1000"/>
              </a:spcBef>
              <a:spcAft>
                <a:spcPts val="0"/>
              </a:spcAft>
              <a:buNone/>
            </a:pPr>
            <a:r>
              <a:rPr lang="en"/>
              <a:t>La fonction potentiel</a:t>
            </a:r>
            <a:r>
              <a:rPr lang="en"/>
              <a:t> sert</a:t>
            </a:r>
            <a:r>
              <a:rPr lang="en"/>
              <a:t> à  mesurer la qualité d’un profil </a:t>
            </a:r>
            <a:endParaRPr/>
          </a:p>
          <a:p>
            <a:pPr indent="0" lvl="0" marL="0" rtl="0" algn="l">
              <a:spcBef>
                <a:spcPts val="0"/>
              </a:spcBef>
              <a:spcAft>
                <a:spcPts val="0"/>
              </a:spcAft>
              <a:buNone/>
            </a:pPr>
            <a:r>
              <a:t/>
            </a:r>
            <a:endParaRPr/>
          </a:p>
        </p:txBody>
      </p:sp>
      <p:sp>
        <p:nvSpPr>
          <p:cNvPr id="449" name="Google Shape;449;p52"/>
          <p:cNvSpPr txBox="1"/>
          <p:nvPr/>
        </p:nvSpPr>
        <p:spPr>
          <a:xfrm>
            <a:off x="1405350" y="3011125"/>
            <a:ext cx="3132300" cy="1557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lbert Sans"/>
              <a:buAutoNum type="arabicPeriod"/>
            </a:pPr>
            <a:r>
              <a:rPr lang="en">
                <a:solidFill>
                  <a:schemeClr val="dk1"/>
                </a:solidFill>
                <a:latin typeface="Albert Sans"/>
                <a:ea typeface="Albert Sans"/>
                <a:cs typeface="Albert Sans"/>
                <a:sym typeface="Albert Sans"/>
              </a:rPr>
              <a:t>Potentiel si :</a:t>
            </a:r>
            <a:endParaRPr>
              <a:solidFill>
                <a:schemeClr val="dk1"/>
              </a:solidFill>
              <a:latin typeface="Albert Sans"/>
              <a:ea typeface="Albert Sans"/>
              <a:cs typeface="Albert Sans"/>
              <a:sym typeface="Albert Sans"/>
            </a:endParaRPr>
          </a:p>
          <a:p>
            <a:pPr indent="0" lvl="0" marL="457200" rtl="0" algn="l">
              <a:spcBef>
                <a:spcPts val="500"/>
              </a:spcBef>
              <a:spcAft>
                <a:spcPts val="0"/>
              </a:spcAft>
              <a:buNone/>
            </a:pPr>
            <a:r>
              <a:t/>
            </a:r>
            <a:endParaRPr>
              <a:solidFill>
                <a:schemeClr val="dk1"/>
              </a:solidFill>
              <a:latin typeface="Albert Sans"/>
              <a:ea typeface="Albert Sans"/>
              <a:cs typeface="Albert Sans"/>
              <a:sym typeface="Albert Sans"/>
            </a:endParaRPr>
          </a:p>
          <a:p>
            <a:pPr indent="-317500" lvl="0" marL="457200" rtl="0" algn="l">
              <a:spcBef>
                <a:spcPts val="500"/>
              </a:spcBef>
              <a:spcAft>
                <a:spcPts val="0"/>
              </a:spcAft>
              <a:buClr>
                <a:schemeClr val="dk1"/>
              </a:buClr>
              <a:buSzPts val="1400"/>
              <a:buFont typeface="Albert Sans"/>
              <a:buAutoNum type="arabicPeriod"/>
            </a:pPr>
            <a:r>
              <a:rPr lang="en">
                <a:solidFill>
                  <a:schemeClr val="dk1"/>
                </a:solidFill>
                <a:latin typeface="Albert Sans"/>
                <a:ea typeface="Albert Sans"/>
                <a:cs typeface="Albert Sans"/>
                <a:sym typeface="Albert Sans"/>
              </a:rPr>
              <a:t>Potentiel </a:t>
            </a:r>
            <a:r>
              <a:rPr lang="en">
                <a:solidFill>
                  <a:schemeClr val="dk1"/>
                </a:solidFill>
                <a:latin typeface="Albert Sans"/>
                <a:ea typeface="Albert Sans"/>
                <a:cs typeface="Albert Sans"/>
                <a:sym typeface="Albert Sans"/>
              </a:rPr>
              <a:t>ordinal</a:t>
            </a:r>
            <a:r>
              <a:rPr lang="en">
                <a:solidFill>
                  <a:schemeClr val="dk1"/>
                </a:solidFill>
                <a:latin typeface="Albert Sans"/>
                <a:ea typeface="Albert Sans"/>
                <a:cs typeface="Albert Sans"/>
                <a:sym typeface="Albert Sans"/>
              </a:rPr>
              <a:t> si :</a:t>
            </a:r>
            <a:endParaRPr>
              <a:solidFill>
                <a:schemeClr val="dk1"/>
              </a:solidFill>
              <a:latin typeface="Albert Sans"/>
              <a:ea typeface="Albert Sans"/>
              <a:cs typeface="Albert Sans"/>
              <a:sym typeface="Albert Sans"/>
            </a:endParaRPr>
          </a:p>
          <a:p>
            <a:pPr indent="0" lvl="0" marL="457200" rtl="0" algn="l">
              <a:spcBef>
                <a:spcPts val="500"/>
              </a:spcBef>
              <a:spcAft>
                <a:spcPts val="0"/>
              </a:spcAft>
              <a:buNone/>
            </a:pPr>
            <a:r>
              <a:t/>
            </a:r>
            <a:endParaRPr>
              <a:solidFill>
                <a:schemeClr val="dk1"/>
              </a:solidFill>
              <a:latin typeface="Albert Sans"/>
              <a:ea typeface="Albert Sans"/>
              <a:cs typeface="Albert Sans"/>
              <a:sym typeface="Albert Sans"/>
            </a:endParaRPr>
          </a:p>
          <a:p>
            <a:pPr indent="-317500" lvl="0" marL="457200" rtl="0" algn="l">
              <a:spcBef>
                <a:spcPts val="500"/>
              </a:spcBef>
              <a:spcAft>
                <a:spcPts val="500"/>
              </a:spcAft>
              <a:buClr>
                <a:schemeClr val="dk1"/>
              </a:buClr>
              <a:buSzPts val="1400"/>
              <a:buFont typeface="Albert Sans"/>
              <a:buAutoNum type="arabicPeriod"/>
            </a:pPr>
            <a:r>
              <a:rPr lang="en">
                <a:solidFill>
                  <a:schemeClr val="dk1"/>
                </a:solidFill>
                <a:latin typeface="Albert Sans"/>
                <a:ea typeface="Albert Sans"/>
                <a:cs typeface="Albert Sans"/>
                <a:sym typeface="Albert Sans"/>
              </a:rPr>
              <a:t>Potentiel ordinal </a:t>
            </a:r>
            <a:r>
              <a:rPr lang="en">
                <a:solidFill>
                  <a:schemeClr val="dk1"/>
                </a:solidFill>
                <a:latin typeface="Albert Sans"/>
                <a:ea typeface="Albert Sans"/>
                <a:cs typeface="Albert Sans"/>
                <a:sym typeface="Albert Sans"/>
              </a:rPr>
              <a:t>généralisé</a:t>
            </a:r>
            <a:r>
              <a:rPr lang="en">
                <a:solidFill>
                  <a:schemeClr val="dk1"/>
                </a:solidFill>
                <a:latin typeface="Albert Sans"/>
                <a:ea typeface="Albert Sans"/>
                <a:cs typeface="Albert Sans"/>
                <a:sym typeface="Albert Sans"/>
              </a:rPr>
              <a:t> si :</a:t>
            </a:r>
            <a:endParaRPr>
              <a:solidFill>
                <a:schemeClr val="dk1"/>
              </a:solidFill>
              <a:latin typeface="Albert Sans"/>
              <a:ea typeface="Albert Sans"/>
              <a:cs typeface="Albert Sans"/>
              <a:sym typeface="Albert Sans"/>
            </a:endParaRPr>
          </a:p>
        </p:txBody>
      </p:sp>
      <p:pic>
        <p:nvPicPr>
          <p:cNvPr id="450" name="Google Shape;450;p52" title="equation_20260102_173825.png"/>
          <p:cNvPicPr preferRelativeResize="0"/>
          <p:nvPr/>
        </p:nvPicPr>
        <p:blipFill>
          <a:blip r:embed="rId3">
            <a:alphaModFix/>
          </a:blip>
          <a:stretch>
            <a:fillRect/>
          </a:stretch>
        </p:blipFill>
        <p:spPr>
          <a:xfrm>
            <a:off x="4657775" y="4198950"/>
            <a:ext cx="2948999" cy="306018"/>
          </a:xfrm>
          <a:prstGeom prst="rect">
            <a:avLst/>
          </a:prstGeom>
          <a:noFill/>
          <a:ln>
            <a:noFill/>
          </a:ln>
        </p:spPr>
      </p:pic>
      <p:pic>
        <p:nvPicPr>
          <p:cNvPr id="451" name="Google Shape;451;p52" title="equation_20260102_174006.png"/>
          <p:cNvPicPr preferRelativeResize="0"/>
          <p:nvPr/>
        </p:nvPicPr>
        <p:blipFill>
          <a:blip r:embed="rId4">
            <a:alphaModFix/>
          </a:blip>
          <a:stretch>
            <a:fillRect/>
          </a:stretch>
        </p:blipFill>
        <p:spPr>
          <a:xfrm>
            <a:off x="4657775" y="3636750"/>
            <a:ext cx="2948999" cy="306031"/>
          </a:xfrm>
          <a:prstGeom prst="rect">
            <a:avLst/>
          </a:prstGeom>
          <a:noFill/>
          <a:ln>
            <a:noFill/>
          </a:ln>
        </p:spPr>
      </p:pic>
      <p:pic>
        <p:nvPicPr>
          <p:cNvPr id="452" name="Google Shape;452;p52" title="equation_20260102_174212.png"/>
          <p:cNvPicPr preferRelativeResize="0"/>
          <p:nvPr/>
        </p:nvPicPr>
        <p:blipFill>
          <a:blip r:embed="rId5">
            <a:alphaModFix/>
          </a:blip>
          <a:stretch>
            <a:fillRect/>
          </a:stretch>
        </p:blipFill>
        <p:spPr>
          <a:xfrm>
            <a:off x="4657774" y="3063436"/>
            <a:ext cx="2949000" cy="31714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3"/>
          <p:cNvSpPr/>
          <p:nvPr/>
        </p:nvSpPr>
        <p:spPr>
          <a:xfrm>
            <a:off x="4720050" y="1554425"/>
            <a:ext cx="3295500" cy="1244100"/>
          </a:xfrm>
          <a:prstGeom prst="roundRect">
            <a:avLst>
              <a:gd fmla="val 7267" name="adj"/>
            </a:avLst>
          </a:prstGeom>
          <a:solidFill>
            <a:srgbClr val="D7DFE5">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58" name="Google Shape;458;p53"/>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Déviations possibles sur un cycle</a:t>
            </a:r>
            <a:endParaRPr/>
          </a:p>
        </p:txBody>
      </p:sp>
      <p:sp>
        <p:nvSpPr>
          <p:cNvPr id="459" name="Google Shape;459;p53"/>
          <p:cNvSpPr txBox="1"/>
          <p:nvPr>
            <p:ph idx="1" type="subTitle"/>
          </p:nvPr>
        </p:nvSpPr>
        <p:spPr>
          <a:xfrm>
            <a:off x="4814770" y="3313144"/>
            <a:ext cx="2795100" cy="10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P</a:t>
            </a:r>
            <a:r>
              <a:rPr lang="en"/>
              <a:t>asser le buck vers une autre composante</a:t>
            </a:r>
            <a:endParaRPr/>
          </a:p>
          <a:p>
            <a:pPr indent="0" lvl="0" marL="0" rtl="0" algn="just">
              <a:spcBef>
                <a:spcPts val="0"/>
              </a:spcBef>
              <a:spcAft>
                <a:spcPts val="0"/>
              </a:spcAft>
              <a:buNone/>
            </a:pPr>
            <a:r>
              <a:t/>
            </a:r>
            <a:endParaRPr/>
          </a:p>
          <a:p>
            <a:pPr indent="0" lvl="0" marL="0" rtl="0" algn="just">
              <a:spcBef>
                <a:spcPts val="0"/>
              </a:spcBef>
              <a:spcAft>
                <a:spcPts val="0"/>
              </a:spcAft>
              <a:buNone/>
            </a:pPr>
            <a:r>
              <a:rPr i="1" lang="en">
                <a:solidFill>
                  <a:schemeClr val="dk2"/>
                </a:solidFill>
              </a:rPr>
              <a:t>Réduire</a:t>
            </a:r>
            <a:r>
              <a:rPr i="1" lang="en">
                <a:solidFill>
                  <a:schemeClr val="dk2"/>
                </a:solidFill>
              </a:rPr>
              <a:t> le </a:t>
            </a:r>
            <a:r>
              <a:rPr i="1" lang="en">
                <a:solidFill>
                  <a:schemeClr val="dk2"/>
                </a:solidFill>
              </a:rPr>
              <a:t>coût</a:t>
            </a:r>
            <a:r>
              <a:rPr i="1" lang="en">
                <a:solidFill>
                  <a:schemeClr val="dk2"/>
                </a:solidFill>
              </a:rPr>
              <a:t> à 0</a:t>
            </a:r>
            <a:endParaRPr i="1">
              <a:solidFill>
                <a:schemeClr val="dk2"/>
              </a:solidFill>
            </a:endParaRPr>
          </a:p>
        </p:txBody>
      </p:sp>
      <p:sp>
        <p:nvSpPr>
          <p:cNvPr id="460" name="Google Shape;460;p53"/>
          <p:cNvSpPr txBox="1"/>
          <p:nvPr>
            <p:ph idx="2" type="subTitle"/>
          </p:nvPr>
        </p:nvSpPr>
        <p:spPr>
          <a:xfrm>
            <a:off x="1527475" y="3313147"/>
            <a:ext cx="2795100" cy="1373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P</a:t>
            </a:r>
            <a:r>
              <a:rPr lang="en"/>
              <a:t>asser le buck à quelqu’un hors du cycle mais dans la même composante</a:t>
            </a:r>
            <a:endParaRPr/>
          </a:p>
          <a:p>
            <a:pPr indent="0" lvl="0" marL="0" rtl="0" algn="just">
              <a:spcBef>
                <a:spcPts val="0"/>
              </a:spcBef>
              <a:spcAft>
                <a:spcPts val="0"/>
              </a:spcAft>
              <a:buNone/>
            </a:pPr>
            <a:r>
              <a:rPr i="1" lang="en">
                <a:solidFill>
                  <a:schemeClr val="dk2"/>
                </a:solidFill>
              </a:rPr>
              <a:t>Le cout 1 / |C| diminue : d</a:t>
            </a:r>
            <a:r>
              <a:rPr i="1" lang="en">
                <a:solidFill>
                  <a:schemeClr val="dk2"/>
                </a:solidFill>
              </a:rPr>
              <a:t>iluer</a:t>
            </a:r>
            <a:r>
              <a:rPr i="1" lang="en">
                <a:solidFill>
                  <a:schemeClr val="dk2"/>
                </a:solidFill>
              </a:rPr>
              <a:t> Ψ</a:t>
            </a:r>
            <a:endParaRPr i="1">
              <a:solidFill>
                <a:schemeClr val="dk2"/>
              </a:solidFill>
            </a:endParaRPr>
          </a:p>
        </p:txBody>
      </p:sp>
      <p:sp>
        <p:nvSpPr>
          <p:cNvPr id="461" name="Google Shape;461;p53"/>
          <p:cNvSpPr txBox="1"/>
          <p:nvPr>
            <p:ph idx="3" type="subTitle"/>
          </p:nvPr>
        </p:nvSpPr>
        <p:spPr>
          <a:xfrm>
            <a:off x="1527480" y="2900198"/>
            <a:ext cx="2795100" cy="558900"/>
          </a:xfrm>
          <a:prstGeom prst="rect">
            <a:avLst/>
          </a:prstGeom>
        </p:spPr>
        <p:txBody>
          <a:bodyPr anchorCtr="0" anchor="b" bIns="91425" lIns="91425" spcFirstLastPara="1" rIns="91425" wrap="square" tIns="91425">
            <a:noAutofit/>
          </a:bodyPr>
          <a:lstStyle/>
          <a:p>
            <a:pPr indent="-355600" lvl="0" marL="457200" rtl="0" algn="ctr">
              <a:spcBef>
                <a:spcPts val="0"/>
              </a:spcBef>
              <a:spcAft>
                <a:spcPts val="0"/>
              </a:spcAft>
              <a:buClr>
                <a:schemeClr val="dk2"/>
              </a:buClr>
              <a:buSzPts val="2000"/>
              <a:buAutoNum type="arabicPeriod"/>
            </a:pPr>
            <a:r>
              <a:rPr lang="en">
                <a:solidFill>
                  <a:schemeClr val="dk2"/>
                </a:solidFill>
              </a:rPr>
              <a:t>Allonger le cycle</a:t>
            </a:r>
            <a:endParaRPr>
              <a:solidFill>
                <a:schemeClr val="dk2"/>
              </a:solidFill>
            </a:endParaRPr>
          </a:p>
        </p:txBody>
      </p:sp>
      <p:sp>
        <p:nvSpPr>
          <p:cNvPr id="462" name="Google Shape;462;p53"/>
          <p:cNvSpPr txBox="1"/>
          <p:nvPr>
            <p:ph idx="4" type="subTitle"/>
          </p:nvPr>
        </p:nvSpPr>
        <p:spPr>
          <a:xfrm>
            <a:off x="4814770" y="2900186"/>
            <a:ext cx="27951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02. Briser le cycle</a:t>
            </a:r>
            <a:endParaRPr>
              <a:solidFill>
                <a:schemeClr val="dk2"/>
              </a:solidFill>
            </a:endParaRPr>
          </a:p>
        </p:txBody>
      </p:sp>
      <p:sp>
        <p:nvSpPr>
          <p:cNvPr id="463" name="Google Shape;463;p53"/>
          <p:cNvSpPr txBox="1"/>
          <p:nvPr/>
        </p:nvSpPr>
        <p:spPr>
          <a:xfrm>
            <a:off x="4720175" y="1606238"/>
            <a:ext cx="3295500" cy="118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Epilogue SemiBold"/>
                <a:ea typeface="Epilogue SemiBold"/>
                <a:cs typeface="Epilogue SemiBold"/>
                <a:sym typeface="Epilogue SemiBold"/>
              </a:rPr>
              <a:t>Interpretation</a:t>
            </a:r>
            <a:endParaRPr sz="1600">
              <a:solidFill>
                <a:schemeClr val="dk2"/>
              </a:solidFill>
              <a:latin typeface="Epilogue SemiBold"/>
              <a:ea typeface="Epilogue SemiBold"/>
              <a:cs typeface="Epilogue SemiBold"/>
              <a:sym typeface="Epilogue SemiBold"/>
            </a:endParaRPr>
          </a:p>
          <a:p>
            <a:pPr indent="-317500" lvl="0" marL="457200" rtl="0" algn="l">
              <a:spcBef>
                <a:spcPts val="0"/>
              </a:spcBef>
              <a:spcAft>
                <a:spcPts val="0"/>
              </a:spcAft>
              <a:buClr>
                <a:schemeClr val="dk1"/>
              </a:buClr>
              <a:buSzPts val="1400"/>
              <a:buFont typeface="Albert Sans"/>
              <a:buAutoNum type="arabicPeriod"/>
            </a:pPr>
            <a:r>
              <a:rPr lang="en">
                <a:solidFill>
                  <a:schemeClr val="dk1"/>
                </a:solidFill>
                <a:latin typeface="Albert Sans"/>
                <a:ea typeface="Albert Sans"/>
                <a:cs typeface="Albert Sans"/>
                <a:sym typeface="Albert Sans"/>
              </a:rPr>
              <a:t>Cycles courts : forte pénalité</a:t>
            </a:r>
            <a:endParaRPr>
              <a:solidFill>
                <a:schemeClr val="dk1"/>
              </a:solidFill>
              <a:latin typeface="Albert Sans"/>
              <a:ea typeface="Albert Sans"/>
              <a:cs typeface="Albert Sans"/>
              <a:sym typeface="Albert Sans"/>
            </a:endParaRPr>
          </a:p>
          <a:p>
            <a:pPr indent="-317500" lvl="0" marL="457200" rtl="0" algn="l">
              <a:spcBef>
                <a:spcPts val="0"/>
              </a:spcBef>
              <a:spcAft>
                <a:spcPts val="0"/>
              </a:spcAft>
              <a:buClr>
                <a:schemeClr val="dk1"/>
              </a:buClr>
              <a:buSzPts val="1400"/>
              <a:buFont typeface="Albert Sans"/>
              <a:buAutoNum type="arabicPeriod"/>
            </a:pPr>
            <a:r>
              <a:rPr lang="en">
                <a:solidFill>
                  <a:schemeClr val="dk1"/>
                </a:solidFill>
                <a:latin typeface="Albert Sans"/>
                <a:ea typeface="Albert Sans"/>
                <a:cs typeface="Albert Sans"/>
                <a:sym typeface="Albert Sans"/>
              </a:rPr>
              <a:t>Cycles </a:t>
            </a:r>
            <a:r>
              <a:rPr lang="en">
                <a:solidFill>
                  <a:schemeClr val="dk1"/>
                </a:solidFill>
                <a:latin typeface="Albert Sans"/>
                <a:ea typeface="Albert Sans"/>
                <a:cs typeface="Albert Sans"/>
                <a:sym typeface="Albert Sans"/>
              </a:rPr>
              <a:t>longs : améliore</a:t>
            </a:r>
            <a:r>
              <a:rPr lang="en">
                <a:solidFill>
                  <a:schemeClr val="dk1"/>
                </a:solidFill>
                <a:latin typeface="Albert Sans"/>
                <a:ea typeface="Albert Sans"/>
                <a:cs typeface="Albert Sans"/>
                <a:sym typeface="Albert Sans"/>
              </a:rPr>
              <a:t> Ψ</a:t>
            </a:r>
            <a:endParaRPr>
              <a:solidFill>
                <a:schemeClr val="dk1"/>
              </a:solidFill>
              <a:latin typeface="Albert Sans"/>
              <a:ea typeface="Albert Sans"/>
              <a:cs typeface="Albert Sans"/>
              <a:sym typeface="Albert Sans"/>
            </a:endParaRPr>
          </a:p>
          <a:p>
            <a:pPr indent="-317500" lvl="0" marL="457200" rtl="0" algn="l">
              <a:spcBef>
                <a:spcPts val="0"/>
              </a:spcBef>
              <a:spcAft>
                <a:spcPts val="0"/>
              </a:spcAft>
              <a:buClr>
                <a:schemeClr val="dk1"/>
              </a:buClr>
              <a:buSzPts val="1400"/>
              <a:buFont typeface="Albert Sans"/>
              <a:buAutoNum type="arabicPeriod"/>
            </a:pPr>
            <a:r>
              <a:rPr lang="en">
                <a:solidFill>
                  <a:schemeClr val="dk1"/>
                </a:solidFill>
                <a:latin typeface="Albert Sans"/>
                <a:ea typeface="Albert Sans"/>
                <a:cs typeface="Albert Sans"/>
                <a:sym typeface="Albert Sans"/>
              </a:rPr>
              <a:t>Pas de cycle : idéal</a:t>
            </a:r>
            <a:endParaRPr>
              <a:solidFill>
                <a:schemeClr val="dk1"/>
              </a:solidFill>
              <a:latin typeface="Albert Sans"/>
              <a:ea typeface="Albert Sans"/>
              <a:cs typeface="Albert Sans"/>
              <a:sym typeface="Albert Sans"/>
            </a:endParaRPr>
          </a:p>
        </p:txBody>
      </p:sp>
      <p:sp>
        <p:nvSpPr>
          <p:cNvPr id="464" name="Google Shape;464;p53"/>
          <p:cNvSpPr txBox="1"/>
          <p:nvPr/>
        </p:nvSpPr>
        <p:spPr>
          <a:xfrm>
            <a:off x="1527475" y="1633650"/>
            <a:ext cx="3295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Albert Sans"/>
                <a:ea typeface="Albert Sans"/>
                <a:cs typeface="Albert Sans"/>
                <a:sym typeface="Albert Sans"/>
              </a:rPr>
              <a:t>On a Ψ la fonction potentiel:</a:t>
            </a:r>
            <a:endParaRPr/>
          </a:p>
        </p:txBody>
      </p:sp>
      <p:pic>
        <p:nvPicPr>
          <p:cNvPr id="465" name="Google Shape;465;p53" title="equation_20260102_174342.png"/>
          <p:cNvPicPr preferRelativeResize="0"/>
          <p:nvPr/>
        </p:nvPicPr>
        <p:blipFill>
          <a:blip r:embed="rId3">
            <a:alphaModFix/>
          </a:blip>
          <a:stretch>
            <a:fillRect/>
          </a:stretch>
        </p:blipFill>
        <p:spPr>
          <a:xfrm>
            <a:off x="1615740" y="2135551"/>
            <a:ext cx="1945435" cy="662950"/>
          </a:xfrm>
          <a:prstGeom prst="rect">
            <a:avLst/>
          </a:prstGeom>
          <a:noFill/>
          <a:ln>
            <a:noFill/>
          </a:ln>
        </p:spPr>
      </p:pic>
      <p:sp>
        <p:nvSpPr>
          <p:cNvPr id="466" name="Google Shape;466;p53"/>
          <p:cNvSpPr txBox="1"/>
          <p:nvPr/>
        </p:nvSpPr>
        <p:spPr>
          <a:xfrm>
            <a:off x="7609875" y="3240750"/>
            <a:ext cx="15447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Albert Sans"/>
              <a:buChar char="+"/>
            </a:pPr>
            <a:r>
              <a:t/>
            </a:r>
            <a:endParaRPr>
              <a:solidFill>
                <a:schemeClr val="dk1"/>
              </a:solidFill>
              <a:latin typeface="Albert Sans"/>
              <a:ea typeface="Albert Sans"/>
              <a:cs typeface="Albert Sans"/>
              <a:sym typeface="Albert Sans"/>
            </a:endParaRPr>
          </a:p>
        </p:txBody>
      </p:sp>
      <p:sp>
        <p:nvSpPr>
          <p:cNvPr id="467" name="Google Shape;467;p53"/>
          <p:cNvSpPr txBox="1"/>
          <p:nvPr/>
        </p:nvSpPr>
        <p:spPr>
          <a:xfrm>
            <a:off x="-557425" y="3355875"/>
            <a:ext cx="70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p:txBody>
      </p:sp>
      <p:sp>
        <p:nvSpPr>
          <p:cNvPr id="468" name="Google Shape;468;p53"/>
          <p:cNvSpPr txBox="1"/>
          <p:nvPr/>
        </p:nvSpPr>
        <p:spPr>
          <a:xfrm>
            <a:off x="-1118075" y="2981275"/>
            <a:ext cx="70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4"/>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Borne de convergence</a:t>
            </a:r>
            <a:endParaRPr/>
          </a:p>
        </p:txBody>
      </p:sp>
      <p:sp>
        <p:nvSpPr>
          <p:cNvPr id="474" name="Google Shape;474;p54"/>
          <p:cNvSpPr txBox="1"/>
          <p:nvPr>
            <p:ph idx="1" type="subTitle"/>
          </p:nvPr>
        </p:nvSpPr>
        <p:spPr>
          <a:xfrm>
            <a:off x="813725" y="3712025"/>
            <a:ext cx="3339300" cy="1079400"/>
          </a:xfrm>
          <a:prstGeom prst="rect">
            <a:avLst/>
          </a:prstGeom>
        </p:spPr>
        <p:txBody>
          <a:bodyPr anchorCtr="0" anchor="t" bIns="91425" lIns="91425" spcFirstLastPara="1" rIns="91425" wrap="square" tIns="91425">
            <a:noAutofit/>
          </a:bodyPr>
          <a:lstStyle/>
          <a:p>
            <a:pPr indent="-317500" lvl="0" marL="457200" rtl="0" algn="just">
              <a:spcBef>
                <a:spcPts val="0"/>
              </a:spcBef>
              <a:spcAft>
                <a:spcPts val="0"/>
              </a:spcAft>
              <a:buSzPts val="1400"/>
              <a:buChar char="-"/>
            </a:pPr>
            <a:r>
              <a:rPr lang="en"/>
              <a:t>Graphe complet </a:t>
            </a:r>
            <a:r>
              <a:rPr b="1" lang="en">
                <a:solidFill>
                  <a:srgbClr val="B45F06"/>
                </a:solidFill>
              </a:rPr>
              <a:t>K</a:t>
            </a:r>
            <a:r>
              <a:rPr b="1" baseline="-25000" lang="en">
                <a:solidFill>
                  <a:srgbClr val="B45F06"/>
                </a:solidFill>
              </a:rPr>
              <a:t>n</a:t>
            </a:r>
            <a:endParaRPr b="1" baseline="-25000">
              <a:solidFill>
                <a:srgbClr val="B45F06"/>
              </a:solidFill>
            </a:endParaRPr>
          </a:p>
          <a:p>
            <a:pPr indent="-317500" lvl="0" marL="457200" rtl="0" algn="just">
              <a:spcBef>
                <a:spcPts val="0"/>
              </a:spcBef>
              <a:spcAft>
                <a:spcPts val="0"/>
              </a:spcAft>
              <a:buSzPts val="1400"/>
              <a:buChar char="-"/>
            </a:pPr>
            <a:r>
              <a:rPr b="1" lang="en"/>
              <a:t>n</a:t>
            </a:r>
            <a:r>
              <a:rPr lang="en"/>
              <a:t> pair</a:t>
            </a:r>
            <a:endParaRPr/>
          </a:p>
          <a:p>
            <a:pPr indent="-317500" lvl="0" marL="457200" rtl="0" algn="just">
              <a:spcBef>
                <a:spcPts val="0"/>
              </a:spcBef>
              <a:spcAft>
                <a:spcPts val="0"/>
              </a:spcAft>
              <a:buSzPts val="1400"/>
              <a:buChar char="-"/>
            </a:pPr>
            <a:r>
              <a:rPr b="1" lang="en"/>
              <a:t>n/2</a:t>
            </a:r>
            <a:r>
              <a:rPr lang="en"/>
              <a:t> cycles de taille 2 au départ</a:t>
            </a:r>
            <a:endParaRPr/>
          </a:p>
        </p:txBody>
      </p:sp>
      <p:sp>
        <p:nvSpPr>
          <p:cNvPr id="475" name="Google Shape;475;p54"/>
          <p:cNvSpPr txBox="1"/>
          <p:nvPr>
            <p:ph idx="2" type="subTitle"/>
          </p:nvPr>
        </p:nvSpPr>
        <p:spPr>
          <a:xfrm>
            <a:off x="713225" y="1753050"/>
            <a:ext cx="3040800" cy="10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Longueur maximale d’un chemin d’amélioration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Cette borne est atteignable</a:t>
            </a:r>
            <a:endParaRPr/>
          </a:p>
        </p:txBody>
      </p:sp>
      <p:sp>
        <p:nvSpPr>
          <p:cNvPr id="476" name="Google Shape;476;p54"/>
          <p:cNvSpPr txBox="1"/>
          <p:nvPr>
            <p:ph idx="3" type="subTitle"/>
          </p:nvPr>
        </p:nvSpPr>
        <p:spPr>
          <a:xfrm>
            <a:off x="1189530" y="1247958"/>
            <a:ext cx="27951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Théoreme</a:t>
            </a:r>
            <a:endParaRPr>
              <a:solidFill>
                <a:schemeClr val="dk2"/>
              </a:solidFill>
            </a:endParaRPr>
          </a:p>
        </p:txBody>
      </p:sp>
      <p:sp>
        <p:nvSpPr>
          <p:cNvPr id="477" name="Google Shape;477;p54"/>
          <p:cNvSpPr txBox="1"/>
          <p:nvPr>
            <p:ph idx="4" type="subTitle"/>
          </p:nvPr>
        </p:nvSpPr>
        <p:spPr>
          <a:xfrm>
            <a:off x="882425" y="3153125"/>
            <a:ext cx="32706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Pire cas</a:t>
            </a:r>
            <a:endParaRPr>
              <a:solidFill>
                <a:schemeClr val="dk2"/>
              </a:solidFill>
            </a:endParaRPr>
          </a:p>
        </p:txBody>
      </p:sp>
      <p:sp>
        <p:nvSpPr>
          <p:cNvPr id="478" name="Google Shape;478;p54"/>
          <p:cNvSpPr txBox="1"/>
          <p:nvPr>
            <p:ph idx="1" type="subTitle"/>
          </p:nvPr>
        </p:nvSpPr>
        <p:spPr>
          <a:xfrm>
            <a:off x="4245325" y="2117950"/>
            <a:ext cx="3922800" cy="1079400"/>
          </a:xfrm>
          <a:prstGeom prst="rect">
            <a:avLst/>
          </a:prstGeom>
        </p:spPr>
        <p:txBody>
          <a:bodyPr anchorCtr="0" anchor="t" bIns="91425" lIns="91425" spcFirstLastPara="1" rIns="91425" wrap="square" tIns="91425">
            <a:noAutofit/>
          </a:bodyPr>
          <a:lstStyle/>
          <a:p>
            <a:pPr indent="-317500" lvl="0" marL="457200" rtl="0" algn="just">
              <a:spcBef>
                <a:spcPts val="0"/>
              </a:spcBef>
              <a:spcAft>
                <a:spcPts val="0"/>
              </a:spcAft>
              <a:buSzPts val="1400"/>
              <a:buChar char="-"/>
            </a:pPr>
            <a:r>
              <a:rPr lang="en"/>
              <a:t>Fusionner les cycles un par un</a:t>
            </a:r>
            <a:endParaRPr/>
          </a:p>
          <a:p>
            <a:pPr indent="-317500" lvl="0" marL="457200" rtl="0" algn="just">
              <a:spcBef>
                <a:spcPts val="0"/>
              </a:spcBef>
              <a:spcAft>
                <a:spcPts val="0"/>
              </a:spcAft>
              <a:buSzPts val="1400"/>
              <a:buChar char="-"/>
            </a:pPr>
            <a:r>
              <a:rPr lang="en"/>
              <a:t>Toujours choisir la pire déviation profitable</a:t>
            </a:r>
            <a:endParaRPr/>
          </a:p>
          <a:p>
            <a:pPr indent="-317500" lvl="0" marL="457200" rtl="0" algn="just">
              <a:spcBef>
                <a:spcPts val="0"/>
              </a:spcBef>
              <a:spcAft>
                <a:spcPts val="0"/>
              </a:spcAft>
              <a:buSzPts val="1400"/>
              <a:buChar char="-"/>
            </a:pPr>
            <a:r>
              <a:rPr lang="en"/>
              <a:t>On attein</a:t>
            </a:r>
            <a:r>
              <a:rPr lang="en"/>
              <a:t>t exacteme</a:t>
            </a:r>
            <a:r>
              <a:rPr lang="en"/>
              <a:t>nt : (¼)n</a:t>
            </a:r>
            <a:r>
              <a:rPr baseline="30000" lang="en"/>
              <a:t>2</a:t>
            </a:r>
            <a:r>
              <a:rPr lang="en"/>
              <a:t> - 1 étapes</a:t>
            </a:r>
            <a:endParaRPr/>
          </a:p>
        </p:txBody>
      </p:sp>
      <p:sp>
        <p:nvSpPr>
          <p:cNvPr id="479" name="Google Shape;479;p54"/>
          <p:cNvSpPr txBox="1"/>
          <p:nvPr>
            <p:ph idx="4" type="subTitle"/>
          </p:nvPr>
        </p:nvSpPr>
        <p:spPr>
          <a:xfrm>
            <a:off x="4245325" y="1559050"/>
            <a:ext cx="39843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Stratégie</a:t>
            </a:r>
            <a:r>
              <a:rPr lang="en">
                <a:solidFill>
                  <a:schemeClr val="dk2"/>
                </a:solidFill>
              </a:rPr>
              <a:t> adversaire</a:t>
            </a:r>
            <a:endParaRPr>
              <a:solidFill>
                <a:schemeClr val="dk2"/>
              </a:solidFill>
            </a:endParaRPr>
          </a:p>
        </p:txBody>
      </p:sp>
      <p:pic>
        <p:nvPicPr>
          <p:cNvPr id="480" name="Google Shape;480;p54" title="equation_20260102_183735.png"/>
          <p:cNvPicPr preferRelativeResize="0"/>
          <p:nvPr/>
        </p:nvPicPr>
        <p:blipFill>
          <a:blip r:embed="rId3">
            <a:alphaModFix/>
          </a:blip>
          <a:stretch>
            <a:fillRect/>
          </a:stretch>
        </p:blipFill>
        <p:spPr>
          <a:xfrm>
            <a:off x="1786436" y="2371651"/>
            <a:ext cx="894390" cy="400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5"/>
          <p:cNvSpPr txBox="1"/>
          <p:nvPr>
            <p:ph type="title"/>
          </p:nvPr>
        </p:nvSpPr>
        <p:spPr>
          <a:xfrm>
            <a:off x="909300" y="2225850"/>
            <a:ext cx="7325400" cy="1725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Buck passing game : version stochastique</a:t>
            </a:r>
            <a:endParaRPr/>
          </a:p>
        </p:txBody>
      </p:sp>
      <p:sp>
        <p:nvSpPr>
          <p:cNvPr id="486" name="Google Shape;486;p55"/>
          <p:cNvSpPr txBox="1"/>
          <p:nvPr>
            <p:ph idx="2" type="title"/>
          </p:nvPr>
        </p:nvSpPr>
        <p:spPr>
          <a:xfrm>
            <a:off x="4048350" y="913316"/>
            <a:ext cx="1047300" cy="969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04</a:t>
            </a:r>
            <a:endParaRPr/>
          </a:p>
        </p:txBody>
      </p:sp>
      <p:grpSp>
        <p:nvGrpSpPr>
          <p:cNvPr id="487" name="Google Shape;487;p55"/>
          <p:cNvGrpSpPr/>
          <p:nvPr/>
        </p:nvGrpSpPr>
        <p:grpSpPr>
          <a:xfrm>
            <a:off x="7731792" y="683864"/>
            <a:ext cx="709214" cy="351346"/>
            <a:chOff x="7731792" y="683864"/>
            <a:chExt cx="709214" cy="351346"/>
          </a:xfrm>
        </p:grpSpPr>
        <p:pic>
          <p:nvPicPr>
            <p:cNvPr id="488" name="Google Shape;488;p55"/>
            <p:cNvPicPr preferRelativeResize="0"/>
            <p:nvPr/>
          </p:nvPicPr>
          <p:blipFill rotWithShape="1">
            <a:blip r:embed="rId3">
              <a:alphaModFix/>
            </a:blip>
            <a:srcRect b="16825" l="13625" r="22284" t="16222"/>
            <a:stretch/>
          </p:blipFill>
          <p:spPr>
            <a:xfrm>
              <a:off x="8083232" y="683864"/>
              <a:ext cx="357774" cy="351346"/>
            </a:xfrm>
            <a:prstGeom prst="rect">
              <a:avLst/>
            </a:prstGeom>
            <a:noFill/>
            <a:ln>
              <a:noFill/>
            </a:ln>
          </p:spPr>
        </p:pic>
        <p:pic>
          <p:nvPicPr>
            <p:cNvPr id="489" name="Google Shape;489;p55"/>
            <p:cNvPicPr preferRelativeResize="0"/>
            <p:nvPr/>
          </p:nvPicPr>
          <p:blipFill rotWithShape="1">
            <a:blip r:embed="rId4">
              <a:alphaModFix/>
            </a:blip>
            <a:srcRect b="16523" l="18541" r="17368" t="16523"/>
            <a:stretch/>
          </p:blipFill>
          <p:spPr>
            <a:xfrm>
              <a:off x="7731792" y="683864"/>
              <a:ext cx="357774" cy="351346"/>
            </a:xfrm>
            <a:prstGeom prst="rect">
              <a:avLst/>
            </a:prstGeom>
            <a:noFill/>
            <a:ln>
              <a:noFill/>
            </a:ln>
          </p:spPr>
        </p:pic>
      </p:grpSp>
      <p:pic>
        <p:nvPicPr>
          <p:cNvPr id="490" name="Google Shape;490;p55"/>
          <p:cNvPicPr preferRelativeResize="0"/>
          <p:nvPr/>
        </p:nvPicPr>
        <p:blipFill rotWithShape="1">
          <a:blip r:embed="rId3">
            <a:alphaModFix/>
          </a:blip>
          <a:srcRect b="16825" l="13625" r="22284" t="16222"/>
          <a:stretch/>
        </p:blipFill>
        <p:spPr>
          <a:xfrm>
            <a:off x="7727549" y="1711192"/>
            <a:ext cx="357774" cy="351346"/>
          </a:xfrm>
          <a:prstGeom prst="rect">
            <a:avLst/>
          </a:prstGeom>
          <a:noFill/>
          <a:ln>
            <a:noFill/>
          </a:ln>
        </p:spPr>
      </p:pic>
      <p:grpSp>
        <p:nvGrpSpPr>
          <p:cNvPr id="491" name="Google Shape;491;p55"/>
          <p:cNvGrpSpPr/>
          <p:nvPr/>
        </p:nvGrpSpPr>
        <p:grpSpPr>
          <a:xfrm>
            <a:off x="6322547" y="1026306"/>
            <a:ext cx="709021" cy="693789"/>
            <a:chOff x="6322547" y="1123984"/>
            <a:chExt cx="709021" cy="693789"/>
          </a:xfrm>
        </p:grpSpPr>
        <p:pic>
          <p:nvPicPr>
            <p:cNvPr id="492" name="Google Shape;492;p55"/>
            <p:cNvPicPr preferRelativeResize="0"/>
            <p:nvPr/>
          </p:nvPicPr>
          <p:blipFill rotWithShape="1">
            <a:blip r:embed="rId3">
              <a:alphaModFix/>
            </a:blip>
            <a:srcRect b="16825" l="13625" r="22284" t="16222"/>
            <a:stretch/>
          </p:blipFill>
          <p:spPr>
            <a:xfrm>
              <a:off x="6673794" y="1123984"/>
              <a:ext cx="357774" cy="351346"/>
            </a:xfrm>
            <a:prstGeom prst="rect">
              <a:avLst/>
            </a:prstGeom>
            <a:noFill/>
            <a:ln>
              <a:noFill/>
            </a:ln>
          </p:spPr>
        </p:pic>
        <p:pic>
          <p:nvPicPr>
            <p:cNvPr id="493" name="Google Shape;493;p55"/>
            <p:cNvPicPr preferRelativeResize="0"/>
            <p:nvPr/>
          </p:nvPicPr>
          <p:blipFill rotWithShape="1">
            <a:blip r:embed="rId3">
              <a:alphaModFix/>
            </a:blip>
            <a:srcRect b="16825" l="13625" r="22284" t="16222"/>
            <a:stretch/>
          </p:blipFill>
          <p:spPr>
            <a:xfrm>
              <a:off x="6322547" y="1123984"/>
              <a:ext cx="357774" cy="351346"/>
            </a:xfrm>
            <a:prstGeom prst="rect">
              <a:avLst/>
            </a:prstGeom>
            <a:noFill/>
            <a:ln>
              <a:noFill/>
            </a:ln>
          </p:spPr>
        </p:pic>
        <p:pic>
          <p:nvPicPr>
            <p:cNvPr id="494" name="Google Shape;494;p55"/>
            <p:cNvPicPr preferRelativeResize="0"/>
            <p:nvPr/>
          </p:nvPicPr>
          <p:blipFill rotWithShape="1">
            <a:blip r:embed="rId3">
              <a:alphaModFix/>
            </a:blip>
            <a:srcRect b="16825" l="13625" r="22284" t="16222"/>
            <a:stretch/>
          </p:blipFill>
          <p:spPr>
            <a:xfrm>
              <a:off x="6673794" y="1466427"/>
              <a:ext cx="357774" cy="351346"/>
            </a:xfrm>
            <a:prstGeom prst="rect">
              <a:avLst/>
            </a:prstGeom>
            <a:noFill/>
            <a:ln>
              <a:noFill/>
            </a:ln>
          </p:spPr>
        </p:pic>
        <p:pic>
          <p:nvPicPr>
            <p:cNvPr id="495" name="Google Shape;495;p55"/>
            <p:cNvPicPr preferRelativeResize="0"/>
            <p:nvPr/>
          </p:nvPicPr>
          <p:blipFill rotWithShape="1">
            <a:blip r:embed="rId3">
              <a:alphaModFix/>
            </a:blip>
            <a:srcRect b="16825" l="13625" r="22284" t="16222"/>
            <a:stretch/>
          </p:blipFill>
          <p:spPr>
            <a:xfrm>
              <a:off x="6322547" y="1466427"/>
              <a:ext cx="357774" cy="351346"/>
            </a:xfrm>
            <a:prstGeom prst="rect">
              <a:avLst/>
            </a:prstGeom>
            <a:noFill/>
            <a:ln>
              <a:noFill/>
            </a:ln>
          </p:spPr>
        </p:pic>
      </p:grpSp>
      <p:pic>
        <p:nvPicPr>
          <p:cNvPr id="496" name="Google Shape;496;p55"/>
          <p:cNvPicPr preferRelativeResize="0"/>
          <p:nvPr/>
        </p:nvPicPr>
        <p:blipFill rotWithShape="1">
          <a:blip r:embed="rId4">
            <a:alphaModFix/>
          </a:blip>
          <a:srcRect b="16523" l="18541" r="17368" t="16523"/>
          <a:stretch/>
        </p:blipFill>
        <p:spPr>
          <a:xfrm>
            <a:off x="8078796" y="3423404"/>
            <a:ext cx="357774" cy="351346"/>
          </a:xfrm>
          <a:prstGeom prst="rect">
            <a:avLst/>
          </a:prstGeom>
          <a:noFill/>
          <a:ln>
            <a:noFill/>
          </a:ln>
        </p:spPr>
      </p:pic>
      <p:sp>
        <p:nvSpPr>
          <p:cNvPr id="497" name="Google Shape;497;p55"/>
          <p:cNvSpPr/>
          <p:nvPr/>
        </p:nvSpPr>
        <p:spPr>
          <a:xfrm>
            <a:off x="1084884" y="34845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5"/>
          <p:cNvSpPr/>
          <p:nvPr/>
        </p:nvSpPr>
        <p:spPr>
          <a:xfrm>
            <a:off x="6359455" y="445386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5"/>
          <p:cNvSpPr/>
          <p:nvPr/>
        </p:nvSpPr>
        <p:spPr>
          <a:xfrm>
            <a:off x="6359455" y="1401613"/>
            <a:ext cx="310800" cy="310800"/>
          </a:xfrm>
          <a:prstGeom prst="rect">
            <a:avLst/>
          </a:prstGeom>
          <a:solidFill>
            <a:schemeClr val="dk1"/>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6"/>
          <p:cNvSpPr txBox="1"/>
          <p:nvPr>
            <p:ph idx="1" type="body"/>
          </p:nvPr>
        </p:nvSpPr>
        <p:spPr>
          <a:xfrm>
            <a:off x="1441486" y="1213877"/>
            <a:ext cx="6205800" cy="379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Epilogue SemiBold"/>
                <a:ea typeface="Epilogue SemiBold"/>
                <a:cs typeface="Epilogue SemiBold"/>
                <a:sym typeface="Epilogue SemiBold"/>
              </a:rPr>
              <a:t>Idée générale</a:t>
            </a:r>
            <a:endParaRPr sz="1800">
              <a:solidFill>
                <a:schemeClr val="dk2"/>
              </a:solidFill>
              <a:latin typeface="Epilogue SemiBold"/>
              <a:ea typeface="Epilogue SemiBold"/>
              <a:cs typeface="Epilogue SemiBold"/>
              <a:sym typeface="Epilogue SemiBold"/>
            </a:endParaRPr>
          </a:p>
          <a:p>
            <a:pPr indent="0" lvl="0" marL="0" rtl="0" algn="l">
              <a:spcBef>
                <a:spcPts val="0"/>
              </a:spcBef>
              <a:spcAft>
                <a:spcPts val="0"/>
              </a:spcAft>
              <a:buNone/>
            </a:pPr>
            <a:r>
              <a:t/>
            </a:r>
            <a:endParaRPr sz="1800">
              <a:solidFill>
                <a:schemeClr val="dk2"/>
              </a:solidFill>
              <a:latin typeface="Epilogue SemiBold"/>
              <a:ea typeface="Epilogue SemiBold"/>
              <a:cs typeface="Epilogue SemiBold"/>
              <a:sym typeface="Epilogue SemiBold"/>
            </a:endParaRPr>
          </a:p>
          <a:p>
            <a:pPr indent="-317500" lvl="0" marL="457200" rtl="0" algn="l">
              <a:spcBef>
                <a:spcPts val="0"/>
              </a:spcBef>
              <a:spcAft>
                <a:spcPts val="0"/>
              </a:spcAft>
              <a:buClr>
                <a:schemeClr val="dk2"/>
              </a:buClr>
              <a:buSzPts val="1400"/>
              <a:buChar char="●"/>
            </a:pPr>
            <a:r>
              <a:rPr lang="en" sz="1400"/>
              <a:t>Les agents peuvent randomiser le passage du buck</a:t>
            </a:r>
            <a:endParaRPr sz="1400"/>
          </a:p>
          <a:p>
            <a:pPr indent="-317500" lvl="0" marL="457200" rtl="0" algn="l">
              <a:spcBef>
                <a:spcPts val="0"/>
              </a:spcBef>
              <a:spcAft>
                <a:spcPts val="0"/>
              </a:spcAft>
              <a:buClr>
                <a:schemeClr val="dk2"/>
              </a:buClr>
              <a:buSzPts val="1400"/>
              <a:buChar char="●"/>
            </a:pPr>
            <a:r>
              <a:rPr lang="en" sz="1400"/>
              <a:t>Chaque joueur choisit une distribution de probabilité sur ses voisins</a:t>
            </a:r>
            <a:endParaRPr sz="1400"/>
          </a:p>
          <a:p>
            <a:pPr indent="-317500" lvl="0" marL="457200" rtl="0" algn="l">
              <a:spcBef>
                <a:spcPts val="0"/>
              </a:spcBef>
              <a:spcAft>
                <a:spcPts val="0"/>
              </a:spcAft>
              <a:buClr>
                <a:schemeClr val="dk2"/>
              </a:buClr>
              <a:buSzPts val="1400"/>
              <a:buChar char="●"/>
            </a:pPr>
            <a:r>
              <a:rPr lang="en" sz="1400"/>
              <a:t>Le passage du buck devient une chaîne de Markov</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800">
                <a:solidFill>
                  <a:schemeClr val="dk2"/>
                </a:solidFill>
                <a:latin typeface="Epilogue SemiBold"/>
                <a:ea typeface="Epilogue SemiBold"/>
                <a:cs typeface="Epilogue SemiBold"/>
                <a:sym typeface="Epilogue SemiBold"/>
              </a:rPr>
              <a:t>Ensemble des stratégies</a:t>
            </a:r>
            <a:endParaRPr sz="1800">
              <a:solidFill>
                <a:schemeClr val="dk2"/>
              </a:solidFill>
              <a:latin typeface="Epilogue SemiBold"/>
              <a:ea typeface="Epilogue SemiBold"/>
              <a:cs typeface="Epilogue SemiBold"/>
              <a:sym typeface="Epilogue SemiBold"/>
            </a:endParaRPr>
          </a:p>
          <a:p>
            <a:pPr indent="0" lvl="0" marL="0" rtl="0" algn="l">
              <a:spcBef>
                <a:spcPts val="0"/>
              </a:spcBef>
              <a:spcAft>
                <a:spcPts val="0"/>
              </a:spcAft>
              <a:buNone/>
            </a:pPr>
            <a:r>
              <a:t/>
            </a:r>
            <a:endParaRPr sz="1800">
              <a:solidFill>
                <a:schemeClr val="dk2"/>
              </a:solidFill>
              <a:latin typeface="Epilogue SemiBold"/>
              <a:ea typeface="Epilogue SemiBold"/>
              <a:cs typeface="Epilogue SemiBold"/>
              <a:sym typeface="Epilogue SemiBold"/>
            </a:endParaRPr>
          </a:p>
          <a:p>
            <a:pPr indent="-317500" lvl="0" marL="457200" rtl="0" algn="l">
              <a:spcBef>
                <a:spcPts val="0"/>
              </a:spcBef>
              <a:spcAft>
                <a:spcPts val="0"/>
              </a:spcAft>
              <a:buClr>
                <a:schemeClr val="dk2"/>
              </a:buClr>
              <a:buSzPts val="1400"/>
              <a:buChar char="●"/>
            </a:pPr>
            <a:r>
              <a:rPr lang="en" sz="1400"/>
              <a:t>Ensemble des joueurs : </a:t>
            </a:r>
            <a:r>
              <a:rPr b="1" lang="en" sz="1400">
                <a:solidFill>
                  <a:srgbClr val="B45F06"/>
                </a:solidFill>
              </a:rPr>
              <a:t>V</a:t>
            </a:r>
            <a:endParaRPr sz="1400"/>
          </a:p>
          <a:p>
            <a:pPr indent="-317500" lvl="0" marL="457200" rtl="0" algn="l">
              <a:spcBef>
                <a:spcPts val="0"/>
              </a:spcBef>
              <a:spcAft>
                <a:spcPts val="0"/>
              </a:spcAft>
              <a:buClr>
                <a:schemeClr val="dk2"/>
              </a:buClr>
              <a:buSzPts val="1400"/>
              <a:buChar char="●"/>
            </a:pPr>
            <a:r>
              <a:rPr lang="en" sz="1400"/>
              <a:t>Voisins sortants de i : </a:t>
            </a:r>
            <a:r>
              <a:rPr b="1" lang="en" sz="1400">
                <a:solidFill>
                  <a:srgbClr val="B45F06"/>
                </a:solidFill>
              </a:rPr>
              <a:t>N</a:t>
            </a:r>
            <a:r>
              <a:rPr b="1" baseline="-25000" lang="en" sz="1400">
                <a:solidFill>
                  <a:srgbClr val="B45F06"/>
                </a:solidFill>
              </a:rPr>
              <a:t>i</a:t>
            </a:r>
            <a:r>
              <a:rPr b="1" baseline="30000" lang="en" sz="1400">
                <a:solidFill>
                  <a:srgbClr val="B45F06"/>
                </a:solidFill>
              </a:rPr>
              <a:t>+</a:t>
            </a:r>
            <a:endParaRPr sz="1400"/>
          </a:p>
          <a:p>
            <a:pPr indent="-317500" lvl="0" marL="457200" rtl="0" algn="l">
              <a:spcBef>
                <a:spcPts val="0"/>
              </a:spcBef>
              <a:spcAft>
                <a:spcPts val="0"/>
              </a:spcAft>
              <a:buClr>
                <a:schemeClr val="dk2"/>
              </a:buClr>
              <a:buSzPts val="1400"/>
              <a:buChar char="●"/>
            </a:pPr>
            <a:r>
              <a:rPr lang="en" sz="1400"/>
              <a:t>Simplexe de probabilités : </a:t>
            </a:r>
            <a:r>
              <a:rPr b="1" lang="en" sz="1400">
                <a:solidFill>
                  <a:srgbClr val="B45F06"/>
                </a:solidFill>
              </a:rPr>
              <a:t>Σ</a:t>
            </a:r>
            <a:r>
              <a:rPr b="1" baseline="-25000" lang="en" sz="1400">
                <a:solidFill>
                  <a:srgbClr val="B45F06"/>
                </a:solidFill>
              </a:rPr>
              <a:t>i</a:t>
            </a:r>
            <a:endParaRPr sz="1400"/>
          </a:p>
          <a:p>
            <a:pPr indent="-317500" lvl="0" marL="457200" rtl="0" algn="l">
              <a:spcBef>
                <a:spcPts val="0"/>
              </a:spcBef>
              <a:spcAft>
                <a:spcPts val="0"/>
              </a:spcAft>
              <a:buClr>
                <a:schemeClr val="dk2"/>
              </a:buClr>
              <a:buSzPts val="1400"/>
              <a:buChar char="●"/>
            </a:pPr>
            <a:r>
              <a:rPr lang="en" sz="1400"/>
              <a:t>Profil de stratégies : </a:t>
            </a:r>
            <a:r>
              <a:rPr b="1" lang="en" sz="1400">
                <a:solidFill>
                  <a:srgbClr val="B45F06"/>
                </a:solidFill>
              </a:rPr>
              <a:t>Σ</a:t>
            </a:r>
            <a:r>
              <a:rPr lang="en" sz="1400"/>
              <a:t>=</a:t>
            </a:r>
            <a:r>
              <a:rPr b="1" lang="en" sz="1400"/>
              <a:t>∏</a:t>
            </a:r>
            <a:r>
              <a:rPr b="1" baseline="-25000" lang="en" sz="1400"/>
              <a:t>i∈V</a:t>
            </a:r>
            <a:r>
              <a:rPr b="1" lang="en" sz="1400"/>
              <a:t>Σ</a:t>
            </a:r>
            <a:r>
              <a:rPr b="1" baseline="-25000" lang="en" sz="1400"/>
              <a:t>i</a:t>
            </a:r>
            <a:r>
              <a:rPr lang="en" sz="1400"/>
              <a:t> </a:t>
            </a:r>
            <a:r>
              <a:rPr lang="en" sz="1400"/>
              <a:t> ​</a:t>
            </a:r>
            <a:endParaRPr sz="1400"/>
          </a:p>
        </p:txBody>
      </p:sp>
      <p:pic>
        <p:nvPicPr>
          <p:cNvPr id="505" name="Google Shape;505;p56"/>
          <p:cNvPicPr preferRelativeResize="0"/>
          <p:nvPr/>
        </p:nvPicPr>
        <p:blipFill>
          <a:blip r:embed="rId3">
            <a:alphaModFix/>
          </a:blip>
          <a:stretch>
            <a:fillRect/>
          </a:stretch>
        </p:blipFill>
        <p:spPr>
          <a:xfrm>
            <a:off x="4663100" y="3499624"/>
            <a:ext cx="3256762" cy="1096925"/>
          </a:xfrm>
          <a:prstGeom prst="rect">
            <a:avLst/>
          </a:prstGeom>
          <a:noFill/>
          <a:ln>
            <a:noFill/>
          </a:ln>
        </p:spPr>
      </p:pic>
      <p:sp>
        <p:nvSpPr>
          <p:cNvPr id="506" name="Google Shape;506;p56"/>
          <p:cNvSpPr txBox="1"/>
          <p:nvPr>
            <p:ph type="title"/>
          </p:nvPr>
        </p:nvSpPr>
        <p:spPr>
          <a:xfrm>
            <a:off x="690925" y="525425"/>
            <a:ext cx="7753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Extension stochastique du jeu</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7"/>
          <p:cNvSpPr txBox="1"/>
          <p:nvPr>
            <p:ph idx="1" type="body"/>
          </p:nvPr>
        </p:nvSpPr>
        <p:spPr>
          <a:xfrm>
            <a:off x="1441486" y="1213877"/>
            <a:ext cx="6205800" cy="379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Epilogue SemiBold"/>
                <a:ea typeface="Epilogue SemiBold"/>
                <a:cs typeface="Epilogue SemiBold"/>
                <a:sym typeface="Epilogue SemiBold"/>
              </a:rPr>
              <a:t>Interpretation</a:t>
            </a:r>
            <a:r>
              <a:rPr lang="en" sz="1800">
                <a:solidFill>
                  <a:schemeClr val="dk2"/>
                </a:solidFill>
                <a:latin typeface="Epilogue SemiBold"/>
                <a:ea typeface="Epilogue SemiBold"/>
                <a:cs typeface="Epilogue SemiBold"/>
                <a:sym typeface="Epilogue SemiBold"/>
              </a:rPr>
              <a:t> matricielle</a:t>
            </a:r>
            <a:endParaRPr sz="1800">
              <a:solidFill>
                <a:schemeClr val="dk2"/>
              </a:solidFill>
              <a:latin typeface="Epilogue SemiBold"/>
              <a:ea typeface="Epilogue SemiBold"/>
              <a:cs typeface="Epilogue SemiBold"/>
              <a:sym typeface="Epilogue SemiBold"/>
            </a:endParaRPr>
          </a:p>
          <a:p>
            <a:pPr indent="0" lvl="0" marL="0" rtl="0" algn="l">
              <a:spcBef>
                <a:spcPts val="0"/>
              </a:spcBef>
              <a:spcAft>
                <a:spcPts val="0"/>
              </a:spcAft>
              <a:buNone/>
            </a:pPr>
            <a:r>
              <a:t/>
            </a:r>
            <a:endParaRPr sz="1400"/>
          </a:p>
          <a:p>
            <a:pPr indent="-317500" lvl="0" marL="457200" rtl="0" algn="l">
              <a:spcBef>
                <a:spcPts val="0"/>
              </a:spcBef>
              <a:spcAft>
                <a:spcPts val="0"/>
              </a:spcAft>
              <a:buClr>
                <a:schemeClr val="dk2"/>
              </a:buClr>
              <a:buSzPts val="1400"/>
              <a:buChar char="●"/>
            </a:pPr>
            <a:r>
              <a:rPr lang="en" sz="1400"/>
              <a:t>Le profil π=(π</a:t>
            </a:r>
            <a:r>
              <a:rPr baseline="-25000" lang="en" sz="1400"/>
              <a:t>1</a:t>
            </a:r>
            <a:r>
              <a:rPr lang="en" sz="1400"/>
              <a:t>,…,π</a:t>
            </a:r>
            <a:r>
              <a:rPr baseline="-25000" lang="en" sz="1400"/>
              <a:t>n</a:t>
            </a:r>
            <a:r>
              <a:rPr lang="en" sz="1400"/>
              <a:t>)</a:t>
            </a:r>
            <a:endParaRPr sz="1400"/>
          </a:p>
          <a:p>
            <a:pPr indent="-317500" lvl="0" marL="457200" rtl="0" algn="l">
              <a:spcBef>
                <a:spcPts val="0"/>
              </a:spcBef>
              <a:spcAft>
                <a:spcPts val="0"/>
              </a:spcAft>
              <a:buClr>
                <a:schemeClr val="dk2"/>
              </a:buClr>
              <a:buSzPts val="1400"/>
              <a:buChar char="●"/>
            </a:pPr>
            <a:r>
              <a:rPr lang="en" sz="1400"/>
              <a:t>Équivalent à une matrice stochastique [π</a:t>
            </a:r>
            <a:r>
              <a:rPr baseline="-25000" lang="en" sz="1400"/>
              <a:t>ij</a:t>
            </a:r>
            <a:r>
              <a:rPr lang="en" sz="1400"/>
              <a:t>]</a:t>
            </a:r>
            <a:endParaRPr sz="1400"/>
          </a:p>
          <a:p>
            <a:pPr indent="-317500" lvl="0" marL="457200" rtl="0" algn="l">
              <a:spcBef>
                <a:spcPts val="0"/>
              </a:spcBef>
              <a:spcAft>
                <a:spcPts val="0"/>
              </a:spcAft>
              <a:buClr>
                <a:schemeClr val="dk2"/>
              </a:buClr>
              <a:buSzPts val="1400"/>
              <a:buChar char="●"/>
            </a:pPr>
            <a:r>
              <a:rPr lang="en" sz="1400"/>
              <a:t>Chaque ligne correspond à la stratégie d’un joueur</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800">
                <a:solidFill>
                  <a:schemeClr val="dk2"/>
                </a:solidFill>
                <a:latin typeface="Epilogue SemiBold"/>
                <a:ea typeface="Epilogue SemiBold"/>
                <a:cs typeface="Epilogue SemiBold"/>
                <a:sym typeface="Epilogue SemiBold"/>
              </a:rPr>
              <a:t>Graphe induit</a:t>
            </a:r>
            <a:endParaRPr sz="1800">
              <a:solidFill>
                <a:schemeClr val="dk2"/>
              </a:solidFill>
              <a:latin typeface="Epilogue SemiBold"/>
              <a:ea typeface="Epilogue SemiBold"/>
              <a:cs typeface="Epilogue SemiBold"/>
              <a:sym typeface="Epilogue SemiBold"/>
            </a:endParaRPr>
          </a:p>
          <a:p>
            <a:pPr indent="-317500" lvl="0" marL="457200" rtl="0" algn="l">
              <a:spcBef>
                <a:spcPts val="1000"/>
              </a:spcBef>
              <a:spcAft>
                <a:spcPts val="0"/>
              </a:spcAft>
              <a:buClr>
                <a:schemeClr val="dk2"/>
              </a:buClr>
              <a:buSzPts val="1400"/>
              <a:buChar char="●"/>
            </a:pPr>
            <a:r>
              <a:rPr lang="en" sz="1400"/>
              <a:t>Graphe orienté pondere G</a:t>
            </a:r>
            <a:r>
              <a:rPr baseline="-25000" lang="en" sz="1400"/>
              <a:t>π</a:t>
            </a:r>
            <a:endParaRPr sz="1400"/>
          </a:p>
          <a:p>
            <a:pPr indent="-317500" lvl="0" marL="457200" rtl="0" algn="l">
              <a:spcBef>
                <a:spcPts val="0"/>
              </a:spcBef>
              <a:spcAft>
                <a:spcPts val="0"/>
              </a:spcAft>
              <a:buClr>
                <a:schemeClr val="dk2"/>
              </a:buClr>
              <a:buSzPts val="1400"/>
              <a:buChar char="●"/>
            </a:pPr>
            <a:r>
              <a:rPr lang="en" sz="1400"/>
              <a:t>Sommets : V</a:t>
            </a:r>
            <a:endParaRPr sz="1400"/>
          </a:p>
          <a:p>
            <a:pPr indent="-317500" lvl="0" marL="457200" rtl="0" algn="l">
              <a:spcBef>
                <a:spcPts val="0"/>
              </a:spcBef>
              <a:spcAft>
                <a:spcPts val="0"/>
              </a:spcAft>
              <a:buClr>
                <a:schemeClr val="dk2"/>
              </a:buClr>
              <a:buSzPts val="1400"/>
              <a:buChar char="●"/>
            </a:pPr>
            <a:r>
              <a:rPr lang="en" sz="1400"/>
              <a:t>Arêtes : E</a:t>
            </a:r>
            <a:r>
              <a:rPr baseline="-25000" lang="en" sz="1400"/>
              <a:t>π</a:t>
            </a:r>
            <a:r>
              <a:rPr lang="en" sz="1400"/>
              <a:t> = {(i,j) : π</a:t>
            </a:r>
            <a:r>
              <a:rPr baseline="-25000" lang="en" sz="1400"/>
              <a:t>ij</a:t>
            </a:r>
            <a:r>
              <a:rPr lang="en" sz="1400"/>
              <a:t> &gt; 0}</a:t>
            </a:r>
            <a:endParaRPr sz="1400"/>
          </a:p>
          <a:p>
            <a:pPr indent="-317500" lvl="0" marL="457200" rtl="0" algn="l">
              <a:spcBef>
                <a:spcPts val="0"/>
              </a:spcBef>
              <a:spcAft>
                <a:spcPts val="0"/>
              </a:spcAft>
              <a:buClr>
                <a:schemeClr val="dk2"/>
              </a:buClr>
              <a:buSzPts val="1400"/>
              <a:buChar char="●"/>
            </a:pPr>
            <a:r>
              <a:rPr lang="en" sz="1400"/>
              <a:t>Poids des arêtes : π</a:t>
            </a:r>
            <a:r>
              <a:rPr baseline="-25000" lang="en" sz="1400"/>
              <a:t>ij​</a:t>
            </a:r>
            <a:endParaRPr baseline="-25000" sz="1400"/>
          </a:p>
          <a:p>
            <a:pPr indent="0" lvl="0" marL="0" rtl="0" algn="l">
              <a:spcBef>
                <a:spcPts val="1200"/>
              </a:spcBef>
              <a:spcAft>
                <a:spcPts val="1200"/>
              </a:spcAft>
              <a:buNone/>
            </a:pPr>
            <a:r>
              <a:t/>
            </a:r>
            <a:endParaRPr baseline="-25000" sz="1400"/>
          </a:p>
        </p:txBody>
      </p:sp>
      <p:sp>
        <p:nvSpPr>
          <p:cNvPr id="512" name="Google Shape;512;p57"/>
          <p:cNvSpPr txBox="1"/>
          <p:nvPr>
            <p:ph type="title"/>
          </p:nvPr>
        </p:nvSpPr>
        <p:spPr>
          <a:xfrm>
            <a:off x="690925" y="525425"/>
            <a:ext cx="7753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Extension stochastique du jeu</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8"/>
          <p:cNvSpPr txBox="1"/>
          <p:nvPr>
            <p:ph idx="1" type="body"/>
          </p:nvPr>
        </p:nvSpPr>
        <p:spPr>
          <a:xfrm>
            <a:off x="598800" y="1420350"/>
            <a:ext cx="3804300" cy="336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Epilogue SemiBold"/>
                <a:ea typeface="Epilogue SemiBold"/>
                <a:cs typeface="Epilogue SemiBold"/>
                <a:sym typeface="Epilogue SemiBold"/>
              </a:rPr>
              <a:t>Déroulement</a:t>
            </a:r>
            <a:r>
              <a:rPr lang="en" sz="1800">
                <a:solidFill>
                  <a:schemeClr val="dk2"/>
                </a:solidFill>
                <a:latin typeface="Epilogue SemiBold"/>
                <a:ea typeface="Epilogue SemiBold"/>
                <a:cs typeface="Epilogue SemiBold"/>
                <a:sym typeface="Epilogue SemiBold"/>
              </a:rPr>
              <a:t> du jeu</a:t>
            </a:r>
            <a:endParaRPr sz="1800">
              <a:solidFill>
                <a:schemeClr val="dk2"/>
              </a:solidFill>
              <a:latin typeface="Epilogue SemiBold"/>
              <a:ea typeface="Epilogue SemiBold"/>
              <a:cs typeface="Epilogue SemiBold"/>
              <a:sym typeface="Epilogue SemiBold"/>
            </a:endParaRPr>
          </a:p>
          <a:p>
            <a:pPr indent="0" lvl="0" marL="0" rtl="0" algn="l">
              <a:spcBef>
                <a:spcPts val="0"/>
              </a:spcBef>
              <a:spcAft>
                <a:spcPts val="0"/>
              </a:spcAft>
              <a:buNone/>
            </a:pPr>
            <a:r>
              <a:t/>
            </a:r>
            <a:endParaRPr sz="1400"/>
          </a:p>
          <a:p>
            <a:pPr indent="-317500" lvl="0" marL="457200" rtl="0" algn="l">
              <a:spcBef>
                <a:spcPts val="0"/>
              </a:spcBef>
              <a:spcAft>
                <a:spcPts val="0"/>
              </a:spcAft>
              <a:buClr>
                <a:schemeClr val="dk2"/>
              </a:buClr>
              <a:buSzPts val="1400"/>
              <a:buChar char="●"/>
            </a:pPr>
            <a:r>
              <a:rPr lang="en" sz="1400"/>
              <a:t>Chaque joueur choisit une stratégie πi</a:t>
            </a:r>
            <a:endParaRPr sz="1400"/>
          </a:p>
          <a:p>
            <a:pPr indent="-317500" lvl="0" marL="457200" rtl="0" algn="l">
              <a:spcBef>
                <a:spcPts val="500"/>
              </a:spcBef>
              <a:spcAft>
                <a:spcPts val="0"/>
              </a:spcAft>
              <a:buClr>
                <a:schemeClr val="dk2"/>
              </a:buClr>
              <a:buSzPts val="1400"/>
              <a:buChar char="●"/>
            </a:pPr>
            <a:r>
              <a:rPr lang="en" sz="1400"/>
              <a:t>À t=0, le buck est attribué selon la mesure initiale </a:t>
            </a:r>
            <a:r>
              <a:rPr b="1" lang="en" sz="1400"/>
              <a:t>μ</a:t>
            </a:r>
            <a:endParaRPr b="1" sz="1400"/>
          </a:p>
          <a:p>
            <a:pPr indent="-317500" lvl="0" marL="457200" rtl="0" algn="l">
              <a:spcBef>
                <a:spcPts val="500"/>
              </a:spcBef>
              <a:spcAft>
                <a:spcPts val="0"/>
              </a:spcAft>
              <a:buClr>
                <a:schemeClr val="dk2"/>
              </a:buClr>
              <a:buSzPts val="1400"/>
              <a:buChar char="●"/>
            </a:pPr>
            <a:r>
              <a:rPr lang="en" sz="1400"/>
              <a:t>Le joueur courant transmet le buck à un voisin aléatoire</a:t>
            </a:r>
            <a:endParaRPr sz="1400"/>
          </a:p>
          <a:p>
            <a:pPr indent="-317500" lvl="0" marL="457200" rtl="0" algn="l">
              <a:spcBef>
                <a:spcPts val="500"/>
              </a:spcBef>
              <a:spcAft>
                <a:spcPts val="500"/>
              </a:spcAft>
              <a:buClr>
                <a:schemeClr val="dk2"/>
              </a:buClr>
              <a:buSzPts val="1400"/>
              <a:buChar char="●"/>
            </a:pPr>
            <a:r>
              <a:rPr lang="en" sz="1400"/>
              <a:t>Répéter le processus </a:t>
            </a:r>
            <a:endParaRPr baseline="-25000" sz="1400"/>
          </a:p>
        </p:txBody>
      </p:sp>
      <p:sp>
        <p:nvSpPr>
          <p:cNvPr id="518" name="Google Shape;518;p58"/>
          <p:cNvSpPr txBox="1"/>
          <p:nvPr>
            <p:ph idx="1" type="body"/>
          </p:nvPr>
        </p:nvSpPr>
        <p:spPr>
          <a:xfrm>
            <a:off x="4604425" y="1420350"/>
            <a:ext cx="3566400" cy="2097300"/>
          </a:xfrm>
          <a:prstGeom prst="rect">
            <a:avLst/>
          </a:prstGeom>
        </p:spPr>
        <p:txBody>
          <a:bodyPr anchorCtr="0" anchor="t" bIns="91425" lIns="91425" spcFirstLastPara="1" rIns="91425" wrap="square" tIns="91425">
            <a:noAutofit/>
          </a:bodyPr>
          <a:lstStyle/>
          <a:p>
            <a:pPr indent="0" lvl="0" marL="0" rtl="0" algn="ctr">
              <a:lnSpc>
                <a:spcPct val="138000"/>
              </a:lnSpc>
              <a:spcBef>
                <a:spcPts val="0"/>
              </a:spcBef>
              <a:spcAft>
                <a:spcPts val="0"/>
              </a:spcAft>
              <a:buNone/>
            </a:pPr>
            <a:r>
              <a:rPr lang="en" sz="1800">
                <a:solidFill>
                  <a:srgbClr val="3C51A9"/>
                </a:solidFill>
                <a:latin typeface="Epilogue SemiBold"/>
                <a:ea typeface="Epilogue SemiBold"/>
                <a:cs typeface="Epilogue SemiBold"/>
                <a:sym typeface="Epilogue SemiBold"/>
              </a:rPr>
              <a:t>Modélisation : </a:t>
            </a:r>
            <a:endParaRPr sz="1800">
              <a:solidFill>
                <a:srgbClr val="3C51A9"/>
              </a:solidFill>
              <a:latin typeface="Epilogue SemiBold"/>
              <a:ea typeface="Epilogue SemiBold"/>
              <a:cs typeface="Epilogue SemiBold"/>
              <a:sym typeface="Epilogue SemiBold"/>
            </a:endParaRPr>
          </a:p>
          <a:p>
            <a:pPr indent="0" lvl="0" marL="0" rtl="0" algn="ctr">
              <a:lnSpc>
                <a:spcPct val="138000"/>
              </a:lnSpc>
              <a:spcBef>
                <a:spcPts val="0"/>
              </a:spcBef>
              <a:spcAft>
                <a:spcPts val="0"/>
              </a:spcAft>
              <a:buNone/>
            </a:pPr>
            <a:r>
              <a:rPr lang="en" sz="1800">
                <a:solidFill>
                  <a:srgbClr val="3C51A9"/>
                </a:solidFill>
                <a:latin typeface="Epilogue SemiBold"/>
                <a:ea typeface="Epilogue SemiBold"/>
                <a:cs typeface="Epilogue SemiBold"/>
                <a:sym typeface="Epilogue SemiBold"/>
              </a:rPr>
              <a:t>chaîne de Markov</a:t>
            </a:r>
            <a:endParaRPr sz="1800">
              <a:solidFill>
                <a:srgbClr val="3C51A9"/>
              </a:solidFill>
              <a:latin typeface="Epilogue SemiBold"/>
              <a:ea typeface="Epilogue SemiBold"/>
              <a:cs typeface="Epilogue SemiBold"/>
              <a:sym typeface="Epilogue SemiBold"/>
            </a:endParaRPr>
          </a:p>
          <a:p>
            <a:pPr indent="-317500" lvl="0" marL="457200" rtl="0" algn="l">
              <a:spcBef>
                <a:spcPts val="500"/>
              </a:spcBef>
              <a:spcAft>
                <a:spcPts val="0"/>
              </a:spcAft>
              <a:buClr>
                <a:schemeClr val="dk2"/>
              </a:buClr>
              <a:buSzPts val="1400"/>
              <a:buChar char="●"/>
            </a:pPr>
            <a:r>
              <a:rPr lang="en" sz="1400"/>
              <a:t>Processus (X</a:t>
            </a:r>
            <a:r>
              <a:rPr baseline="-25000" lang="en" sz="1400"/>
              <a:t>t</a:t>
            </a:r>
            <a:r>
              <a:rPr lang="en" sz="1400"/>
              <a:t>)</a:t>
            </a:r>
            <a:r>
              <a:rPr baseline="-25000" lang="en" sz="1400"/>
              <a:t>t≥0</a:t>
            </a:r>
            <a:endParaRPr baseline="-25000" sz="1400"/>
          </a:p>
          <a:p>
            <a:pPr indent="-317500" lvl="0" marL="457200" rtl="0" algn="l">
              <a:spcBef>
                <a:spcPts val="500"/>
              </a:spcBef>
              <a:spcAft>
                <a:spcPts val="0"/>
              </a:spcAft>
              <a:buClr>
                <a:schemeClr val="dk2"/>
              </a:buClr>
              <a:buSzPts val="1400"/>
              <a:buChar char="●"/>
            </a:pPr>
            <a:r>
              <a:rPr lang="en" sz="1400"/>
              <a:t>Chaîne de Markov homogène</a:t>
            </a:r>
            <a:endParaRPr sz="1400"/>
          </a:p>
          <a:p>
            <a:pPr indent="-317500" lvl="0" marL="457200" rtl="0" algn="l">
              <a:spcBef>
                <a:spcPts val="500"/>
              </a:spcBef>
              <a:spcAft>
                <a:spcPts val="0"/>
              </a:spcAft>
              <a:buClr>
                <a:schemeClr val="dk2"/>
              </a:buClr>
              <a:buSzPts val="1400"/>
              <a:buChar char="●"/>
            </a:pPr>
            <a:r>
              <a:rPr lang="en" sz="1400"/>
              <a:t>Mesure initiale : </a:t>
            </a:r>
            <a:r>
              <a:rPr b="1" lang="en" sz="1400"/>
              <a:t>μ</a:t>
            </a:r>
            <a:endParaRPr b="1" sz="1400"/>
          </a:p>
          <a:p>
            <a:pPr indent="-317500" lvl="0" marL="457200" rtl="0" algn="l">
              <a:spcBef>
                <a:spcPts val="500"/>
              </a:spcBef>
              <a:spcAft>
                <a:spcPts val="0"/>
              </a:spcAft>
              <a:buClr>
                <a:schemeClr val="dk2"/>
              </a:buClr>
              <a:buSzPts val="1400"/>
              <a:buChar char="●"/>
            </a:pPr>
            <a:r>
              <a:rPr lang="en" sz="1400"/>
              <a:t>Matrice de transition : </a:t>
            </a:r>
            <a:r>
              <a:rPr b="1" lang="en" sz="1400"/>
              <a:t>π</a:t>
            </a:r>
            <a:endParaRPr b="1" sz="1400"/>
          </a:p>
          <a:p>
            <a:pPr indent="0" lvl="0" marL="0" rtl="0" algn="l">
              <a:spcBef>
                <a:spcPts val="500"/>
              </a:spcBef>
              <a:spcAft>
                <a:spcPts val="0"/>
              </a:spcAft>
              <a:buNone/>
            </a:pPr>
            <a:r>
              <a:rPr lang="en" sz="1400"/>
              <a:t> </a:t>
            </a:r>
            <a:endParaRPr baseline="-25000" sz="1400"/>
          </a:p>
        </p:txBody>
      </p:sp>
      <p:pic>
        <p:nvPicPr>
          <p:cNvPr id="519" name="Google Shape;519;p58"/>
          <p:cNvPicPr preferRelativeResize="0"/>
          <p:nvPr/>
        </p:nvPicPr>
        <p:blipFill>
          <a:blip r:embed="rId3">
            <a:alphaModFix/>
          </a:blip>
          <a:stretch>
            <a:fillRect/>
          </a:stretch>
        </p:blipFill>
        <p:spPr>
          <a:xfrm>
            <a:off x="4811700" y="3756236"/>
            <a:ext cx="1753400" cy="353825"/>
          </a:xfrm>
          <a:prstGeom prst="rect">
            <a:avLst/>
          </a:prstGeom>
          <a:noFill/>
          <a:ln>
            <a:noFill/>
          </a:ln>
        </p:spPr>
      </p:pic>
      <p:pic>
        <p:nvPicPr>
          <p:cNvPr id="520" name="Google Shape;520;p58"/>
          <p:cNvPicPr preferRelativeResize="0"/>
          <p:nvPr/>
        </p:nvPicPr>
        <p:blipFill>
          <a:blip r:embed="rId4">
            <a:alphaModFix/>
          </a:blip>
          <a:stretch>
            <a:fillRect/>
          </a:stretch>
        </p:blipFill>
        <p:spPr>
          <a:xfrm>
            <a:off x="4811710" y="4209850"/>
            <a:ext cx="2845996" cy="353825"/>
          </a:xfrm>
          <a:prstGeom prst="rect">
            <a:avLst/>
          </a:prstGeom>
          <a:noFill/>
          <a:ln>
            <a:noFill/>
          </a:ln>
        </p:spPr>
      </p:pic>
      <p:sp>
        <p:nvSpPr>
          <p:cNvPr id="521" name="Google Shape;521;p58"/>
          <p:cNvSpPr txBox="1"/>
          <p:nvPr>
            <p:ph type="title"/>
          </p:nvPr>
        </p:nvSpPr>
        <p:spPr>
          <a:xfrm>
            <a:off x="690925" y="525425"/>
            <a:ext cx="7753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Extension stochastique du jeu</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9"/>
          <p:cNvSpPr txBox="1"/>
          <p:nvPr>
            <p:ph type="title"/>
          </p:nvPr>
        </p:nvSpPr>
        <p:spPr>
          <a:xfrm>
            <a:off x="791700" y="525425"/>
            <a:ext cx="670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Extension stochastique du jeu</a:t>
            </a:r>
            <a:endParaRPr/>
          </a:p>
        </p:txBody>
      </p:sp>
      <p:sp>
        <p:nvSpPr>
          <p:cNvPr id="527" name="Google Shape;527;p59"/>
          <p:cNvSpPr txBox="1"/>
          <p:nvPr>
            <p:ph idx="1" type="body"/>
          </p:nvPr>
        </p:nvSpPr>
        <p:spPr>
          <a:xfrm>
            <a:off x="644850" y="1166175"/>
            <a:ext cx="4237800" cy="195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Epilogue SemiBold"/>
                <a:ea typeface="Epilogue SemiBold"/>
                <a:cs typeface="Epilogue SemiBold"/>
                <a:sym typeface="Epilogue SemiBold"/>
              </a:rPr>
              <a:t> </a:t>
            </a:r>
            <a:r>
              <a:rPr lang="en" sz="1800">
                <a:solidFill>
                  <a:schemeClr val="dk2"/>
                </a:solidFill>
                <a:latin typeface="Epilogue SemiBold"/>
                <a:ea typeface="Epilogue SemiBold"/>
                <a:cs typeface="Epilogue SemiBold"/>
                <a:sym typeface="Epilogue SemiBold"/>
              </a:rPr>
              <a:t>Coûts et équilibres</a:t>
            </a:r>
            <a:endParaRPr sz="1400"/>
          </a:p>
          <a:p>
            <a:pPr indent="0" lvl="0" marL="0" rtl="0" algn="l">
              <a:spcBef>
                <a:spcPts val="0"/>
              </a:spcBef>
              <a:spcAft>
                <a:spcPts val="0"/>
              </a:spcAft>
              <a:buNone/>
            </a:pPr>
            <a:r>
              <a:rPr lang="en" sz="1400"/>
              <a:t> Coût du joueur </a:t>
            </a:r>
            <a:r>
              <a:rPr b="1" lang="en" sz="1400"/>
              <a:t>i</a:t>
            </a:r>
            <a:r>
              <a:rPr lang="en" sz="1400"/>
              <a:t> :</a:t>
            </a:r>
            <a:endParaRPr sz="1400"/>
          </a:p>
          <a:p>
            <a:pPr indent="-317500" lvl="0" marL="457200" rtl="0" algn="l">
              <a:spcBef>
                <a:spcPts val="500"/>
              </a:spcBef>
              <a:spcAft>
                <a:spcPts val="0"/>
              </a:spcAft>
              <a:buSzPts val="1400"/>
              <a:buChar char="●"/>
            </a:pPr>
            <a:r>
              <a:rPr lang="en" sz="1400"/>
              <a:t>Défini comme dans le modèle déterministe</a:t>
            </a:r>
            <a:endParaRPr sz="1400"/>
          </a:p>
          <a:p>
            <a:pPr indent="-317500" lvl="0" marL="457200" rtl="0" algn="l">
              <a:spcBef>
                <a:spcPts val="500"/>
              </a:spcBef>
              <a:spcAft>
                <a:spcPts val="0"/>
              </a:spcAft>
              <a:buSzPts val="1400"/>
              <a:buChar char="●"/>
            </a:pPr>
            <a:r>
              <a:rPr lang="en" sz="1400"/>
              <a:t>Espérance prise sur μ et π</a:t>
            </a:r>
            <a:endParaRPr sz="1400"/>
          </a:p>
          <a:p>
            <a:pPr indent="-317500" lvl="0" marL="457200" rtl="0" algn="l">
              <a:spcBef>
                <a:spcPts val="500"/>
              </a:spcBef>
              <a:spcAft>
                <a:spcPts val="0"/>
              </a:spcAft>
              <a:buSzPts val="1400"/>
              <a:buChar char="●"/>
            </a:pPr>
            <a:r>
              <a:rPr lang="en" sz="1400"/>
              <a:t>Jeu (SBPG)  noté : Γ(G,μ,Σ)</a:t>
            </a:r>
            <a:endParaRPr sz="1400"/>
          </a:p>
          <a:p>
            <a:pPr indent="-317500" lvl="0" marL="457200" rtl="0" algn="l">
              <a:spcBef>
                <a:spcPts val="500"/>
              </a:spcBef>
              <a:spcAft>
                <a:spcPts val="0"/>
              </a:spcAft>
              <a:buSzPts val="1400"/>
              <a:buChar char="●"/>
            </a:pPr>
            <a:r>
              <a:rPr lang="en" sz="1400"/>
              <a:t>Ensemble des équilibres de Nash : NE(Σ)</a:t>
            </a:r>
            <a:endParaRPr sz="1400"/>
          </a:p>
          <a:p>
            <a:pPr indent="0" lvl="0" marL="0" rtl="0" algn="l">
              <a:spcBef>
                <a:spcPts val="1200"/>
              </a:spcBef>
              <a:spcAft>
                <a:spcPts val="1200"/>
              </a:spcAft>
              <a:buNone/>
            </a:pPr>
            <a:r>
              <a:t/>
            </a:r>
            <a:endParaRPr baseline="-25000" sz="1400"/>
          </a:p>
        </p:txBody>
      </p:sp>
      <p:sp>
        <p:nvSpPr>
          <p:cNvPr id="528" name="Google Shape;528;p59"/>
          <p:cNvSpPr txBox="1"/>
          <p:nvPr>
            <p:ph idx="1" type="body"/>
          </p:nvPr>
        </p:nvSpPr>
        <p:spPr>
          <a:xfrm>
            <a:off x="644850" y="3116775"/>
            <a:ext cx="4014300" cy="164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Epilogue SemiBold"/>
                <a:ea typeface="Epilogue SemiBold"/>
                <a:cs typeface="Epilogue SemiBold"/>
                <a:sym typeface="Epilogue SemiBold"/>
              </a:rPr>
              <a:t> Partition du graphe induit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500"/>
              </a:spcBef>
              <a:spcAft>
                <a:spcPts val="0"/>
              </a:spcAft>
              <a:buNone/>
            </a:pPr>
            <a:r>
              <a:rPr lang="en" sz="1400"/>
              <a:t> </a:t>
            </a:r>
            <a:r>
              <a:rPr b="1" lang="en" sz="1400"/>
              <a:t>V</a:t>
            </a:r>
            <a:r>
              <a:rPr b="1" baseline="-25000" lang="en" sz="1400"/>
              <a:t>0</a:t>
            </a:r>
            <a:r>
              <a:rPr b="1" baseline="30000" lang="en" sz="1400"/>
              <a:t>π</a:t>
            </a:r>
            <a:r>
              <a:rPr lang="en" sz="1400"/>
              <a:t> : sommets transitoires</a:t>
            </a:r>
            <a:endParaRPr sz="1400"/>
          </a:p>
          <a:p>
            <a:pPr indent="0" lvl="0" marL="0" rtl="0" algn="l">
              <a:spcBef>
                <a:spcPts val="500"/>
              </a:spcBef>
              <a:spcAft>
                <a:spcPts val="0"/>
              </a:spcAft>
              <a:buNone/>
            </a:pPr>
            <a:r>
              <a:rPr lang="en" sz="1400"/>
              <a:t> </a:t>
            </a:r>
            <a:r>
              <a:rPr b="1" lang="en" sz="1400"/>
              <a:t>C</a:t>
            </a:r>
            <a:r>
              <a:rPr b="1" baseline="-25000" lang="en" sz="1400"/>
              <a:t>ℓ</a:t>
            </a:r>
            <a:r>
              <a:rPr b="1" baseline="30000" lang="en" sz="1400"/>
              <a:t>π</a:t>
            </a:r>
            <a:r>
              <a:rPr lang="en" sz="1400"/>
              <a:t> : classes récurrentes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pic>
        <p:nvPicPr>
          <p:cNvPr id="529" name="Google Shape;529;p59"/>
          <p:cNvPicPr preferRelativeResize="0"/>
          <p:nvPr/>
        </p:nvPicPr>
        <p:blipFill>
          <a:blip r:embed="rId3">
            <a:alphaModFix/>
          </a:blip>
          <a:stretch>
            <a:fillRect/>
          </a:stretch>
        </p:blipFill>
        <p:spPr>
          <a:xfrm>
            <a:off x="753318" y="3563907"/>
            <a:ext cx="3120875" cy="462050"/>
          </a:xfrm>
          <a:prstGeom prst="rect">
            <a:avLst/>
          </a:prstGeom>
          <a:noFill/>
          <a:ln>
            <a:noFill/>
          </a:ln>
        </p:spPr>
      </p:pic>
      <p:sp>
        <p:nvSpPr>
          <p:cNvPr id="530" name="Google Shape;530;p59"/>
          <p:cNvSpPr txBox="1"/>
          <p:nvPr/>
        </p:nvSpPr>
        <p:spPr>
          <a:xfrm>
            <a:off x="4823800" y="1166175"/>
            <a:ext cx="3618600" cy="289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Epilogue SemiBold"/>
                <a:ea typeface="Epilogue SemiBold"/>
                <a:cs typeface="Epilogue SemiBold"/>
                <a:sym typeface="Epilogue SemiBold"/>
              </a:rPr>
              <a:t>Mesure stationnaire </a:t>
            </a:r>
            <a:endParaRPr sz="1800">
              <a:solidFill>
                <a:schemeClr val="dk2"/>
              </a:solidFill>
              <a:latin typeface="Epilogue SemiBold"/>
              <a:ea typeface="Epilogue SemiBold"/>
              <a:cs typeface="Epilogue SemiBold"/>
              <a:sym typeface="Epilogue SemiBold"/>
            </a:endParaRPr>
          </a:p>
          <a:p>
            <a:pPr indent="0" lvl="0" marL="0" rtl="0" algn="l">
              <a:lnSpc>
                <a:spcPct val="115000"/>
              </a:lnSpc>
              <a:spcBef>
                <a:spcPts val="500"/>
              </a:spcBef>
              <a:spcAft>
                <a:spcPts val="0"/>
              </a:spcAft>
              <a:buNone/>
            </a:pPr>
            <a:r>
              <a:t/>
            </a:r>
            <a:endParaRPr sz="100">
              <a:solidFill>
                <a:schemeClr val="dk2"/>
              </a:solidFill>
              <a:latin typeface="Epilogue SemiBold"/>
              <a:ea typeface="Epilogue SemiBold"/>
              <a:cs typeface="Epilogue SemiBold"/>
              <a:sym typeface="Epilogue SemiBold"/>
            </a:endParaRPr>
          </a:p>
          <a:p>
            <a:pPr indent="-330200" lvl="0" marL="457200" rtl="0" algn="l">
              <a:lnSpc>
                <a:spcPct val="115000"/>
              </a:lnSpc>
              <a:spcBef>
                <a:spcPts val="500"/>
              </a:spcBef>
              <a:spcAft>
                <a:spcPts val="0"/>
              </a:spcAft>
              <a:buClr>
                <a:schemeClr val="lt2"/>
              </a:buClr>
              <a:buSzPts val="1600"/>
              <a:buFont typeface="Epilogue SemiBold"/>
              <a:buAutoNum type="arabicPeriod"/>
            </a:pPr>
            <a:r>
              <a:rPr lang="en" sz="1600">
                <a:solidFill>
                  <a:schemeClr val="lt2"/>
                </a:solidFill>
                <a:latin typeface="Epilogue SemiBold"/>
                <a:ea typeface="Epilogue SemiBold"/>
                <a:cs typeface="Epilogue SemiBold"/>
                <a:sym typeface="Epilogue SemiBold"/>
              </a:rPr>
              <a:t>Classes récurrentes</a:t>
            </a:r>
            <a:endParaRPr sz="1600">
              <a:solidFill>
                <a:schemeClr val="lt2"/>
              </a:solidFill>
              <a:latin typeface="Epilogue SemiBold"/>
              <a:ea typeface="Epilogue SemiBold"/>
              <a:cs typeface="Epilogue SemiBold"/>
              <a:sym typeface="Epilogue SemiBold"/>
            </a:endParaRPr>
          </a:p>
          <a:p>
            <a:pPr indent="0" lvl="0" marL="0" rtl="0" algn="l">
              <a:spcBef>
                <a:spcPts val="500"/>
              </a:spcBef>
              <a:spcAft>
                <a:spcPts val="0"/>
              </a:spcAft>
              <a:buNone/>
            </a:pPr>
            <a:r>
              <a:rPr lang="en">
                <a:solidFill>
                  <a:schemeClr val="dk1"/>
                </a:solidFill>
                <a:latin typeface="Albert Sans"/>
                <a:ea typeface="Albert Sans"/>
                <a:cs typeface="Albert Sans"/>
                <a:sym typeface="Albert Sans"/>
              </a:rPr>
              <a:t>Chaque classe récurrente C</a:t>
            </a:r>
            <a:r>
              <a:rPr baseline="30000" lang="en">
                <a:solidFill>
                  <a:schemeClr val="dk1"/>
                </a:solidFill>
                <a:latin typeface="Albert Sans"/>
                <a:ea typeface="Albert Sans"/>
                <a:cs typeface="Albert Sans"/>
                <a:sym typeface="Albert Sans"/>
              </a:rPr>
              <a:t>π</a:t>
            </a:r>
            <a:r>
              <a:rPr baseline="-25000" lang="en">
                <a:solidFill>
                  <a:schemeClr val="dk1"/>
                </a:solidFill>
                <a:latin typeface="Albert Sans"/>
                <a:ea typeface="Albert Sans"/>
                <a:cs typeface="Albert Sans"/>
                <a:sym typeface="Albert Sans"/>
              </a:rPr>
              <a:t>ℓ </a:t>
            </a:r>
            <a:r>
              <a:rPr lang="en">
                <a:solidFill>
                  <a:schemeClr val="dk1"/>
                </a:solidFill>
                <a:latin typeface="Albert Sans"/>
                <a:ea typeface="Albert Sans"/>
                <a:cs typeface="Albert Sans"/>
                <a:sym typeface="Albert Sans"/>
              </a:rPr>
              <a:t> est une </a:t>
            </a:r>
            <a:r>
              <a:rPr b="1" lang="en">
                <a:solidFill>
                  <a:schemeClr val="dk1"/>
                </a:solidFill>
                <a:latin typeface="Albert Sans"/>
                <a:ea typeface="Albert Sans"/>
                <a:cs typeface="Albert Sans"/>
                <a:sym typeface="Albert Sans"/>
              </a:rPr>
              <a:t>chaîne irréductible </a:t>
            </a:r>
            <a:r>
              <a:rPr lang="en">
                <a:solidFill>
                  <a:schemeClr val="dk1"/>
                </a:solidFill>
                <a:latin typeface="Albert Sans"/>
                <a:ea typeface="Albert Sans"/>
                <a:cs typeface="Albert Sans"/>
                <a:sym typeface="Albert Sans"/>
              </a:rPr>
              <a:t>qui a :</a:t>
            </a:r>
            <a:endParaRPr>
              <a:solidFill>
                <a:schemeClr val="dk1"/>
              </a:solidFill>
              <a:latin typeface="Albert Sans"/>
              <a:ea typeface="Albert Sans"/>
              <a:cs typeface="Albert Sans"/>
              <a:sym typeface="Albert Sans"/>
            </a:endParaRPr>
          </a:p>
          <a:p>
            <a:pPr indent="-317500" lvl="0" marL="457200" rtl="0" algn="l">
              <a:spcBef>
                <a:spcPts val="500"/>
              </a:spcBef>
              <a:spcAft>
                <a:spcPts val="0"/>
              </a:spcAft>
              <a:buSzPts val="1400"/>
              <a:buFont typeface="Albert Sans"/>
              <a:buChar char="●"/>
            </a:pPr>
            <a:r>
              <a:rPr lang="en">
                <a:solidFill>
                  <a:schemeClr val="dk1"/>
                </a:solidFill>
                <a:latin typeface="Albert Sans"/>
                <a:ea typeface="Albert Sans"/>
                <a:cs typeface="Albert Sans"/>
                <a:sym typeface="Albert Sans"/>
              </a:rPr>
              <a:t>Une </a:t>
            </a:r>
            <a:r>
              <a:rPr b="1" lang="en">
                <a:solidFill>
                  <a:schemeClr val="dk1"/>
                </a:solidFill>
                <a:latin typeface="Albert Sans"/>
                <a:ea typeface="Albert Sans"/>
                <a:cs typeface="Albert Sans"/>
                <a:sym typeface="Albert Sans"/>
              </a:rPr>
              <a:t>mesure stationnaire </a:t>
            </a:r>
            <a:r>
              <a:rPr lang="en">
                <a:solidFill>
                  <a:schemeClr val="dk1"/>
                </a:solidFill>
                <a:latin typeface="Albert Sans"/>
                <a:ea typeface="Albert Sans"/>
                <a:cs typeface="Albert Sans"/>
                <a:sym typeface="Albert Sans"/>
              </a:rPr>
              <a:t>unique </a:t>
            </a:r>
            <a:r>
              <a:rPr lang="en">
                <a:solidFill>
                  <a:srgbClr val="351C75"/>
                </a:solidFill>
                <a:latin typeface="Albert Sans"/>
                <a:ea typeface="Albert Sans"/>
                <a:cs typeface="Albert Sans"/>
                <a:sym typeface="Albert Sans"/>
              </a:rPr>
              <a:t>ρ</a:t>
            </a:r>
            <a:r>
              <a:rPr baseline="30000" lang="en">
                <a:solidFill>
                  <a:srgbClr val="351C75"/>
                </a:solidFill>
                <a:latin typeface="Albert Sans"/>
                <a:ea typeface="Albert Sans"/>
                <a:cs typeface="Albert Sans"/>
                <a:sym typeface="Albert Sans"/>
              </a:rPr>
              <a:t>π</a:t>
            </a:r>
            <a:r>
              <a:rPr baseline="-25000" lang="en">
                <a:solidFill>
                  <a:srgbClr val="351C75"/>
                </a:solidFill>
                <a:latin typeface="Albert Sans"/>
                <a:ea typeface="Albert Sans"/>
                <a:cs typeface="Albert Sans"/>
                <a:sym typeface="Albert Sans"/>
              </a:rPr>
              <a:t>ℓ</a:t>
            </a:r>
            <a:endParaRPr baseline="-25000">
              <a:solidFill>
                <a:srgbClr val="351C75"/>
              </a:solidFill>
              <a:latin typeface="Albert Sans"/>
              <a:ea typeface="Albert Sans"/>
              <a:cs typeface="Albert Sans"/>
              <a:sym typeface="Albert Sans"/>
            </a:endParaRPr>
          </a:p>
          <a:p>
            <a:pPr indent="0" lvl="0" marL="0" rtl="0" algn="l">
              <a:spcBef>
                <a:spcPts val="0"/>
              </a:spcBef>
              <a:spcAft>
                <a:spcPts val="0"/>
              </a:spcAft>
              <a:buNone/>
            </a:pPr>
            <a:r>
              <a:rPr baseline="-25000" lang="en">
                <a:solidFill>
                  <a:schemeClr val="dk1"/>
                </a:solidFill>
                <a:latin typeface="Albert Sans"/>
                <a:ea typeface="Albert Sans"/>
                <a:cs typeface="Albert Sans"/>
                <a:sym typeface="Albert Sans"/>
              </a:rPr>
              <a:t>     </a:t>
            </a:r>
            <a:r>
              <a:rPr lang="en">
                <a:solidFill>
                  <a:schemeClr val="dk1"/>
                </a:solidFill>
                <a:latin typeface="Albert Sans"/>
                <a:ea typeface="Albert Sans"/>
                <a:cs typeface="Albert Sans"/>
                <a:sym typeface="Albert Sans"/>
              </a:rPr>
              <a:t>(Fréquence de visite de chaque joueur)</a:t>
            </a:r>
            <a:endParaRPr>
              <a:solidFill>
                <a:schemeClr val="dk1"/>
              </a:solidFill>
              <a:latin typeface="Albert Sans"/>
              <a:ea typeface="Albert Sans"/>
              <a:cs typeface="Albert Sans"/>
              <a:sym typeface="Albert Sans"/>
            </a:endParaRPr>
          </a:p>
          <a:p>
            <a:pPr indent="0" lvl="0" marL="0" rtl="0" algn="l">
              <a:lnSpc>
                <a:spcPct val="115000"/>
              </a:lnSpc>
              <a:spcBef>
                <a:spcPts val="0"/>
              </a:spcBef>
              <a:spcAft>
                <a:spcPts val="0"/>
              </a:spcAft>
              <a:buNone/>
            </a:pPr>
            <a:r>
              <a:t/>
            </a:r>
            <a:endParaRPr sz="1600">
              <a:solidFill>
                <a:schemeClr val="lt2"/>
              </a:solidFill>
              <a:latin typeface="Epilogue SemiBold"/>
              <a:ea typeface="Epilogue SemiBold"/>
              <a:cs typeface="Epilogue SemiBold"/>
              <a:sym typeface="Epilogue SemiBold"/>
            </a:endParaRPr>
          </a:p>
          <a:p>
            <a:pPr indent="-330200" lvl="0" marL="457200" rtl="0" algn="l">
              <a:spcBef>
                <a:spcPts val="500"/>
              </a:spcBef>
              <a:spcAft>
                <a:spcPts val="0"/>
              </a:spcAft>
              <a:buClr>
                <a:schemeClr val="lt2"/>
              </a:buClr>
              <a:buSzPts val="1600"/>
              <a:buFont typeface="Epilogue SemiBold"/>
              <a:buAutoNum type="arabicPeriod"/>
            </a:pPr>
            <a:r>
              <a:rPr lang="en" sz="1600">
                <a:solidFill>
                  <a:schemeClr val="lt2"/>
                </a:solidFill>
                <a:latin typeface="Epilogue SemiBold"/>
                <a:ea typeface="Epilogue SemiBold"/>
                <a:cs typeface="Epilogue SemiBold"/>
                <a:sym typeface="Epilogue SemiBold"/>
              </a:rPr>
              <a:t>Extension à V  </a:t>
            </a:r>
            <a:endParaRPr sz="1600">
              <a:solidFill>
                <a:schemeClr val="lt2"/>
              </a:solidFill>
              <a:latin typeface="Albert Sans"/>
              <a:ea typeface="Albert Sans"/>
              <a:cs typeface="Albert Sans"/>
              <a:sym typeface="Albert Sans"/>
            </a:endParaRPr>
          </a:p>
          <a:p>
            <a:pPr indent="0" lvl="0" marL="0" rtl="0" algn="l">
              <a:spcBef>
                <a:spcPts val="1000"/>
              </a:spcBef>
              <a:spcAft>
                <a:spcPts val="0"/>
              </a:spcAft>
              <a:buNone/>
            </a:pPr>
            <a:r>
              <a:rPr lang="en" sz="1500">
                <a:solidFill>
                  <a:schemeClr val="dk1"/>
                </a:solidFill>
                <a:latin typeface="Albert Sans"/>
                <a:ea typeface="Albert Sans"/>
                <a:cs typeface="Albert Sans"/>
                <a:sym typeface="Albert Sans"/>
              </a:rPr>
              <a:t>∀ sommet i in V : ρ</a:t>
            </a:r>
            <a:r>
              <a:rPr baseline="30000" lang="en" sz="1500">
                <a:solidFill>
                  <a:schemeClr val="dk1"/>
                </a:solidFill>
                <a:latin typeface="Albert Sans"/>
                <a:ea typeface="Albert Sans"/>
                <a:cs typeface="Albert Sans"/>
                <a:sym typeface="Albert Sans"/>
              </a:rPr>
              <a:t>π</a:t>
            </a:r>
            <a:r>
              <a:rPr baseline="-25000" lang="en" sz="1500">
                <a:solidFill>
                  <a:schemeClr val="dk1"/>
                </a:solidFill>
                <a:latin typeface="Albert Sans"/>
                <a:ea typeface="Albert Sans"/>
                <a:cs typeface="Albert Sans"/>
                <a:sym typeface="Albert Sans"/>
              </a:rPr>
              <a:t>ℓ </a:t>
            </a:r>
            <a:r>
              <a:rPr lang="en" sz="1500">
                <a:solidFill>
                  <a:schemeClr val="dk1"/>
                </a:solidFill>
                <a:latin typeface="Albert Sans"/>
                <a:ea typeface="Albert Sans"/>
                <a:cs typeface="Albert Sans"/>
                <a:sym typeface="Albert Sans"/>
              </a:rPr>
              <a:t>(i)=0  si  i ∉ C</a:t>
            </a:r>
            <a:r>
              <a:rPr baseline="30000" lang="en" sz="1500">
                <a:solidFill>
                  <a:schemeClr val="dk1"/>
                </a:solidFill>
                <a:latin typeface="Albert Sans"/>
                <a:ea typeface="Albert Sans"/>
                <a:cs typeface="Albert Sans"/>
                <a:sym typeface="Albert Sans"/>
              </a:rPr>
              <a:t>π</a:t>
            </a:r>
            <a:r>
              <a:rPr baseline="-25000" lang="en" sz="1500">
                <a:solidFill>
                  <a:schemeClr val="dk1"/>
                </a:solidFill>
                <a:latin typeface="Albert Sans"/>
                <a:ea typeface="Albert Sans"/>
                <a:cs typeface="Albert Sans"/>
                <a:sym typeface="Albert Sans"/>
              </a:rPr>
              <a:t>ℓ</a:t>
            </a:r>
            <a:r>
              <a:rPr baseline="-25000" lang="en" sz="1300">
                <a:solidFill>
                  <a:schemeClr val="dk1"/>
                </a:solidFill>
                <a:latin typeface="Albert Sans"/>
                <a:ea typeface="Albert Sans"/>
                <a:cs typeface="Albert Sans"/>
                <a:sym typeface="Albert Sans"/>
              </a:rPr>
              <a:t> </a:t>
            </a:r>
            <a:endParaRPr>
              <a:solidFill>
                <a:schemeClr val="dk1"/>
              </a:solidFill>
              <a:latin typeface="Albert Sans"/>
              <a:ea typeface="Albert Sans"/>
              <a:cs typeface="Albert Sans"/>
              <a:sym typeface="Albert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id="535" name="Google Shape;535;p60"/>
          <p:cNvPicPr preferRelativeResize="0"/>
          <p:nvPr/>
        </p:nvPicPr>
        <p:blipFill>
          <a:blip r:embed="rId3">
            <a:alphaModFix/>
          </a:blip>
          <a:stretch>
            <a:fillRect/>
          </a:stretch>
        </p:blipFill>
        <p:spPr>
          <a:xfrm>
            <a:off x="5602236" y="1284385"/>
            <a:ext cx="2822674" cy="3116150"/>
          </a:xfrm>
          <a:prstGeom prst="rect">
            <a:avLst/>
          </a:prstGeom>
          <a:noFill/>
          <a:ln>
            <a:noFill/>
          </a:ln>
        </p:spPr>
      </p:pic>
      <p:sp>
        <p:nvSpPr>
          <p:cNvPr id="536" name="Google Shape;536;p60"/>
          <p:cNvSpPr txBox="1"/>
          <p:nvPr>
            <p:ph idx="4294967295" type="title"/>
          </p:nvPr>
        </p:nvSpPr>
        <p:spPr>
          <a:xfrm>
            <a:off x="791700" y="525425"/>
            <a:ext cx="670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Extension stochastique du jeu</a:t>
            </a:r>
            <a:endParaRPr/>
          </a:p>
        </p:txBody>
      </p:sp>
      <p:sp>
        <p:nvSpPr>
          <p:cNvPr id="537" name="Google Shape;537;p60"/>
          <p:cNvSpPr txBox="1"/>
          <p:nvPr/>
        </p:nvSpPr>
        <p:spPr>
          <a:xfrm>
            <a:off x="953375" y="1188769"/>
            <a:ext cx="5429100" cy="3884700"/>
          </a:xfrm>
          <a:prstGeom prst="rect">
            <a:avLst/>
          </a:prstGeom>
          <a:noFill/>
          <a:ln>
            <a:noFill/>
          </a:ln>
        </p:spPr>
        <p:txBody>
          <a:bodyPr anchorCtr="0" anchor="t" bIns="91425" lIns="91425" spcFirstLastPara="1" rIns="91425" wrap="square" tIns="91425">
            <a:spAutoFit/>
          </a:bodyPr>
          <a:lstStyle/>
          <a:p>
            <a:pPr indent="0" lvl="0" marL="0" rtl="0" algn="l">
              <a:lnSpc>
                <a:spcPct val="50000"/>
              </a:lnSpc>
              <a:spcBef>
                <a:spcPts val="0"/>
              </a:spcBef>
              <a:spcAft>
                <a:spcPts val="0"/>
              </a:spcAft>
              <a:buNone/>
            </a:pPr>
            <a:r>
              <a:rPr lang="en" sz="1100">
                <a:latin typeface="Albert Sans"/>
                <a:ea typeface="Albert Sans"/>
                <a:cs typeface="Albert Sans"/>
                <a:sym typeface="Albert Sans"/>
              </a:rPr>
              <a:t>πA = (0, 0.6, 0, 0.4) → A passe à B (0.6) ou D (0.4).</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πB = (0, 0, 1, 0) → B passe toujours à C.</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πC = (0, 1, 0, 0) → C passe toujours à B.</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πD = (0, 0, 0, 1) → D garde le buck (absorbant).</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t/>
            </a:r>
            <a:endParaRPr sz="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V_0^π = {A} (transitoire). </a:t>
            </a:r>
            <a:r>
              <a:rPr lang="en" sz="1100">
                <a:latin typeface="Albert Sans"/>
                <a:ea typeface="Albert Sans"/>
                <a:cs typeface="Albert Sans"/>
                <a:sym typeface="Albert Sans"/>
              </a:rPr>
              <a:t>→ ρ_1^π = (0,0,0,0)</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C_1^π = {B, C} (cycle récurrent) → ρ_1^π = (0, 0.5, 0.5, 0) </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C_2^π = {D} (singleton absorbant) → ρ_2^π = (0, 0, 0, 1)</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M(π) = 2.</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t/>
            </a:r>
            <a:endParaRPr sz="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μ_1^π = (1/4)(0.6 depuis A + 1 depuis B + 1 depuis C + 0 depuis D) </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 (1/4)(0.6 +1 +1 +0) = 0.65</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μ_2^π = (1/4)(0.4 +0 +0 +1) = 0.35</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t/>
            </a:r>
            <a:endParaRPr sz="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c_A = 0  				      c_B = 0.65 * 0.5 + 0.35 * 0 = 0.325</a:t>
            </a:r>
            <a:endParaRPr sz="1100">
              <a:latin typeface="Albert Sans"/>
              <a:ea typeface="Albert Sans"/>
              <a:cs typeface="Albert Sans"/>
              <a:sym typeface="Albert Sans"/>
            </a:endParaRPr>
          </a:p>
          <a:p>
            <a:pPr indent="0" lvl="0" marL="0" rtl="0" algn="l">
              <a:lnSpc>
                <a:spcPct val="50000"/>
              </a:lnSpc>
              <a:spcBef>
                <a:spcPts val="1200"/>
              </a:spcBef>
              <a:spcAft>
                <a:spcPts val="0"/>
              </a:spcAft>
              <a:buNone/>
            </a:pPr>
            <a:r>
              <a:rPr lang="en" sz="1100">
                <a:latin typeface="Albert Sans"/>
                <a:ea typeface="Albert Sans"/>
                <a:cs typeface="Albert Sans"/>
                <a:sym typeface="Albert Sans"/>
              </a:rPr>
              <a:t>c_C = 0.65 * 0.5 + 0.35 * 0 = 0.325     c_D = 0.65 * 0 + 0.35 * 1 = 0.35</a:t>
            </a:r>
            <a:endParaRPr sz="1100">
              <a:latin typeface="Albert Sans"/>
              <a:ea typeface="Albert Sans"/>
              <a:cs typeface="Albert Sans"/>
              <a:sym typeface="Albert Sans"/>
            </a:endParaRPr>
          </a:p>
          <a:p>
            <a:pPr indent="0" lvl="0" marL="0" rtl="0" algn="l">
              <a:lnSpc>
                <a:spcPct val="50000"/>
              </a:lnSpc>
              <a:spcBef>
                <a:spcPts val="1200"/>
              </a:spcBef>
              <a:spcAft>
                <a:spcPts val="1200"/>
              </a:spcAft>
              <a:buNone/>
            </a:pPr>
            <a:r>
              <a:t/>
            </a:r>
            <a:endParaRPr sz="1100">
              <a:latin typeface="Albert Sans"/>
              <a:ea typeface="Albert Sans"/>
              <a:cs typeface="Albert Sans"/>
              <a:sym typeface="Albert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1"/>
          <p:cNvSpPr/>
          <p:nvPr/>
        </p:nvSpPr>
        <p:spPr>
          <a:xfrm>
            <a:off x="877291" y="1263682"/>
            <a:ext cx="7291800" cy="1531500"/>
          </a:xfrm>
          <a:prstGeom prst="roundRect">
            <a:avLst>
              <a:gd fmla="val 7267" name="adj"/>
            </a:avLst>
          </a:prstGeom>
          <a:solidFill>
            <a:srgbClr val="D7DFE5">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43" name="Google Shape;543;p61"/>
          <p:cNvSpPr txBox="1"/>
          <p:nvPr>
            <p:ph type="title"/>
          </p:nvPr>
        </p:nvSpPr>
        <p:spPr>
          <a:xfrm>
            <a:off x="791700" y="525425"/>
            <a:ext cx="670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Extension stochastique du jeu</a:t>
            </a:r>
            <a:endParaRPr/>
          </a:p>
        </p:txBody>
      </p:sp>
      <p:sp>
        <p:nvSpPr>
          <p:cNvPr id="544" name="Google Shape;544;p61"/>
          <p:cNvSpPr txBox="1"/>
          <p:nvPr>
            <p:ph idx="1" type="body"/>
          </p:nvPr>
        </p:nvSpPr>
        <p:spPr>
          <a:xfrm>
            <a:off x="962341" y="1263682"/>
            <a:ext cx="7121700" cy="153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Epilogue SemiBold"/>
                <a:ea typeface="Epilogue SemiBold"/>
                <a:cs typeface="Epilogue SemiBold"/>
                <a:sym typeface="Epilogue SemiBold"/>
              </a:rPr>
              <a:t>Théorème</a:t>
            </a:r>
            <a:r>
              <a:rPr lang="en" sz="1800">
                <a:solidFill>
                  <a:schemeClr val="dk2"/>
                </a:solidFill>
                <a:latin typeface="Epilogue SemiBold"/>
                <a:ea typeface="Epilogue SemiBold"/>
                <a:cs typeface="Epilogue SemiBold"/>
                <a:sym typeface="Epilogue SemiBold"/>
              </a:rPr>
              <a:t> de l’Ergodicité</a:t>
            </a:r>
            <a:endParaRPr sz="1400"/>
          </a:p>
          <a:p>
            <a:pPr indent="0" lvl="0" marL="0" rtl="0" algn="l">
              <a:spcBef>
                <a:spcPts val="0"/>
              </a:spcBef>
              <a:spcAft>
                <a:spcPts val="0"/>
              </a:spcAft>
              <a:buNone/>
            </a:pPr>
            <a:r>
              <a:rPr lang="en" sz="1400"/>
              <a:t>Soit :</a:t>
            </a:r>
            <a:endParaRPr sz="1400"/>
          </a:p>
          <a:p>
            <a:pPr indent="-317500" lvl="0" marL="457200" rtl="0" algn="l">
              <a:spcBef>
                <a:spcPts val="0"/>
              </a:spcBef>
              <a:spcAft>
                <a:spcPts val="0"/>
              </a:spcAft>
              <a:buSzPts val="1400"/>
              <a:buChar char="●"/>
            </a:pPr>
            <a:r>
              <a:rPr lang="en" sz="1400"/>
              <a:t>(Xt)t≥0 une chaîne de Markov irréductible , Espace d’états fini : V , Matrice de transition : π, Distribution initiale : μ</a:t>
            </a:r>
            <a:endParaRPr sz="1400"/>
          </a:p>
          <a:p>
            <a:pPr indent="0" lvl="0" marL="0" rtl="0" algn="l">
              <a:spcBef>
                <a:spcPts val="0"/>
              </a:spcBef>
              <a:spcAft>
                <a:spcPts val="0"/>
              </a:spcAft>
              <a:buNone/>
            </a:pPr>
            <a:r>
              <a:rPr lang="en" sz="1400"/>
              <a:t>Il existe une </a:t>
            </a:r>
            <a:r>
              <a:rPr b="1" lang="en" sz="1400"/>
              <a:t>unique mesure stationnaire</a:t>
            </a:r>
            <a:r>
              <a:rPr lang="en" sz="1400"/>
              <a:t> </a:t>
            </a:r>
            <a:r>
              <a:rPr lang="en" sz="1400"/>
              <a:t>ρπ</a:t>
            </a:r>
            <a:endParaRPr sz="1400"/>
          </a:p>
          <a:p>
            <a:pPr indent="0" lvl="0" marL="457200" rtl="0" algn="l">
              <a:spcBef>
                <a:spcPts val="0"/>
              </a:spcBef>
              <a:spcAft>
                <a:spcPts val="0"/>
              </a:spcAft>
              <a:buNone/>
            </a:pPr>
            <a:r>
              <a:t/>
            </a:r>
            <a:endParaRPr sz="1400"/>
          </a:p>
          <a:p>
            <a:pPr indent="0" lvl="0" marL="0" rtl="0" algn="l">
              <a:spcBef>
                <a:spcPts val="1200"/>
              </a:spcBef>
              <a:spcAft>
                <a:spcPts val="1200"/>
              </a:spcAft>
              <a:buNone/>
            </a:pPr>
            <a:r>
              <a:t/>
            </a:r>
            <a:endParaRPr baseline="-25000" sz="1400"/>
          </a:p>
        </p:txBody>
      </p:sp>
      <p:sp>
        <p:nvSpPr>
          <p:cNvPr id="545" name="Google Shape;545;p61"/>
          <p:cNvSpPr txBox="1"/>
          <p:nvPr/>
        </p:nvSpPr>
        <p:spPr>
          <a:xfrm>
            <a:off x="962350" y="3082175"/>
            <a:ext cx="7206900" cy="179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Epilogue SemiBold"/>
                <a:ea typeface="Epilogue SemiBold"/>
                <a:cs typeface="Epilogue SemiBold"/>
                <a:sym typeface="Epilogue SemiBold"/>
              </a:rPr>
              <a:t>Résultat clé</a:t>
            </a:r>
            <a:endParaRPr sz="1800">
              <a:solidFill>
                <a:schemeClr val="dk2"/>
              </a:solidFill>
              <a:latin typeface="Epilogue SemiBold"/>
              <a:ea typeface="Epilogue SemiBold"/>
              <a:cs typeface="Epilogue SemiBold"/>
              <a:sym typeface="Epilogue SemiBold"/>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Pour tout état i∈V</a:t>
            </a:r>
            <a:r>
              <a:rPr baseline="-25000" lang="en" sz="1200">
                <a:solidFill>
                  <a:schemeClr val="dk1"/>
                </a:solidFill>
                <a:latin typeface="Albert Sans"/>
                <a:ea typeface="Albert Sans"/>
                <a:cs typeface="Albert Sans"/>
                <a:sym typeface="Albert Sans"/>
              </a:rPr>
              <a:t>i</a:t>
            </a:r>
            <a:r>
              <a:rPr baseline="-25000" lang="en" sz="1300">
                <a:solidFill>
                  <a:schemeClr val="dk1"/>
                </a:solidFill>
                <a:latin typeface="Albert Sans"/>
                <a:ea typeface="Albert Sans"/>
                <a:cs typeface="Albert Sans"/>
                <a:sym typeface="Albert Sans"/>
              </a:rPr>
              <a:t> </a:t>
            </a:r>
            <a:r>
              <a:rPr lang="en">
                <a:solidFill>
                  <a:schemeClr val="dk1"/>
                </a:solidFill>
                <a:latin typeface="Albert Sans"/>
                <a:ea typeface="Albert Sans"/>
                <a:cs typeface="Albert Sans"/>
                <a:sym typeface="Albert Sans"/>
              </a:rPr>
              <a:t>:</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T</a:t>
            </a:r>
            <a:r>
              <a:rPr baseline="-25000" lang="en">
                <a:solidFill>
                  <a:schemeClr val="dk1"/>
                </a:solidFill>
                <a:latin typeface="Albert Sans"/>
                <a:ea typeface="Albert Sans"/>
                <a:cs typeface="Albert Sans"/>
                <a:sym typeface="Albert Sans"/>
              </a:rPr>
              <a:t>i </a:t>
            </a:r>
            <a:r>
              <a:rPr lang="en">
                <a:solidFill>
                  <a:schemeClr val="dk1"/>
                </a:solidFill>
                <a:latin typeface="Albert Sans"/>
                <a:ea typeface="Albert Sans"/>
                <a:cs typeface="Albert Sans"/>
                <a:sym typeface="Albert Sans"/>
              </a:rPr>
              <a:t>= temps de retour en i</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ρ</a:t>
            </a:r>
            <a:r>
              <a:rPr baseline="-25000" lang="en" sz="1300">
                <a:solidFill>
                  <a:schemeClr val="dk1"/>
                </a:solidFill>
                <a:latin typeface="Albert Sans"/>
                <a:ea typeface="Albert Sans"/>
                <a:cs typeface="Albert Sans"/>
                <a:sym typeface="Albert Sans"/>
              </a:rPr>
              <a:t>π</a:t>
            </a:r>
            <a:r>
              <a:rPr lang="en">
                <a:solidFill>
                  <a:schemeClr val="dk1"/>
                </a:solidFill>
                <a:latin typeface="Albert Sans"/>
                <a:ea typeface="Albert Sans"/>
                <a:cs typeface="Albert Sans"/>
                <a:sym typeface="Albert Sans"/>
              </a:rPr>
              <a:t>(i) = fréquence asymptotique de visite de i</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p:txBody>
      </p:sp>
      <p:pic>
        <p:nvPicPr>
          <p:cNvPr id="546" name="Google Shape;546;p61"/>
          <p:cNvPicPr preferRelativeResize="0"/>
          <p:nvPr/>
        </p:nvPicPr>
        <p:blipFill>
          <a:blip r:embed="rId3">
            <a:alphaModFix/>
          </a:blip>
          <a:stretch>
            <a:fillRect/>
          </a:stretch>
        </p:blipFill>
        <p:spPr>
          <a:xfrm>
            <a:off x="2952425" y="3138113"/>
            <a:ext cx="5131624" cy="8223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2"/>
          <p:cNvSpPr/>
          <p:nvPr/>
        </p:nvSpPr>
        <p:spPr>
          <a:xfrm>
            <a:off x="4860227" y="3644339"/>
            <a:ext cx="3510300" cy="886800"/>
          </a:xfrm>
          <a:prstGeom prst="roundRect">
            <a:avLst>
              <a:gd fmla="val 7267" name="adj"/>
            </a:avLst>
          </a:prstGeom>
          <a:solidFill>
            <a:srgbClr val="D7DFE5">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52" name="Google Shape;552;p62"/>
          <p:cNvSpPr txBox="1"/>
          <p:nvPr>
            <p:ph type="title"/>
          </p:nvPr>
        </p:nvSpPr>
        <p:spPr>
          <a:xfrm>
            <a:off x="791700" y="525425"/>
            <a:ext cx="670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Extension stochastique du jeu</a:t>
            </a:r>
            <a:endParaRPr/>
          </a:p>
        </p:txBody>
      </p:sp>
      <p:sp>
        <p:nvSpPr>
          <p:cNvPr id="553" name="Google Shape;553;p62"/>
          <p:cNvSpPr txBox="1"/>
          <p:nvPr>
            <p:ph idx="1" type="body"/>
          </p:nvPr>
        </p:nvSpPr>
        <p:spPr>
          <a:xfrm>
            <a:off x="742950" y="1166175"/>
            <a:ext cx="4117200" cy="175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Epilogue SemiBold"/>
                <a:ea typeface="Epilogue SemiBold"/>
                <a:cs typeface="Epilogue SemiBold"/>
                <a:sym typeface="Epilogue SemiBold"/>
              </a:rPr>
              <a:t>Cas : chaîne non irréductible</a:t>
            </a:r>
            <a:endParaRPr sz="1400"/>
          </a:p>
          <a:p>
            <a:pPr indent="0" lvl="0" marL="0" rtl="0" algn="l">
              <a:spcBef>
                <a:spcPts val="0"/>
              </a:spcBef>
              <a:spcAft>
                <a:spcPts val="0"/>
              </a:spcAft>
              <a:buNone/>
            </a:pPr>
            <a:r>
              <a:rPr lang="en" sz="1400"/>
              <a:t>Le graphe Gπ peut contenir plusieurs classes récurrentes</a:t>
            </a:r>
            <a:endParaRPr sz="1400"/>
          </a:p>
          <a:p>
            <a:pPr indent="0" lvl="0" marL="0" rtl="0" algn="l">
              <a:spcBef>
                <a:spcPts val="0"/>
              </a:spcBef>
              <a:spcAft>
                <a:spcPts val="0"/>
              </a:spcAft>
              <a:buNone/>
            </a:pPr>
            <a:r>
              <a:rPr lang="en" sz="1400"/>
              <a:t>À partir de n’importe quel état initial, la chaîne :</a:t>
            </a:r>
            <a:endParaRPr sz="1400"/>
          </a:p>
          <a:p>
            <a:pPr indent="-317500" lvl="0" marL="457200" rtl="0" algn="l">
              <a:spcBef>
                <a:spcPts val="0"/>
              </a:spcBef>
              <a:spcAft>
                <a:spcPts val="0"/>
              </a:spcAft>
              <a:buSzPts val="1400"/>
              <a:buChar char="●"/>
            </a:pPr>
            <a:r>
              <a:rPr lang="en" sz="1400"/>
              <a:t>traverse éventuellement des états transitoires</a:t>
            </a:r>
            <a:endParaRPr sz="1400"/>
          </a:p>
          <a:p>
            <a:pPr indent="-317500" lvl="0" marL="457200" rtl="0" algn="l">
              <a:spcBef>
                <a:spcPts val="0"/>
              </a:spcBef>
              <a:spcAft>
                <a:spcPts val="0"/>
              </a:spcAft>
              <a:buSzPts val="1400"/>
              <a:buChar char="●"/>
            </a:pPr>
            <a:r>
              <a:rPr lang="en" sz="1400"/>
              <a:t>est </a:t>
            </a:r>
            <a:r>
              <a:rPr lang="en" sz="1400"/>
              <a:t>sûrement</a:t>
            </a:r>
            <a:r>
              <a:rPr lang="en" sz="1400"/>
              <a:t> absorbée dans une classe récurrente Cπℓ, avec proba:</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Donc la probabilité totale avec laquelle le buck est absorbé dans Cπℓ:</a:t>
            </a:r>
            <a:endParaRPr sz="1400"/>
          </a:p>
          <a:p>
            <a:pPr indent="0" lvl="0" marL="0" rtl="0" algn="l">
              <a:spcBef>
                <a:spcPts val="0"/>
              </a:spcBef>
              <a:spcAft>
                <a:spcPts val="0"/>
              </a:spcAft>
              <a:buNone/>
            </a:pPr>
            <a:r>
              <a:t/>
            </a:r>
            <a:endParaRPr sz="1400"/>
          </a:p>
          <a:p>
            <a:pPr indent="0" lvl="0" marL="0" rtl="0" algn="l">
              <a:spcBef>
                <a:spcPts val="1200"/>
              </a:spcBef>
              <a:spcAft>
                <a:spcPts val="1200"/>
              </a:spcAft>
              <a:buNone/>
            </a:pPr>
            <a:r>
              <a:t/>
            </a:r>
            <a:endParaRPr baseline="-25000" sz="1400"/>
          </a:p>
        </p:txBody>
      </p:sp>
      <p:sp>
        <p:nvSpPr>
          <p:cNvPr id="554" name="Google Shape;554;p62"/>
          <p:cNvSpPr txBox="1"/>
          <p:nvPr/>
        </p:nvSpPr>
        <p:spPr>
          <a:xfrm>
            <a:off x="4910027" y="3699843"/>
            <a:ext cx="3410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Epilogue SemiBold"/>
                <a:ea typeface="Epilogue SemiBold"/>
                <a:cs typeface="Epilogue SemiBold"/>
                <a:sym typeface="Epilogue SemiBold"/>
              </a:rPr>
              <a:t>Remarque</a:t>
            </a:r>
            <a:endParaRPr>
              <a:solidFill>
                <a:schemeClr val="dk2"/>
              </a:solidFill>
              <a:latin typeface="Epilogue SemiBold"/>
              <a:ea typeface="Epilogue SemiBold"/>
              <a:cs typeface="Epilogue SemiBold"/>
              <a:sym typeface="Epilogue SemiBold"/>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μℓπ : dans quelle classe est le buck</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ρℓπ(i)  : répartition au sein de la classe</a:t>
            </a:r>
            <a:endParaRPr>
              <a:solidFill>
                <a:schemeClr val="dk1"/>
              </a:solidFill>
              <a:latin typeface="Albert Sans"/>
              <a:ea typeface="Albert Sans"/>
              <a:cs typeface="Albert Sans"/>
              <a:sym typeface="Albert Sans"/>
            </a:endParaRPr>
          </a:p>
        </p:txBody>
      </p:sp>
      <p:sp>
        <p:nvSpPr>
          <p:cNvPr id="555" name="Google Shape;555;p62"/>
          <p:cNvSpPr txBox="1"/>
          <p:nvPr/>
        </p:nvSpPr>
        <p:spPr>
          <a:xfrm>
            <a:off x="4781100" y="1350450"/>
            <a:ext cx="3619800" cy="158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Epilogue SemiBold"/>
                <a:ea typeface="Epilogue SemiBold"/>
                <a:cs typeface="Epilogue SemiBold"/>
                <a:sym typeface="Epilogue SemiBold"/>
              </a:rPr>
              <a:t>Dynamique interne et coût</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La chaîne restreinte à Cπℓ est irréductible</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Elle admet une mesure stationnaire unique ρπℓ</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ρπℓ(i)= fréquence asymptotique du fardeau sur i</a:t>
            </a:r>
            <a:endParaRPr>
              <a:solidFill>
                <a:schemeClr val="dk1"/>
              </a:solidFill>
              <a:latin typeface="Albert Sans"/>
              <a:ea typeface="Albert Sans"/>
              <a:cs typeface="Albert Sans"/>
              <a:sym typeface="Albert Sans"/>
            </a:endParaRPr>
          </a:p>
        </p:txBody>
      </p:sp>
      <p:pic>
        <p:nvPicPr>
          <p:cNvPr id="556" name="Google Shape;556;p62"/>
          <p:cNvPicPr preferRelativeResize="0"/>
          <p:nvPr/>
        </p:nvPicPr>
        <p:blipFill>
          <a:blip r:embed="rId3">
            <a:alphaModFix/>
          </a:blip>
          <a:stretch>
            <a:fillRect/>
          </a:stretch>
        </p:blipFill>
        <p:spPr>
          <a:xfrm>
            <a:off x="5251588" y="2665650"/>
            <a:ext cx="2581275" cy="1047750"/>
          </a:xfrm>
          <a:prstGeom prst="rect">
            <a:avLst/>
          </a:prstGeom>
          <a:noFill/>
          <a:ln>
            <a:noFill/>
          </a:ln>
        </p:spPr>
      </p:pic>
      <p:pic>
        <p:nvPicPr>
          <p:cNvPr id="557" name="Google Shape;557;p62"/>
          <p:cNvPicPr preferRelativeResize="0"/>
          <p:nvPr/>
        </p:nvPicPr>
        <p:blipFill>
          <a:blip r:embed="rId4">
            <a:alphaModFix/>
          </a:blip>
          <a:stretch>
            <a:fillRect/>
          </a:stretch>
        </p:blipFill>
        <p:spPr>
          <a:xfrm>
            <a:off x="889200" y="3300275"/>
            <a:ext cx="3619800" cy="399584"/>
          </a:xfrm>
          <a:prstGeom prst="rect">
            <a:avLst/>
          </a:prstGeom>
          <a:noFill/>
          <a:ln>
            <a:noFill/>
          </a:ln>
        </p:spPr>
      </p:pic>
      <p:pic>
        <p:nvPicPr>
          <p:cNvPr id="558" name="Google Shape;558;p62"/>
          <p:cNvPicPr preferRelativeResize="0"/>
          <p:nvPr/>
        </p:nvPicPr>
        <p:blipFill>
          <a:blip r:embed="rId5">
            <a:alphaModFix/>
          </a:blip>
          <a:stretch>
            <a:fillRect/>
          </a:stretch>
        </p:blipFill>
        <p:spPr>
          <a:xfrm>
            <a:off x="2703150" y="4077150"/>
            <a:ext cx="1926550" cy="6828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3"/>
          <p:cNvSpPr txBox="1"/>
          <p:nvPr>
            <p:ph type="title"/>
          </p:nvPr>
        </p:nvSpPr>
        <p:spPr>
          <a:xfrm>
            <a:off x="909300" y="2225850"/>
            <a:ext cx="7325400" cy="1725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Relation entre la version </a:t>
            </a:r>
            <a:r>
              <a:rPr lang="en"/>
              <a:t>déterministe</a:t>
            </a:r>
            <a:r>
              <a:rPr lang="en"/>
              <a:t> et stochastique</a:t>
            </a:r>
            <a:endParaRPr/>
          </a:p>
        </p:txBody>
      </p:sp>
      <p:sp>
        <p:nvSpPr>
          <p:cNvPr id="564" name="Google Shape;564;p63"/>
          <p:cNvSpPr txBox="1"/>
          <p:nvPr>
            <p:ph idx="2" type="title"/>
          </p:nvPr>
        </p:nvSpPr>
        <p:spPr>
          <a:xfrm>
            <a:off x="4048350" y="913316"/>
            <a:ext cx="1047300" cy="969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05</a:t>
            </a:r>
            <a:endParaRPr/>
          </a:p>
        </p:txBody>
      </p:sp>
      <p:grpSp>
        <p:nvGrpSpPr>
          <p:cNvPr id="565" name="Google Shape;565;p63"/>
          <p:cNvGrpSpPr/>
          <p:nvPr/>
        </p:nvGrpSpPr>
        <p:grpSpPr>
          <a:xfrm>
            <a:off x="7731792" y="683864"/>
            <a:ext cx="709214" cy="351346"/>
            <a:chOff x="7731792" y="683864"/>
            <a:chExt cx="709214" cy="351346"/>
          </a:xfrm>
        </p:grpSpPr>
        <p:pic>
          <p:nvPicPr>
            <p:cNvPr id="566" name="Google Shape;566;p63"/>
            <p:cNvPicPr preferRelativeResize="0"/>
            <p:nvPr/>
          </p:nvPicPr>
          <p:blipFill rotWithShape="1">
            <a:blip r:embed="rId3">
              <a:alphaModFix/>
            </a:blip>
            <a:srcRect b="16825" l="13625" r="22284" t="16222"/>
            <a:stretch/>
          </p:blipFill>
          <p:spPr>
            <a:xfrm>
              <a:off x="8083232" y="683864"/>
              <a:ext cx="357774" cy="351346"/>
            </a:xfrm>
            <a:prstGeom prst="rect">
              <a:avLst/>
            </a:prstGeom>
            <a:noFill/>
            <a:ln>
              <a:noFill/>
            </a:ln>
          </p:spPr>
        </p:pic>
        <p:pic>
          <p:nvPicPr>
            <p:cNvPr id="567" name="Google Shape;567;p63"/>
            <p:cNvPicPr preferRelativeResize="0"/>
            <p:nvPr/>
          </p:nvPicPr>
          <p:blipFill rotWithShape="1">
            <a:blip r:embed="rId4">
              <a:alphaModFix/>
            </a:blip>
            <a:srcRect b="16523" l="18541" r="17368" t="16523"/>
            <a:stretch/>
          </p:blipFill>
          <p:spPr>
            <a:xfrm>
              <a:off x="7731792" y="683864"/>
              <a:ext cx="357774" cy="351346"/>
            </a:xfrm>
            <a:prstGeom prst="rect">
              <a:avLst/>
            </a:prstGeom>
            <a:noFill/>
            <a:ln>
              <a:noFill/>
            </a:ln>
          </p:spPr>
        </p:pic>
      </p:grpSp>
      <p:pic>
        <p:nvPicPr>
          <p:cNvPr id="568" name="Google Shape;568;p63"/>
          <p:cNvPicPr preferRelativeResize="0"/>
          <p:nvPr/>
        </p:nvPicPr>
        <p:blipFill rotWithShape="1">
          <a:blip r:embed="rId3">
            <a:alphaModFix/>
          </a:blip>
          <a:srcRect b="16825" l="13625" r="22284" t="16222"/>
          <a:stretch/>
        </p:blipFill>
        <p:spPr>
          <a:xfrm>
            <a:off x="7727549" y="1711192"/>
            <a:ext cx="357774" cy="351346"/>
          </a:xfrm>
          <a:prstGeom prst="rect">
            <a:avLst/>
          </a:prstGeom>
          <a:noFill/>
          <a:ln>
            <a:noFill/>
          </a:ln>
        </p:spPr>
      </p:pic>
      <p:grpSp>
        <p:nvGrpSpPr>
          <p:cNvPr id="569" name="Google Shape;569;p63"/>
          <p:cNvGrpSpPr/>
          <p:nvPr/>
        </p:nvGrpSpPr>
        <p:grpSpPr>
          <a:xfrm>
            <a:off x="6322547" y="1026306"/>
            <a:ext cx="709021" cy="693789"/>
            <a:chOff x="6322547" y="1123984"/>
            <a:chExt cx="709021" cy="693789"/>
          </a:xfrm>
        </p:grpSpPr>
        <p:pic>
          <p:nvPicPr>
            <p:cNvPr id="570" name="Google Shape;570;p63"/>
            <p:cNvPicPr preferRelativeResize="0"/>
            <p:nvPr/>
          </p:nvPicPr>
          <p:blipFill rotWithShape="1">
            <a:blip r:embed="rId3">
              <a:alphaModFix/>
            </a:blip>
            <a:srcRect b="16825" l="13625" r="22284" t="16222"/>
            <a:stretch/>
          </p:blipFill>
          <p:spPr>
            <a:xfrm>
              <a:off x="6673794" y="1123984"/>
              <a:ext cx="357774" cy="351346"/>
            </a:xfrm>
            <a:prstGeom prst="rect">
              <a:avLst/>
            </a:prstGeom>
            <a:noFill/>
            <a:ln>
              <a:noFill/>
            </a:ln>
          </p:spPr>
        </p:pic>
        <p:pic>
          <p:nvPicPr>
            <p:cNvPr id="571" name="Google Shape;571;p63"/>
            <p:cNvPicPr preferRelativeResize="0"/>
            <p:nvPr/>
          </p:nvPicPr>
          <p:blipFill rotWithShape="1">
            <a:blip r:embed="rId3">
              <a:alphaModFix/>
            </a:blip>
            <a:srcRect b="16825" l="13625" r="22284" t="16222"/>
            <a:stretch/>
          </p:blipFill>
          <p:spPr>
            <a:xfrm>
              <a:off x="6322547" y="1123984"/>
              <a:ext cx="357774" cy="351346"/>
            </a:xfrm>
            <a:prstGeom prst="rect">
              <a:avLst/>
            </a:prstGeom>
            <a:noFill/>
            <a:ln>
              <a:noFill/>
            </a:ln>
          </p:spPr>
        </p:pic>
        <p:pic>
          <p:nvPicPr>
            <p:cNvPr id="572" name="Google Shape;572;p63"/>
            <p:cNvPicPr preferRelativeResize="0"/>
            <p:nvPr/>
          </p:nvPicPr>
          <p:blipFill rotWithShape="1">
            <a:blip r:embed="rId3">
              <a:alphaModFix/>
            </a:blip>
            <a:srcRect b="16825" l="13625" r="22284" t="16222"/>
            <a:stretch/>
          </p:blipFill>
          <p:spPr>
            <a:xfrm>
              <a:off x="6673794" y="1466427"/>
              <a:ext cx="357774" cy="351346"/>
            </a:xfrm>
            <a:prstGeom prst="rect">
              <a:avLst/>
            </a:prstGeom>
            <a:noFill/>
            <a:ln>
              <a:noFill/>
            </a:ln>
          </p:spPr>
        </p:pic>
        <p:pic>
          <p:nvPicPr>
            <p:cNvPr id="573" name="Google Shape;573;p63"/>
            <p:cNvPicPr preferRelativeResize="0"/>
            <p:nvPr/>
          </p:nvPicPr>
          <p:blipFill rotWithShape="1">
            <a:blip r:embed="rId3">
              <a:alphaModFix/>
            </a:blip>
            <a:srcRect b="16825" l="13625" r="22284" t="16222"/>
            <a:stretch/>
          </p:blipFill>
          <p:spPr>
            <a:xfrm>
              <a:off x="6322547" y="1466427"/>
              <a:ext cx="357774" cy="351346"/>
            </a:xfrm>
            <a:prstGeom prst="rect">
              <a:avLst/>
            </a:prstGeom>
            <a:noFill/>
            <a:ln>
              <a:noFill/>
            </a:ln>
          </p:spPr>
        </p:pic>
      </p:grpSp>
      <p:pic>
        <p:nvPicPr>
          <p:cNvPr id="574" name="Google Shape;574;p63"/>
          <p:cNvPicPr preferRelativeResize="0"/>
          <p:nvPr/>
        </p:nvPicPr>
        <p:blipFill rotWithShape="1">
          <a:blip r:embed="rId4">
            <a:alphaModFix/>
          </a:blip>
          <a:srcRect b="16523" l="18541" r="17368" t="16523"/>
          <a:stretch/>
        </p:blipFill>
        <p:spPr>
          <a:xfrm>
            <a:off x="8078796" y="3423404"/>
            <a:ext cx="357774" cy="351346"/>
          </a:xfrm>
          <a:prstGeom prst="rect">
            <a:avLst/>
          </a:prstGeom>
          <a:noFill/>
          <a:ln>
            <a:noFill/>
          </a:ln>
        </p:spPr>
      </p:pic>
      <p:sp>
        <p:nvSpPr>
          <p:cNvPr id="575" name="Google Shape;575;p63"/>
          <p:cNvSpPr/>
          <p:nvPr/>
        </p:nvSpPr>
        <p:spPr>
          <a:xfrm>
            <a:off x="1084884" y="34845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3"/>
          <p:cNvSpPr/>
          <p:nvPr/>
        </p:nvSpPr>
        <p:spPr>
          <a:xfrm>
            <a:off x="6359455" y="445386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3"/>
          <p:cNvSpPr/>
          <p:nvPr/>
        </p:nvSpPr>
        <p:spPr>
          <a:xfrm>
            <a:off x="6359455" y="1401613"/>
            <a:ext cx="310800" cy="310800"/>
          </a:xfrm>
          <a:prstGeom prst="rect">
            <a:avLst/>
          </a:prstGeom>
          <a:solidFill>
            <a:schemeClr val="dk1"/>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4"/>
          <p:cNvSpPr/>
          <p:nvPr/>
        </p:nvSpPr>
        <p:spPr>
          <a:xfrm>
            <a:off x="1044659" y="3844308"/>
            <a:ext cx="6698100" cy="815700"/>
          </a:xfrm>
          <a:prstGeom prst="roundRect">
            <a:avLst>
              <a:gd fmla="val 7267" name="adj"/>
            </a:avLst>
          </a:prstGeom>
          <a:solidFill>
            <a:srgbClr val="D7DFE5">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83" name="Google Shape;583;p64"/>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Différence entre DBPG et SBPG</a:t>
            </a:r>
            <a:endParaRPr/>
          </a:p>
        </p:txBody>
      </p:sp>
      <p:sp>
        <p:nvSpPr>
          <p:cNvPr id="584" name="Google Shape;584;p64"/>
          <p:cNvSpPr txBox="1"/>
          <p:nvPr>
            <p:ph idx="1" type="subTitle"/>
          </p:nvPr>
        </p:nvSpPr>
        <p:spPr>
          <a:xfrm>
            <a:off x="4871107" y="1682283"/>
            <a:ext cx="3324300" cy="10794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SzPts val="1400"/>
              <a:buChar char="●"/>
            </a:pPr>
            <a:r>
              <a:rPr lang="en"/>
              <a:t>À chaque passage du buck : nouveau tirage indépendant selon π_i</a:t>
            </a:r>
            <a:endParaRPr/>
          </a:p>
          <a:p>
            <a:pPr indent="-317500" lvl="0" marL="457200" rtl="0" algn="l">
              <a:spcBef>
                <a:spcPts val="0"/>
              </a:spcBef>
              <a:spcAft>
                <a:spcPts val="0"/>
              </a:spcAft>
              <a:buSzPts val="1400"/>
              <a:buChar char="●"/>
            </a:pPr>
            <a:r>
              <a:rPr lang="en"/>
              <a:t>Dynamique stochastique persistante → vraie chaîne de Markov ergodique</a:t>
            </a:r>
            <a:endParaRPr/>
          </a:p>
          <a:p>
            <a:pPr indent="0" lvl="0" marL="0" rtl="0" algn="l">
              <a:spcBef>
                <a:spcPts val="1200"/>
              </a:spcBef>
              <a:spcAft>
                <a:spcPts val="1200"/>
              </a:spcAft>
              <a:buNone/>
            </a:pPr>
            <a:r>
              <a:t/>
            </a:r>
            <a:endParaRPr/>
          </a:p>
        </p:txBody>
      </p:sp>
      <p:sp>
        <p:nvSpPr>
          <p:cNvPr id="585" name="Google Shape;585;p64"/>
          <p:cNvSpPr txBox="1"/>
          <p:nvPr>
            <p:ph idx="2" type="subTitle"/>
          </p:nvPr>
        </p:nvSpPr>
        <p:spPr>
          <a:xfrm>
            <a:off x="961350" y="1682300"/>
            <a:ext cx="3324300" cy="10794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SzPts val="1400"/>
              <a:buChar char="●"/>
            </a:pPr>
            <a:r>
              <a:rPr lang="en"/>
              <a:t>Chaque joueur tire une fois un voisin fixe au début</a:t>
            </a:r>
            <a:endParaRPr/>
          </a:p>
          <a:p>
            <a:pPr indent="-317500" lvl="0" marL="457200" rtl="0" algn="l">
              <a:spcBef>
                <a:spcPts val="0"/>
              </a:spcBef>
              <a:spcAft>
                <a:spcPts val="0"/>
              </a:spcAft>
              <a:buSzPts val="1400"/>
              <a:buChar char="●"/>
            </a:pPr>
            <a:r>
              <a:rPr lang="en"/>
              <a:t>Après tirage → dynamique déterministe pour toute la partie</a:t>
            </a:r>
            <a:endParaRPr/>
          </a:p>
          <a:p>
            <a:pPr indent="-317500" lvl="0" marL="457200" rtl="0" algn="l">
              <a:spcBef>
                <a:spcPts val="0"/>
              </a:spcBef>
              <a:spcAft>
                <a:spcPts val="0"/>
              </a:spcAft>
              <a:buSzPts val="1400"/>
              <a:buChar char="●"/>
            </a:pPr>
            <a:r>
              <a:rPr lang="en"/>
              <a:t>Coût attendu = moyenne pondérée sur les réalisations pures (cycles fixes)</a:t>
            </a:r>
            <a:endParaRPr/>
          </a:p>
          <a:p>
            <a:pPr indent="0" lvl="0" marL="0" rtl="0" algn="l">
              <a:spcBef>
                <a:spcPts val="1200"/>
              </a:spcBef>
              <a:spcAft>
                <a:spcPts val="1200"/>
              </a:spcAft>
              <a:buNone/>
            </a:pPr>
            <a:r>
              <a:t/>
            </a:r>
            <a:endParaRPr/>
          </a:p>
        </p:txBody>
      </p:sp>
      <p:sp>
        <p:nvSpPr>
          <p:cNvPr id="586" name="Google Shape;586;p64"/>
          <p:cNvSpPr txBox="1"/>
          <p:nvPr>
            <p:ph idx="3" type="subTitle"/>
          </p:nvPr>
        </p:nvSpPr>
        <p:spPr>
          <a:xfrm>
            <a:off x="961356" y="1269337"/>
            <a:ext cx="33243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DBPG</a:t>
            </a:r>
            <a:endParaRPr>
              <a:solidFill>
                <a:schemeClr val="dk2"/>
              </a:solidFill>
            </a:endParaRPr>
          </a:p>
        </p:txBody>
      </p:sp>
      <p:sp>
        <p:nvSpPr>
          <p:cNvPr id="587" name="Google Shape;587;p64"/>
          <p:cNvSpPr txBox="1"/>
          <p:nvPr>
            <p:ph idx="4" type="subTitle"/>
          </p:nvPr>
        </p:nvSpPr>
        <p:spPr>
          <a:xfrm>
            <a:off x="4871106" y="1269325"/>
            <a:ext cx="33243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SBPG</a:t>
            </a:r>
            <a:endParaRPr>
              <a:solidFill>
                <a:schemeClr val="dk2"/>
              </a:solidFill>
            </a:endParaRPr>
          </a:p>
        </p:txBody>
      </p:sp>
      <p:sp>
        <p:nvSpPr>
          <p:cNvPr id="588" name="Google Shape;588;p64"/>
          <p:cNvSpPr txBox="1"/>
          <p:nvPr/>
        </p:nvSpPr>
        <p:spPr>
          <a:xfrm>
            <a:off x="1138225" y="3844300"/>
            <a:ext cx="4825200" cy="81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Epilogue SemiBold"/>
                <a:ea typeface="Epilogue SemiBold"/>
                <a:cs typeface="Epilogue SemiBold"/>
                <a:sym typeface="Epilogue SemiBold"/>
              </a:rPr>
              <a:t>Remarque</a:t>
            </a:r>
            <a:endParaRPr>
              <a:solidFill>
                <a:schemeClr val="dk2"/>
              </a:solidFill>
              <a:latin typeface="Albert Sans"/>
              <a:ea typeface="Albert Sans"/>
              <a:cs typeface="Albert Sans"/>
              <a:sym typeface="Albert Sans"/>
            </a:endParaRPr>
          </a:p>
          <a:p>
            <a:pPr indent="0" lvl="0" marL="0" rtl="0" algn="l">
              <a:lnSpc>
                <a:spcPct val="115000"/>
              </a:lnSpc>
              <a:spcBef>
                <a:spcPts val="1200"/>
              </a:spcBef>
              <a:spcAft>
                <a:spcPts val="1200"/>
              </a:spcAft>
              <a:buNone/>
            </a:pPr>
            <a:r>
              <a:rPr lang="en">
                <a:solidFill>
                  <a:schemeClr val="dk1"/>
                </a:solidFill>
                <a:latin typeface="Albert Sans"/>
                <a:ea typeface="Albert Sans"/>
                <a:cs typeface="Albert Sans"/>
                <a:sym typeface="Albert Sans"/>
              </a:rPr>
              <a:t>SBPG n’est pas l’extension mixte du DBPG</a:t>
            </a:r>
            <a:endParaRPr>
              <a:solidFill>
                <a:schemeClr val="dk1"/>
              </a:solidFill>
              <a:latin typeface="Albert Sans"/>
              <a:ea typeface="Albert Sans"/>
              <a:cs typeface="Albert Sans"/>
              <a:sym typeface="Albert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5"/>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Différence entre DBPG et SBPG</a:t>
            </a:r>
            <a:endParaRPr/>
          </a:p>
        </p:txBody>
      </p:sp>
      <p:sp>
        <p:nvSpPr>
          <p:cNvPr id="594" name="Google Shape;594;p65"/>
          <p:cNvSpPr txBox="1"/>
          <p:nvPr/>
        </p:nvSpPr>
        <p:spPr>
          <a:xfrm>
            <a:off x="124700" y="5182475"/>
            <a:ext cx="765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Exemple illustratif du papier</a:t>
            </a:r>
            <a:endParaRPr>
              <a:solidFill>
                <a:schemeClr val="dk1"/>
              </a:solidFill>
              <a:latin typeface="Albert Sans"/>
              <a:ea typeface="Albert Sans"/>
              <a:cs typeface="Albert Sans"/>
              <a:sym typeface="Albert Sans"/>
            </a:endParaRPr>
          </a:p>
        </p:txBody>
      </p:sp>
      <p:pic>
        <p:nvPicPr>
          <p:cNvPr id="595" name="Google Shape;595;p65"/>
          <p:cNvPicPr preferRelativeResize="0"/>
          <p:nvPr/>
        </p:nvPicPr>
        <p:blipFill>
          <a:blip r:embed="rId3">
            <a:alphaModFix/>
          </a:blip>
          <a:stretch>
            <a:fillRect/>
          </a:stretch>
        </p:blipFill>
        <p:spPr>
          <a:xfrm>
            <a:off x="5610300" y="1185340"/>
            <a:ext cx="1948276" cy="1588723"/>
          </a:xfrm>
          <a:prstGeom prst="rect">
            <a:avLst/>
          </a:prstGeom>
          <a:noFill/>
          <a:ln>
            <a:noFill/>
          </a:ln>
        </p:spPr>
      </p:pic>
      <p:pic>
        <p:nvPicPr>
          <p:cNvPr id="596" name="Google Shape;596;p65"/>
          <p:cNvPicPr preferRelativeResize="0"/>
          <p:nvPr/>
        </p:nvPicPr>
        <p:blipFill>
          <a:blip r:embed="rId4">
            <a:alphaModFix/>
          </a:blip>
          <a:stretch>
            <a:fillRect/>
          </a:stretch>
        </p:blipFill>
        <p:spPr>
          <a:xfrm>
            <a:off x="862078" y="1260775"/>
            <a:ext cx="1948275" cy="1586450"/>
          </a:xfrm>
          <a:prstGeom prst="rect">
            <a:avLst/>
          </a:prstGeom>
          <a:noFill/>
          <a:ln>
            <a:noFill/>
          </a:ln>
        </p:spPr>
      </p:pic>
      <p:sp>
        <p:nvSpPr>
          <p:cNvPr id="597" name="Google Shape;597;p65"/>
          <p:cNvSpPr txBox="1"/>
          <p:nvPr/>
        </p:nvSpPr>
        <p:spPr>
          <a:xfrm>
            <a:off x="713225" y="3508325"/>
            <a:ext cx="37038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On imagine une version stochastique du jeu </a:t>
            </a:r>
            <a:r>
              <a:rPr lang="en">
                <a:solidFill>
                  <a:schemeClr val="dk1"/>
                </a:solidFill>
                <a:latin typeface="Albert Sans"/>
                <a:ea typeface="Albert Sans"/>
                <a:cs typeface="Albert Sans"/>
                <a:sym typeface="Albert Sans"/>
              </a:rPr>
              <a:t>précédent</a:t>
            </a:r>
            <a:r>
              <a:rPr lang="en">
                <a:solidFill>
                  <a:schemeClr val="dk1"/>
                </a:solidFill>
                <a:latin typeface="Albert Sans"/>
                <a:ea typeface="Albert Sans"/>
                <a:cs typeface="Albert Sans"/>
                <a:sym typeface="Albert Sans"/>
              </a:rPr>
              <a:t> avec : </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π₁ = (0, 1/2, 1/2) → Passe à 2 ou 3 avec 1/2.</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π₂ = (1, 0, 0) → Passe toujours à 1.</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π₃ = (0, 1, 0) → Passe toujours à 2.</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p:txBody>
      </p:sp>
      <p:sp>
        <p:nvSpPr>
          <p:cNvPr id="598" name="Google Shape;598;p65"/>
          <p:cNvSpPr txBox="1"/>
          <p:nvPr/>
        </p:nvSpPr>
        <p:spPr>
          <a:xfrm>
            <a:off x="713225" y="30477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50000"/>
              </a:lnSpc>
              <a:spcBef>
                <a:spcPts val="1200"/>
              </a:spcBef>
              <a:spcAft>
                <a:spcPts val="0"/>
              </a:spcAft>
              <a:buNone/>
            </a:pPr>
            <a:r>
              <a:rPr lang="en">
                <a:solidFill>
                  <a:schemeClr val="dk1"/>
                </a:solidFill>
                <a:latin typeface="Albert Sans"/>
                <a:ea typeface="Albert Sans"/>
                <a:cs typeface="Albert Sans"/>
                <a:sym typeface="Albert Sans"/>
              </a:rPr>
              <a:t>Resolution</a:t>
            </a:r>
            <a:r>
              <a:rPr lang="en">
                <a:solidFill>
                  <a:schemeClr val="dk1"/>
                </a:solidFill>
                <a:latin typeface="Albert Sans"/>
                <a:ea typeface="Albert Sans"/>
                <a:cs typeface="Albert Sans"/>
                <a:sym typeface="Albert Sans"/>
              </a:rPr>
              <a:t> avec : ρ P = ρ, ∑ρ=1</a:t>
            </a:r>
            <a:endParaRPr>
              <a:solidFill>
                <a:schemeClr val="dk1"/>
              </a:solidFill>
              <a:latin typeface="Albert Sans"/>
              <a:ea typeface="Albert Sans"/>
              <a:cs typeface="Albert Sans"/>
              <a:sym typeface="Albert Sans"/>
            </a:endParaRPr>
          </a:p>
          <a:p>
            <a:pPr indent="0" lvl="0" marL="0" rtl="0" algn="l">
              <a:lnSpc>
                <a:spcPct val="50000"/>
              </a:lnSpc>
              <a:spcBef>
                <a:spcPts val="1200"/>
              </a:spcBef>
              <a:spcAft>
                <a:spcPts val="1200"/>
              </a:spcAft>
              <a:buNone/>
            </a:pPr>
            <a:r>
              <a:rPr lang="en">
                <a:solidFill>
                  <a:schemeClr val="dk1"/>
                </a:solidFill>
                <a:latin typeface="Albert Sans"/>
                <a:ea typeface="Albert Sans"/>
                <a:cs typeface="Albert Sans"/>
                <a:sym typeface="Albert Sans"/>
              </a:rPr>
              <a:t>Cout = (2/5, 2/5, 1/5)</a:t>
            </a:r>
            <a:endParaRPr>
              <a:solidFill>
                <a:schemeClr val="dk1"/>
              </a:solidFill>
              <a:latin typeface="Albert Sans"/>
              <a:ea typeface="Albert Sans"/>
              <a:cs typeface="Albert Sans"/>
              <a:sym typeface="Albert Sans"/>
            </a:endParaRPr>
          </a:p>
        </p:txBody>
      </p:sp>
      <p:sp>
        <p:nvSpPr>
          <p:cNvPr id="599" name="Google Shape;599;p65"/>
          <p:cNvSpPr txBox="1"/>
          <p:nvPr/>
        </p:nvSpPr>
        <p:spPr>
          <a:xfrm>
            <a:off x="5040700" y="2847225"/>
            <a:ext cx="3273000" cy="1862400"/>
          </a:xfrm>
          <a:prstGeom prst="rect">
            <a:avLst/>
          </a:prstGeom>
          <a:noFill/>
          <a:ln>
            <a:noFill/>
          </a:ln>
        </p:spPr>
        <p:txBody>
          <a:bodyPr anchorCtr="0" anchor="t" bIns="91425" lIns="91425" spcFirstLastPara="1" rIns="91425" wrap="square" tIns="91425">
            <a:spAutoFit/>
          </a:bodyPr>
          <a:lstStyle/>
          <a:p>
            <a:pPr indent="0" lvl="0" marL="0" rtl="0" algn="l">
              <a:lnSpc>
                <a:spcPct val="50000"/>
              </a:lnSpc>
              <a:spcBef>
                <a:spcPts val="1200"/>
              </a:spcBef>
              <a:spcAft>
                <a:spcPts val="0"/>
              </a:spcAft>
              <a:buNone/>
            </a:pPr>
            <a:r>
              <a:rPr lang="en">
                <a:solidFill>
                  <a:schemeClr val="dk1"/>
                </a:solidFill>
                <a:latin typeface="Albert Sans"/>
                <a:ea typeface="Albert Sans"/>
                <a:cs typeface="Albert Sans"/>
                <a:sym typeface="Albert Sans"/>
              </a:rPr>
              <a:t>Joueur 1 tire une fois : </a:t>
            </a:r>
            <a:endParaRPr>
              <a:solidFill>
                <a:schemeClr val="dk1"/>
              </a:solidFill>
              <a:latin typeface="Albert Sans"/>
              <a:ea typeface="Albert Sans"/>
              <a:cs typeface="Albert Sans"/>
              <a:sym typeface="Albert Sans"/>
            </a:endParaRPr>
          </a:p>
          <a:p>
            <a:pPr indent="-317500" lvl="0" marL="457200" rtl="0" algn="l">
              <a:lnSpc>
                <a:spcPct val="50000"/>
              </a:lnSpc>
              <a:spcBef>
                <a:spcPts val="120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2 (proba 1/2) → Cycle 1-2, </a:t>
            </a:r>
            <a:endParaRPr>
              <a:solidFill>
                <a:schemeClr val="dk1"/>
              </a:solidFill>
              <a:latin typeface="Albert Sans"/>
              <a:ea typeface="Albert Sans"/>
              <a:cs typeface="Albert Sans"/>
              <a:sym typeface="Albert Sans"/>
            </a:endParaRPr>
          </a:p>
          <a:p>
            <a:pPr indent="0" lvl="0" marL="914400" rtl="0" algn="l">
              <a:lnSpc>
                <a:spcPct val="50000"/>
              </a:lnSpc>
              <a:spcBef>
                <a:spcPts val="1200"/>
              </a:spcBef>
              <a:spcAft>
                <a:spcPts val="0"/>
              </a:spcAft>
              <a:buNone/>
            </a:pPr>
            <a:r>
              <a:rPr lang="en">
                <a:solidFill>
                  <a:schemeClr val="dk1"/>
                </a:solidFill>
                <a:latin typeface="Albert Sans"/>
                <a:ea typeface="Albert Sans"/>
                <a:cs typeface="Albert Sans"/>
                <a:sym typeface="Albert Sans"/>
              </a:rPr>
              <a:t>coûts (1/2, 1/2, 0).</a:t>
            </a:r>
            <a:endParaRPr>
              <a:solidFill>
                <a:schemeClr val="dk1"/>
              </a:solidFill>
              <a:latin typeface="Albert Sans"/>
              <a:ea typeface="Albert Sans"/>
              <a:cs typeface="Albert Sans"/>
              <a:sym typeface="Albert Sans"/>
            </a:endParaRPr>
          </a:p>
          <a:p>
            <a:pPr indent="-317500" lvl="0" marL="457200" rtl="0" algn="l">
              <a:lnSpc>
                <a:spcPct val="50000"/>
              </a:lnSpc>
              <a:spcBef>
                <a:spcPts val="120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3 (proba 1/2) → Cycle 1-3-2,</a:t>
            </a:r>
            <a:endParaRPr>
              <a:solidFill>
                <a:schemeClr val="dk1"/>
              </a:solidFill>
              <a:latin typeface="Albert Sans"/>
              <a:ea typeface="Albert Sans"/>
              <a:cs typeface="Albert Sans"/>
              <a:sym typeface="Albert Sans"/>
            </a:endParaRPr>
          </a:p>
          <a:p>
            <a:pPr indent="0" lvl="0" marL="914400" rtl="0" algn="l">
              <a:lnSpc>
                <a:spcPct val="50000"/>
              </a:lnSpc>
              <a:spcBef>
                <a:spcPts val="1200"/>
              </a:spcBef>
              <a:spcAft>
                <a:spcPts val="0"/>
              </a:spcAft>
              <a:buNone/>
            </a:pPr>
            <a:r>
              <a:rPr lang="en">
                <a:solidFill>
                  <a:schemeClr val="dk1"/>
                </a:solidFill>
                <a:latin typeface="Albert Sans"/>
                <a:ea typeface="Albert Sans"/>
                <a:cs typeface="Albert Sans"/>
                <a:sym typeface="Albert Sans"/>
              </a:rPr>
              <a:t> coûts (1/3, 1/3, 1/3).</a:t>
            </a:r>
            <a:endParaRPr>
              <a:solidFill>
                <a:schemeClr val="dk1"/>
              </a:solidFill>
              <a:latin typeface="Albert Sans"/>
              <a:ea typeface="Albert Sans"/>
              <a:cs typeface="Albert Sans"/>
              <a:sym typeface="Albert Sans"/>
            </a:endParaRPr>
          </a:p>
          <a:p>
            <a:pPr indent="0" lvl="0" marL="0" rtl="0" algn="l">
              <a:lnSpc>
                <a:spcPct val="50000"/>
              </a:lnSpc>
              <a:spcBef>
                <a:spcPts val="1200"/>
              </a:spcBef>
              <a:spcAft>
                <a:spcPts val="0"/>
              </a:spcAft>
              <a:buNone/>
            </a:pPr>
            <a:r>
              <a:rPr lang="en">
                <a:solidFill>
                  <a:schemeClr val="dk1"/>
                </a:solidFill>
                <a:latin typeface="Albert Sans"/>
                <a:ea typeface="Albert Sans"/>
                <a:cs typeface="Albert Sans"/>
                <a:sym typeface="Albert Sans"/>
              </a:rPr>
              <a:t>Coût pour 1 : (1/2)(1/2) + (1/2)(1/3)</a:t>
            </a:r>
            <a:endParaRPr>
              <a:solidFill>
                <a:schemeClr val="dk1"/>
              </a:solidFill>
              <a:latin typeface="Albert Sans"/>
              <a:ea typeface="Albert Sans"/>
              <a:cs typeface="Albert Sans"/>
              <a:sym typeface="Albert Sans"/>
            </a:endParaRPr>
          </a:p>
          <a:p>
            <a:pPr indent="0" lvl="0" marL="0" rtl="0" algn="l">
              <a:lnSpc>
                <a:spcPct val="50000"/>
              </a:lnSpc>
              <a:spcBef>
                <a:spcPts val="1200"/>
              </a:spcBef>
              <a:spcAft>
                <a:spcPts val="1200"/>
              </a:spcAft>
              <a:buNone/>
            </a:pPr>
            <a:r>
              <a:rPr lang="en">
                <a:solidFill>
                  <a:schemeClr val="dk1"/>
                </a:solidFill>
                <a:latin typeface="Albert Sans"/>
                <a:ea typeface="Albert Sans"/>
                <a:cs typeface="Albert Sans"/>
                <a:sym typeface="Albert Sans"/>
              </a:rPr>
              <a:t> = 1/4 + 1/6 = 5/12 ≈ 0.4167</a:t>
            </a:r>
            <a:endParaRPr>
              <a:solidFill>
                <a:schemeClr val="dk1"/>
              </a:solidFill>
              <a:latin typeface="Albert Sans"/>
              <a:ea typeface="Albert Sans"/>
              <a:cs typeface="Albert Sans"/>
              <a:sym typeface="Albert Sans"/>
            </a:endParaRPr>
          </a:p>
        </p:txBody>
      </p:sp>
      <p:cxnSp>
        <p:nvCxnSpPr>
          <p:cNvPr id="600" name="Google Shape;600;p65"/>
          <p:cNvCxnSpPr/>
          <p:nvPr/>
        </p:nvCxnSpPr>
        <p:spPr>
          <a:xfrm>
            <a:off x="4568675" y="1218130"/>
            <a:ext cx="7800" cy="2915100"/>
          </a:xfrm>
          <a:prstGeom prst="straightConnector1">
            <a:avLst/>
          </a:prstGeom>
          <a:noFill/>
          <a:ln cap="flat" cmpd="sng" w="19050">
            <a:solidFill>
              <a:srgbClr val="CCCCCC"/>
            </a:solidFill>
            <a:prstDash val="dash"/>
            <a:round/>
            <a:headEnd len="med" w="med" type="none"/>
            <a:tailEnd len="med" w="med"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66"/>
          <p:cNvSpPr/>
          <p:nvPr/>
        </p:nvSpPr>
        <p:spPr>
          <a:xfrm>
            <a:off x="877300" y="1246272"/>
            <a:ext cx="7291800" cy="1683000"/>
          </a:xfrm>
          <a:prstGeom prst="roundRect">
            <a:avLst>
              <a:gd fmla="val 7267" name="adj"/>
            </a:avLst>
          </a:prstGeom>
          <a:solidFill>
            <a:srgbClr val="D7DFE5">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06" name="Google Shape;606;p66"/>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Equilibre de Nash entre DBPG et SBPG</a:t>
            </a:r>
            <a:endParaRPr/>
          </a:p>
        </p:txBody>
      </p:sp>
      <p:sp>
        <p:nvSpPr>
          <p:cNvPr id="607" name="Google Shape;607;p66"/>
          <p:cNvSpPr txBox="1"/>
          <p:nvPr>
            <p:ph idx="2" type="subTitle"/>
          </p:nvPr>
        </p:nvSpPr>
        <p:spPr>
          <a:xfrm>
            <a:off x="1223050" y="1467532"/>
            <a:ext cx="6836700" cy="1425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t>Tout équilibre de Nash du jeu déterministe (où chaque joueur choisit un seul voisin fixe) reste un équilibre de Nash quand on passe au jeu stochastique (où les joueurs peuvent randomiser). </a:t>
            </a:r>
            <a:r>
              <a:rPr lang="en"/>
              <a:t>NE(S) ⊆ NE(Σ)</a:t>
            </a:r>
            <a:endParaRPr/>
          </a:p>
          <a:p>
            <a:pPr indent="0" lvl="0" marL="0" rtl="0" algn="ctr">
              <a:spcBef>
                <a:spcPts val="1200"/>
              </a:spcBef>
              <a:spcAft>
                <a:spcPts val="1200"/>
              </a:spcAft>
              <a:buNone/>
            </a:pPr>
            <a:r>
              <a:rPr lang="en"/>
              <a:t>NE(S) : Équilibres de Nash dans DBPG NE(Σ) : Équilibres dans SBPG </a:t>
            </a:r>
            <a:endParaRPr/>
          </a:p>
        </p:txBody>
      </p:sp>
      <p:sp>
        <p:nvSpPr>
          <p:cNvPr id="608" name="Google Shape;608;p66"/>
          <p:cNvSpPr txBox="1"/>
          <p:nvPr>
            <p:ph idx="3" type="subTitle"/>
          </p:nvPr>
        </p:nvSpPr>
        <p:spPr>
          <a:xfrm>
            <a:off x="1182177" y="1246272"/>
            <a:ext cx="2160600" cy="558900"/>
          </a:xfrm>
          <a:prstGeom prst="rect">
            <a:avLst/>
          </a:prstGeom>
        </p:spPr>
        <p:txBody>
          <a:bodyPr anchorCtr="0" anchor="b" bIns="91425" lIns="91425" spcFirstLastPara="1" rIns="91425" wrap="square" tIns="91425">
            <a:noAutofit/>
          </a:bodyPr>
          <a:lstStyle/>
          <a:p>
            <a:pPr indent="0" lvl="0" marL="0" rtl="0" algn="just">
              <a:spcBef>
                <a:spcPts val="0"/>
              </a:spcBef>
              <a:spcAft>
                <a:spcPts val="0"/>
              </a:spcAft>
              <a:buNone/>
            </a:pPr>
            <a:r>
              <a:rPr lang="en">
                <a:solidFill>
                  <a:schemeClr val="dk2"/>
                </a:solidFill>
              </a:rPr>
              <a:t>Théoreme</a:t>
            </a:r>
            <a:endParaRPr>
              <a:solidFill>
                <a:schemeClr val="dk2"/>
              </a:solidFill>
            </a:endParaRPr>
          </a:p>
        </p:txBody>
      </p:sp>
      <p:sp>
        <p:nvSpPr>
          <p:cNvPr id="609" name="Google Shape;609;p66"/>
          <p:cNvSpPr txBox="1"/>
          <p:nvPr>
            <p:ph idx="2" type="subTitle"/>
          </p:nvPr>
        </p:nvSpPr>
        <p:spPr>
          <a:xfrm>
            <a:off x="989365" y="3451988"/>
            <a:ext cx="7130100" cy="113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Supposons ∃ s ∈ NE(S) mais s ∉ NE(Σ):</a:t>
            </a:r>
            <a:endParaRPr/>
          </a:p>
          <a:p>
            <a:pPr indent="0" lvl="0" marL="0" rtl="0" algn="just">
              <a:spcBef>
                <a:spcPts val="0"/>
              </a:spcBef>
              <a:spcAft>
                <a:spcPts val="0"/>
              </a:spcAft>
              <a:buNone/>
            </a:pPr>
            <a:r>
              <a:rPr lang="en"/>
              <a:t>Le coût dépend </a:t>
            </a:r>
            <a:r>
              <a:rPr lang="en"/>
              <a:t>d’une moyenne pondérée </a:t>
            </a:r>
            <a:r>
              <a:rPr lang="en"/>
              <a:t>des temps de retour depuis les voisins</a:t>
            </a:r>
            <a:endParaRPr/>
          </a:p>
          <a:p>
            <a:pPr indent="0" lvl="0" marL="0" rtl="0" algn="just">
              <a:spcBef>
                <a:spcPts val="0"/>
              </a:spcBef>
              <a:spcAft>
                <a:spcPts val="0"/>
              </a:spcAft>
              <a:buNone/>
            </a:pPr>
            <a:r>
              <a:rPr lang="en"/>
              <a:t>Dans la version stochastique :</a:t>
            </a:r>
            <a:endParaRPr/>
          </a:p>
          <a:p>
            <a:pPr indent="0" lvl="0" marL="0" rtl="0" algn="just">
              <a:spcBef>
                <a:spcPts val="0"/>
              </a:spcBef>
              <a:spcAft>
                <a:spcPts val="0"/>
              </a:spcAft>
              <a:buNone/>
            </a:pPr>
            <a:r>
              <a:t/>
            </a:r>
            <a:endParaRPr sz="800"/>
          </a:p>
          <a:p>
            <a:pPr indent="0" lvl="0" marL="0" rtl="0" algn="just">
              <a:spcBef>
                <a:spcPts val="0"/>
              </a:spcBef>
              <a:spcAft>
                <a:spcPts val="0"/>
              </a:spcAft>
              <a:buNone/>
            </a:pPr>
            <a:r>
              <a:rPr lang="en"/>
              <a:t>Pour un profil deterministe s :  </a:t>
            </a:r>
            <a:endParaRPr/>
          </a:p>
        </p:txBody>
      </p:sp>
      <p:sp>
        <p:nvSpPr>
          <p:cNvPr id="610" name="Google Shape;610;p66"/>
          <p:cNvSpPr txBox="1"/>
          <p:nvPr>
            <p:ph idx="3" type="subTitle"/>
          </p:nvPr>
        </p:nvSpPr>
        <p:spPr>
          <a:xfrm>
            <a:off x="918347" y="2918564"/>
            <a:ext cx="2795100" cy="59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Idée de la preuve</a:t>
            </a:r>
            <a:endParaRPr>
              <a:solidFill>
                <a:schemeClr val="dk2"/>
              </a:solidFill>
            </a:endParaRPr>
          </a:p>
        </p:txBody>
      </p:sp>
      <p:pic>
        <p:nvPicPr>
          <p:cNvPr id="611" name="Google Shape;611;p66"/>
          <p:cNvPicPr preferRelativeResize="0"/>
          <p:nvPr/>
        </p:nvPicPr>
        <p:blipFill>
          <a:blip r:embed="rId3">
            <a:alphaModFix/>
          </a:blip>
          <a:stretch>
            <a:fillRect/>
          </a:stretch>
        </p:blipFill>
        <p:spPr>
          <a:xfrm>
            <a:off x="3729467" y="3973610"/>
            <a:ext cx="4018750" cy="558900"/>
          </a:xfrm>
          <a:prstGeom prst="rect">
            <a:avLst/>
          </a:prstGeom>
          <a:noFill/>
          <a:ln>
            <a:noFill/>
          </a:ln>
        </p:spPr>
      </p:pic>
      <p:pic>
        <p:nvPicPr>
          <p:cNvPr id="612" name="Google Shape;612;p66"/>
          <p:cNvPicPr preferRelativeResize="0"/>
          <p:nvPr/>
        </p:nvPicPr>
        <p:blipFill>
          <a:blip r:embed="rId4">
            <a:alphaModFix/>
          </a:blip>
          <a:stretch>
            <a:fillRect/>
          </a:stretch>
        </p:blipFill>
        <p:spPr>
          <a:xfrm>
            <a:off x="3575050" y="4385598"/>
            <a:ext cx="2897700" cy="48975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7"/>
          <p:cNvSpPr txBox="1"/>
          <p:nvPr>
            <p:ph type="title"/>
          </p:nvPr>
        </p:nvSpPr>
        <p:spPr>
          <a:xfrm>
            <a:off x="713225" y="539500"/>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Preuve du </a:t>
            </a:r>
            <a:r>
              <a:rPr lang="en"/>
              <a:t>théorème</a:t>
            </a:r>
            <a:endParaRPr/>
          </a:p>
        </p:txBody>
      </p:sp>
      <p:sp>
        <p:nvSpPr>
          <p:cNvPr id="618" name="Google Shape;618;p67"/>
          <p:cNvSpPr txBox="1"/>
          <p:nvPr>
            <p:ph idx="1" type="subTitle"/>
          </p:nvPr>
        </p:nvSpPr>
        <p:spPr>
          <a:xfrm>
            <a:off x="4403253" y="1935875"/>
            <a:ext cx="4015800" cy="1079400"/>
          </a:xfrm>
          <a:prstGeom prst="rect">
            <a:avLst/>
          </a:prstGeom>
        </p:spPr>
        <p:txBody>
          <a:bodyPr anchorCtr="0" anchor="t" bIns="91425" lIns="91425" spcFirstLastPara="1" rIns="91425" wrap="square" tIns="91425">
            <a:noAutofit/>
          </a:bodyPr>
          <a:lstStyle/>
          <a:p>
            <a:pPr indent="-317500" lvl="0" marL="457200" rtl="0" algn="ctr">
              <a:spcBef>
                <a:spcPts val="0"/>
              </a:spcBef>
              <a:spcAft>
                <a:spcPts val="0"/>
              </a:spcAft>
              <a:buSzPts val="1400"/>
              <a:buAutoNum type="arabicPeriod"/>
            </a:pPr>
            <a:r>
              <a:rPr lang="en"/>
              <a:t>Si i est dans une classe C</a:t>
            </a:r>
            <a:r>
              <a:rPr baseline="-25000" lang="en"/>
              <a:t>l</a:t>
            </a:r>
            <a:r>
              <a:rPr lang="en"/>
              <a:t> avec μ</a:t>
            </a:r>
            <a:r>
              <a:rPr baseline="30000" lang="en"/>
              <a:t>ℓ</a:t>
            </a:r>
            <a:r>
              <a:rPr baseline="-25000" lang="en"/>
              <a:t>s </a:t>
            </a:r>
            <a:r>
              <a:rPr lang="en"/>
              <a:t>&gt; 0 :</a:t>
            </a:r>
            <a:endParaRPr/>
          </a:p>
          <a:p>
            <a:pPr indent="0" lvl="0" marL="0" rtl="0" algn="l">
              <a:spcBef>
                <a:spcPts val="0"/>
              </a:spcBef>
              <a:spcAft>
                <a:spcPts val="0"/>
              </a:spcAft>
              <a:buNone/>
            </a:pPr>
            <a:r>
              <a:rPr lang="en"/>
              <a:t>Dans un NE déterministe tous les voisins sortants de i mènent dans la même unicycle</a:t>
            </a:r>
            <a:endParaRPr/>
          </a:p>
          <a:p>
            <a:pPr indent="0" lvl="0" marL="0" rtl="0" algn="l">
              <a:spcBef>
                <a:spcPts val="0"/>
              </a:spcBef>
              <a:spcAft>
                <a:spcPts val="0"/>
              </a:spcAft>
              <a:buNone/>
            </a:pPr>
            <a:r>
              <a:t/>
            </a:r>
            <a:endParaRPr/>
          </a:p>
          <a:p>
            <a:pPr indent="-317500" lvl="0" marL="457200" rtl="0" algn="l">
              <a:spcBef>
                <a:spcPts val="1200"/>
              </a:spcBef>
              <a:spcAft>
                <a:spcPts val="0"/>
              </a:spcAft>
              <a:buSzPts val="1400"/>
              <a:buAutoNum type="arabicPeriod"/>
            </a:pPr>
            <a:r>
              <a:rPr lang="en"/>
              <a:t>Si </a:t>
            </a:r>
            <a:r>
              <a:rPr lang="en"/>
              <a:t> μ</a:t>
            </a:r>
            <a:r>
              <a:rPr baseline="30000" lang="en"/>
              <a:t>ℓ</a:t>
            </a:r>
            <a:r>
              <a:rPr baseline="-25000" lang="en"/>
              <a:t>s</a:t>
            </a:r>
            <a:r>
              <a:rPr lang="en"/>
              <a:t> = 0 : </a:t>
            </a:r>
            <a:endParaRPr/>
          </a:p>
          <a:p>
            <a:pPr indent="0" lvl="0" marL="0" rtl="0" algn="l">
              <a:spcBef>
                <a:spcPts val="1200"/>
              </a:spcBef>
              <a:spcAft>
                <a:spcPts val="0"/>
              </a:spcAft>
              <a:buNone/>
            </a:pPr>
            <a:r>
              <a:rPr lang="en"/>
              <a:t>coût de i déjà nul → pas d’intérêt à dévier</a:t>
            </a:r>
            <a:endParaRPr/>
          </a:p>
          <a:p>
            <a:pPr indent="0" lvl="0" marL="0" rtl="0" algn="l">
              <a:spcBef>
                <a:spcPts val="1200"/>
              </a:spcBef>
              <a:spcAft>
                <a:spcPts val="0"/>
              </a:spcAft>
              <a:buNone/>
            </a:pPr>
            <a:r>
              <a:rPr lang="en"/>
              <a:t> Dans tous les cas :  Pas d’amelioration</a:t>
            </a:r>
            <a:endParaRPr/>
          </a:p>
          <a:p>
            <a:pPr indent="0" lvl="0" marL="0" rtl="0" algn="ctr">
              <a:spcBef>
                <a:spcPts val="1200"/>
              </a:spcBef>
              <a:spcAft>
                <a:spcPts val="0"/>
              </a:spcAft>
              <a:buNone/>
            </a:pPr>
            <a:r>
              <a:rPr lang="en"/>
              <a:t>s ∈ NE(S) ⇒ s ∈ NE(Σ)</a:t>
            </a:r>
            <a:endParaRPr/>
          </a:p>
          <a:p>
            <a:pPr indent="0" lvl="0" marL="0" rtl="0" algn="ctr">
              <a:spcBef>
                <a:spcPts val="1200"/>
              </a:spcBef>
              <a:spcAft>
                <a:spcPts val="0"/>
              </a:spcAft>
              <a:buNone/>
            </a:pPr>
            <a:r>
              <a:t/>
            </a:r>
            <a:endParaRPr/>
          </a:p>
        </p:txBody>
      </p:sp>
      <p:sp>
        <p:nvSpPr>
          <p:cNvPr id="619" name="Google Shape;619;p67"/>
          <p:cNvSpPr txBox="1"/>
          <p:nvPr>
            <p:ph idx="4" type="subTitle"/>
          </p:nvPr>
        </p:nvSpPr>
        <p:spPr>
          <a:xfrm>
            <a:off x="4403225" y="1522900"/>
            <a:ext cx="40158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Cas 2: Plusieurs classes recurrentes</a:t>
            </a:r>
            <a:endParaRPr>
              <a:solidFill>
                <a:schemeClr val="dk2"/>
              </a:solidFill>
            </a:endParaRPr>
          </a:p>
        </p:txBody>
      </p:sp>
      <p:sp>
        <p:nvSpPr>
          <p:cNvPr id="620" name="Google Shape;620;p67"/>
          <p:cNvSpPr txBox="1"/>
          <p:nvPr>
            <p:ph idx="1" type="subTitle"/>
          </p:nvPr>
        </p:nvSpPr>
        <p:spPr>
          <a:xfrm>
            <a:off x="713223" y="1813991"/>
            <a:ext cx="3690000" cy="10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Un joueur</a:t>
            </a:r>
            <a:r>
              <a:rPr lang="en"/>
              <a:t> </a:t>
            </a:r>
            <a:r>
              <a:rPr lang="en"/>
              <a:t>rationnel</a:t>
            </a:r>
            <a:r>
              <a:rPr lang="en"/>
              <a:t> </a:t>
            </a:r>
            <a:r>
              <a:rPr lang="en"/>
              <a:t>(dans le cas deterministe) envoie le buck là où il mettra la plus de temps à revenir </a:t>
            </a:r>
            <a:endParaRPr/>
          </a:p>
          <a:p>
            <a:pPr indent="0" lvl="0" marL="0" rtl="0" algn="just">
              <a:spcBef>
                <a:spcPts val="0"/>
              </a:spcBef>
              <a:spcAft>
                <a:spcPts val="0"/>
              </a:spcAft>
              <a:buNone/>
            </a:pPr>
            <a:r>
              <a:t/>
            </a:r>
            <a:endParaRPr sz="2200"/>
          </a:p>
          <a:p>
            <a:pPr indent="0" lvl="0" marL="0" rtl="0" algn="just">
              <a:spcBef>
                <a:spcPts val="0"/>
              </a:spcBef>
              <a:spcAft>
                <a:spcPts val="0"/>
              </a:spcAft>
              <a:buNone/>
            </a:pPr>
            <a:r>
              <a:rPr lang="en"/>
              <a:t>Si on suppose que la randomisation </a:t>
            </a:r>
            <a:r>
              <a:rPr lang="en"/>
              <a:t>améliore</a:t>
            </a:r>
            <a:r>
              <a:rPr lang="en"/>
              <a:t> la situation, donc: </a:t>
            </a:r>
            <a:endParaRPr/>
          </a:p>
          <a:p>
            <a:pPr indent="0" lvl="0" marL="0" rtl="0" algn="just">
              <a:spcBef>
                <a:spcPts val="0"/>
              </a:spcBef>
              <a:spcAft>
                <a:spcPts val="0"/>
              </a:spcAft>
              <a:buNone/>
            </a:pPr>
            <a:r>
              <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n"/>
              <a:t>Il </a:t>
            </a:r>
            <a:r>
              <a:rPr lang="en"/>
              <a:t>existerait</a:t>
            </a:r>
            <a:r>
              <a:rPr lang="en"/>
              <a:t> donc </a:t>
            </a:r>
            <a:r>
              <a:rPr lang="en"/>
              <a:t>forcément</a:t>
            </a:r>
            <a:r>
              <a:rPr lang="en"/>
              <a:t> un voisin meilleur que la moyenne : CONTRADICTION</a:t>
            </a:r>
            <a:endParaRPr/>
          </a:p>
        </p:txBody>
      </p:sp>
      <p:sp>
        <p:nvSpPr>
          <p:cNvPr id="621" name="Google Shape;621;p67"/>
          <p:cNvSpPr txBox="1"/>
          <p:nvPr>
            <p:ph idx="4" type="subTitle"/>
          </p:nvPr>
        </p:nvSpPr>
        <p:spPr>
          <a:xfrm>
            <a:off x="713225" y="1401016"/>
            <a:ext cx="36900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Cas 1: Une seule classe recurrente </a:t>
            </a:r>
            <a:endParaRPr>
              <a:solidFill>
                <a:schemeClr val="dk2"/>
              </a:solidFill>
            </a:endParaRPr>
          </a:p>
        </p:txBody>
      </p:sp>
      <p:pic>
        <p:nvPicPr>
          <p:cNvPr id="622" name="Google Shape;622;p67"/>
          <p:cNvPicPr preferRelativeResize="0"/>
          <p:nvPr/>
        </p:nvPicPr>
        <p:blipFill>
          <a:blip r:embed="rId3">
            <a:alphaModFix/>
          </a:blip>
          <a:stretch>
            <a:fillRect/>
          </a:stretch>
        </p:blipFill>
        <p:spPr>
          <a:xfrm>
            <a:off x="1144600" y="2638765"/>
            <a:ext cx="2827242" cy="490150"/>
          </a:xfrm>
          <a:prstGeom prst="rect">
            <a:avLst/>
          </a:prstGeom>
          <a:noFill/>
          <a:ln>
            <a:noFill/>
          </a:ln>
        </p:spPr>
      </p:pic>
      <p:pic>
        <p:nvPicPr>
          <p:cNvPr id="623" name="Google Shape;623;p67"/>
          <p:cNvPicPr preferRelativeResize="0"/>
          <p:nvPr/>
        </p:nvPicPr>
        <p:blipFill>
          <a:blip r:embed="rId4">
            <a:alphaModFix/>
          </a:blip>
          <a:stretch>
            <a:fillRect/>
          </a:stretch>
        </p:blipFill>
        <p:spPr>
          <a:xfrm>
            <a:off x="713225" y="3534262"/>
            <a:ext cx="3419250" cy="4901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8"/>
          <p:cNvSpPr txBox="1"/>
          <p:nvPr>
            <p:ph type="title"/>
          </p:nvPr>
        </p:nvSpPr>
        <p:spPr>
          <a:xfrm>
            <a:off x="909300" y="2225850"/>
            <a:ext cx="7325400" cy="172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a:t>
            </a:r>
            <a:endParaRPr/>
          </a:p>
          <a:p>
            <a:pPr indent="0" lvl="0" marL="0" rtl="0" algn="l">
              <a:lnSpc>
                <a:spcPct val="115000"/>
              </a:lnSpc>
              <a:spcBef>
                <a:spcPts val="0"/>
              </a:spcBef>
              <a:spcAft>
                <a:spcPts val="0"/>
              </a:spcAft>
              <a:buNone/>
            </a:pPr>
            <a:r>
              <a:rPr lang="en"/>
              <a:t>Démonstration du code</a:t>
            </a:r>
            <a:endParaRPr/>
          </a:p>
        </p:txBody>
      </p:sp>
      <p:sp>
        <p:nvSpPr>
          <p:cNvPr id="629" name="Google Shape;629;p68"/>
          <p:cNvSpPr txBox="1"/>
          <p:nvPr>
            <p:ph idx="2" type="title"/>
          </p:nvPr>
        </p:nvSpPr>
        <p:spPr>
          <a:xfrm>
            <a:off x="3731452" y="1083954"/>
            <a:ext cx="1047300" cy="969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06</a:t>
            </a:r>
            <a:endParaRPr/>
          </a:p>
        </p:txBody>
      </p:sp>
      <p:grpSp>
        <p:nvGrpSpPr>
          <p:cNvPr id="630" name="Google Shape;630;p68"/>
          <p:cNvGrpSpPr/>
          <p:nvPr/>
        </p:nvGrpSpPr>
        <p:grpSpPr>
          <a:xfrm>
            <a:off x="7731792" y="683864"/>
            <a:ext cx="709214" cy="351346"/>
            <a:chOff x="7731792" y="683864"/>
            <a:chExt cx="709214" cy="351346"/>
          </a:xfrm>
        </p:grpSpPr>
        <p:pic>
          <p:nvPicPr>
            <p:cNvPr id="631" name="Google Shape;631;p68"/>
            <p:cNvPicPr preferRelativeResize="0"/>
            <p:nvPr/>
          </p:nvPicPr>
          <p:blipFill rotWithShape="1">
            <a:blip r:embed="rId3">
              <a:alphaModFix/>
            </a:blip>
            <a:srcRect b="16825" l="13625" r="22284" t="16222"/>
            <a:stretch/>
          </p:blipFill>
          <p:spPr>
            <a:xfrm>
              <a:off x="8083232" y="683864"/>
              <a:ext cx="357774" cy="351346"/>
            </a:xfrm>
            <a:prstGeom prst="rect">
              <a:avLst/>
            </a:prstGeom>
            <a:noFill/>
            <a:ln>
              <a:noFill/>
            </a:ln>
          </p:spPr>
        </p:pic>
        <p:pic>
          <p:nvPicPr>
            <p:cNvPr id="632" name="Google Shape;632;p68"/>
            <p:cNvPicPr preferRelativeResize="0"/>
            <p:nvPr/>
          </p:nvPicPr>
          <p:blipFill rotWithShape="1">
            <a:blip r:embed="rId4">
              <a:alphaModFix/>
            </a:blip>
            <a:srcRect b="16523" l="18541" r="17368" t="16523"/>
            <a:stretch/>
          </p:blipFill>
          <p:spPr>
            <a:xfrm>
              <a:off x="7731792" y="683864"/>
              <a:ext cx="357774" cy="351346"/>
            </a:xfrm>
            <a:prstGeom prst="rect">
              <a:avLst/>
            </a:prstGeom>
            <a:noFill/>
            <a:ln>
              <a:noFill/>
            </a:ln>
          </p:spPr>
        </p:pic>
      </p:grpSp>
      <p:pic>
        <p:nvPicPr>
          <p:cNvPr id="633" name="Google Shape;633;p68"/>
          <p:cNvPicPr preferRelativeResize="0"/>
          <p:nvPr/>
        </p:nvPicPr>
        <p:blipFill rotWithShape="1">
          <a:blip r:embed="rId3">
            <a:alphaModFix/>
          </a:blip>
          <a:srcRect b="16825" l="13625" r="22284" t="16222"/>
          <a:stretch/>
        </p:blipFill>
        <p:spPr>
          <a:xfrm>
            <a:off x="7727549" y="1711192"/>
            <a:ext cx="357774" cy="351346"/>
          </a:xfrm>
          <a:prstGeom prst="rect">
            <a:avLst/>
          </a:prstGeom>
          <a:noFill/>
          <a:ln>
            <a:noFill/>
          </a:ln>
        </p:spPr>
      </p:pic>
      <p:grpSp>
        <p:nvGrpSpPr>
          <p:cNvPr id="634" name="Google Shape;634;p68"/>
          <p:cNvGrpSpPr/>
          <p:nvPr/>
        </p:nvGrpSpPr>
        <p:grpSpPr>
          <a:xfrm>
            <a:off x="6322547" y="1026306"/>
            <a:ext cx="709021" cy="693789"/>
            <a:chOff x="6322547" y="1123984"/>
            <a:chExt cx="709021" cy="693789"/>
          </a:xfrm>
        </p:grpSpPr>
        <p:pic>
          <p:nvPicPr>
            <p:cNvPr id="635" name="Google Shape;635;p68"/>
            <p:cNvPicPr preferRelativeResize="0"/>
            <p:nvPr/>
          </p:nvPicPr>
          <p:blipFill rotWithShape="1">
            <a:blip r:embed="rId3">
              <a:alphaModFix/>
            </a:blip>
            <a:srcRect b="16825" l="13625" r="22284" t="16222"/>
            <a:stretch/>
          </p:blipFill>
          <p:spPr>
            <a:xfrm>
              <a:off x="6673794" y="1123984"/>
              <a:ext cx="357774" cy="351346"/>
            </a:xfrm>
            <a:prstGeom prst="rect">
              <a:avLst/>
            </a:prstGeom>
            <a:noFill/>
            <a:ln>
              <a:noFill/>
            </a:ln>
          </p:spPr>
        </p:pic>
        <p:pic>
          <p:nvPicPr>
            <p:cNvPr id="636" name="Google Shape;636;p68"/>
            <p:cNvPicPr preferRelativeResize="0"/>
            <p:nvPr/>
          </p:nvPicPr>
          <p:blipFill rotWithShape="1">
            <a:blip r:embed="rId3">
              <a:alphaModFix/>
            </a:blip>
            <a:srcRect b="16825" l="13625" r="22284" t="16222"/>
            <a:stretch/>
          </p:blipFill>
          <p:spPr>
            <a:xfrm>
              <a:off x="6322547" y="1123984"/>
              <a:ext cx="357774" cy="351346"/>
            </a:xfrm>
            <a:prstGeom prst="rect">
              <a:avLst/>
            </a:prstGeom>
            <a:noFill/>
            <a:ln>
              <a:noFill/>
            </a:ln>
          </p:spPr>
        </p:pic>
        <p:pic>
          <p:nvPicPr>
            <p:cNvPr id="637" name="Google Shape;637;p68"/>
            <p:cNvPicPr preferRelativeResize="0"/>
            <p:nvPr/>
          </p:nvPicPr>
          <p:blipFill rotWithShape="1">
            <a:blip r:embed="rId3">
              <a:alphaModFix/>
            </a:blip>
            <a:srcRect b="16825" l="13625" r="22284" t="16222"/>
            <a:stretch/>
          </p:blipFill>
          <p:spPr>
            <a:xfrm>
              <a:off x="6673794" y="1466427"/>
              <a:ext cx="357774" cy="351346"/>
            </a:xfrm>
            <a:prstGeom prst="rect">
              <a:avLst/>
            </a:prstGeom>
            <a:noFill/>
            <a:ln>
              <a:noFill/>
            </a:ln>
          </p:spPr>
        </p:pic>
        <p:pic>
          <p:nvPicPr>
            <p:cNvPr id="638" name="Google Shape;638;p68"/>
            <p:cNvPicPr preferRelativeResize="0"/>
            <p:nvPr/>
          </p:nvPicPr>
          <p:blipFill rotWithShape="1">
            <a:blip r:embed="rId3">
              <a:alphaModFix/>
            </a:blip>
            <a:srcRect b="16825" l="13625" r="22284" t="16222"/>
            <a:stretch/>
          </p:blipFill>
          <p:spPr>
            <a:xfrm>
              <a:off x="6322547" y="1466427"/>
              <a:ext cx="357774" cy="351346"/>
            </a:xfrm>
            <a:prstGeom prst="rect">
              <a:avLst/>
            </a:prstGeom>
            <a:noFill/>
            <a:ln>
              <a:noFill/>
            </a:ln>
          </p:spPr>
        </p:pic>
      </p:grpSp>
      <p:pic>
        <p:nvPicPr>
          <p:cNvPr id="639" name="Google Shape;639;p68"/>
          <p:cNvPicPr preferRelativeResize="0"/>
          <p:nvPr/>
        </p:nvPicPr>
        <p:blipFill rotWithShape="1">
          <a:blip r:embed="rId4">
            <a:alphaModFix/>
          </a:blip>
          <a:srcRect b="16523" l="18541" r="17368" t="16523"/>
          <a:stretch/>
        </p:blipFill>
        <p:spPr>
          <a:xfrm>
            <a:off x="8078796" y="3423404"/>
            <a:ext cx="357774" cy="351346"/>
          </a:xfrm>
          <a:prstGeom prst="rect">
            <a:avLst/>
          </a:prstGeom>
          <a:noFill/>
          <a:ln>
            <a:noFill/>
          </a:ln>
        </p:spPr>
      </p:pic>
      <p:sp>
        <p:nvSpPr>
          <p:cNvPr id="640" name="Google Shape;640;p68"/>
          <p:cNvSpPr/>
          <p:nvPr/>
        </p:nvSpPr>
        <p:spPr>
          <a:xfrm>
            <a:off x="1084884" y="348455"/>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68"/>
          <p:cNvSpPr/>
          <p:nvPr/>
        </p:nvSpPr>
        <p:spPr>
          <a:xfrm>
            <a:off x="6359455" y="445386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68"/>
          <p:cNvSpPr/>
          <p:nvPr/>
        </p:nvSpPr>
        <p:spPr>
          <a:xfrm>
            <a:off x="6359455" y="1401613"/>
            <a:ext cx="310800" cy="310800"/>
          </a:xfrm>
          <a:prstGeom prst="rect">
            <a:avLst/>
          </a:prstGeom>
          <a:solidFill>
            <a:schemeClr val="dk1"/>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9"/>
          <p:cNvSpPr txBox="1"/>
          <p:nvPr>
            <p:ph type="title"/>
          </p:nvPr>
        </p:nvSpPr>
        <p:spPr>
          <a:xfrm>
            <a:off x="1829800" y="1208175"/>
            <a:ext cx="52470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Merci pour votre attention !</a:t>
            </a:r>
            <a:endParaRPr/>
          </a:p>
        </p:txBody>
      </p:sp>
      <p:sp>
        <p:nvSpPr>
          <p:cNvPr id="648" name="Google Shape;648;p69"/>
          <p:cNvSpPr/>
          <p:nvPr/>
        </p:nvSpPr>
        <p:spPr>
          <a:xfrm>
            <a:off x="6359455" y="445386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69"/>
          <p:cNvSpPr/>
          <p:nvPr/>
        </p:nvSpPr>
        <p:spPr>
          <a:xfrm>
            <a:off x="2821107" y="646322"/>
            <a:ext cx="310800" cy="310800"/>
          </a:xfrm>
          <a:prstGeom prst="rect">
            <a:avLst/>
          </a:prstGeom>
          <a:solidFill>
            <a:schemeClr val="dk1"/>
          </a:solidFill>
          <a:ln>
            <a:noFill/>
          </a:ln>
          <a:effectLst>
            <a:outerShdw rotWithShape="0" algn="bl" dir="7800000" dist="38100">
              <a:schemeClr val="dk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9"/>
          <p:cNvSpPr/>
          <p:nvPr/>
        </p:nvSpPr>
        <p:spPr>
          <a:xfrm>
            <a:off x="1440155" y="3426663"/>
            <a:ext cx="310800" cy="310800"/>
          </a:xfrm>
          <a:prstGeom prst="rect">
            <a:avLst/>
          </a:prstGeom>
          <a:solidFill>
            <a:schemeClr val="lt2"/>
          </a:solidFill>
          <a:ln>
            <a:noFill/>
          </a:ln>
          <a:effectLst>
            <a:outerShdw rotWithShape="0" algn="bl" dir="7800000" dist="38100">
              <a:schemeClr val="lt2">
                <a:alpha val="7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troductory Calculus - Bachelor of Arts in Mathematics by Slidesgo">
  <a:themeElements>
    <a:clrScheme name="Simple Light">
      <a:dk1>
        <a:srgbClr val="112158"/>
      </a:dk1>
      <a:lt1>
        <a:srgbClr val="FAFAFA"/>
      </a:lt1>
      <a:dk2>
        <a:srgbClr val="3C51A9"/>
      </a:dk2>
      <a:lt2>
        <a:srgbClr val="7697CE"/>
      </a:lt2>
      <a:accent1>
        <a:srgbClr val="BED6EA"/>
      </a:accent1>
      <a:accent2>
        <a:srgbClr val="D3E5FD"/>
      </a:accent2>
      <a:accent3>
        <a:srgbClr val="E7E7E7"/>
      </a:accent3>
      <a:accent4>
        <a:srgbClr val="FDFEFD"/>
      </a:accent4>
      <a:accent5>
        <a:srgbClr val="F9F8FB"/>
      </a:accent5>
      <a:accent6>
        <a:srgbClr val="FFFFFF"/>
      </a:accent6>
      <a:hlink>
        <a:srgbClr val="1121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